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50" d="100"/>
          <a:sy n="50" d="100"/>
        </p:scale>
        <p:origin x="486" y="3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CE55A5-88E7-4CD6-AF36-FD3A9B859D0E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8F818A-B2B8-41D8-B2CD-825CCD6A3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1057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8F818A-B2B8-41D8-B2CD-825CCD6A3D5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1111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2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12" Type="http://schemas.openxmlformats.org/officeDocument/2006/relationships/image" Target="../media/image31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Relationship Id="rId14" Type="http://schemas.openxmlformats.org/officeDocument/2006/relationships/image" Target="../media/image3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image" Target="../media/image45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12" Type="http://schemas.openxmlformats.org/officeDocument/2006/relationships/image" Target="../media/image44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11" Type="http://schemas.openxmlformats.org/officeDocument/2006/relationships/image" Target="../media/image43.png"/><Relationship Id="rId5" Type="http://schemas.openxmlformats.org/officeDocument/2006/relationships/image" Target="../media/image37.png"/><Relationship Id="rId10" Type="http://schemas.openxmlformats.org/officeDocument/2006/relationships/image" Target="../media/image42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4D40"/>
            </a:gs>
            <a:gs pos="100000">
              <a:srgbClr val="006064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6733" y="586050"/>
            <a:ext cx="2802306" cy="41857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2000" b="1" dirty="0">
                <a:solidFill>
                  <a:srgbClr val="FFD740"/>
                </a:solidFill>
                <a:latin typeface="Montserrat"/>
              </a:rPr>
              <a:t> </a:t>
            </a:r>
            <a:r>
              <a:rPr sz="2000" dirty="0"/>
              <a:t>  </a:t>
            </a:r>
            <a:r>
              <a:rPr sz="2000" b="1" dirty="0">
                <a:solidFill>
                  <a:srgbClr val="FFD740"/>
                </a:solidFill>
                <a:latin typeface="Montserrat"/>
              </a:rPr>
              <a:t> Capstone Project 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6733" y="711517"/>
            <a:ext cx="228594" cy="1771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6733" y="1199070"/>
            <a:ext cx="6017929" cy="217386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65"/>
              </a:lnSpc>
              <a:spcBef>
                <a:spcPts val="0"/>
              </a:spcBef>
              <a:spcAft>
                <a:spcPts val="1950"/>
              </a:spcAft>
            </a:pPr>
            <a:r>
              <a:rPr sz="4400" b="1" dirty="0">
                <a:solidFill>
                  <a:srgbClr val="FFFFFF"/>
                </a:solidFill>
                <a:latin typeface="Montserrat"/>
              </a:rPr>
              <a:t>Interactive Digital</a:t>
            </a:r>
            <a:br>
              <a:rPr lang="en-US" sz="4400" b="1" dirty="0">
                <a:solidFill>
                  <a:srgbClr val="FFFFFF"/>
                </a:solidFill>
                <a:latin typeface="Montserrat"/>
              </a:rPr>
            </a:br>
            <a:r>
              <a:rPr sz="4400" b="1" dirty="0">
                <a:solidFill>
                  <a:srgbClr val="FFFFFF"/>
                </a:solidFill>
                <a:latin typeface="Montserrat"/>
              </a:rPr>
              <a:t>Cultural Map and</a:t>
            </a:r>
            <a:br>
              <a:rPr lang="en-US" sz="4400" b="1" dirty="0">
                <a:solidFill>
                  <a:srgbClr val="FFFFFF"/>
                </a:solidFill>
                <a:latin typeface="Montserrat"/>
              </a:rPr>
            </a:br>
            <a:r>
              <a:rPr sz="4400" b="1" dirty="0">
                <a:solidFill>
                  <a:srgbClr val="FFFFFF"/>
                </a:solidFill>
                <a:latin typeface="Montserrat"/>
              </a:rPr>
              <a:t>Local Tourism</a:t>
            </a:r>
            <a:br>
              <a:rPr lang="en-US" sz="4400" b="1" dirty="0">
                <a:solidFill>
                  <a:srgbClr val="FFFFFF"/>
                </a:solidFill>
                <a:latin typeface="Montserrat"/>
              </a:rPr>
            </a:br>
            <a:r>
              <a:rPr sz="4400" b="1" dirty="0">
                <a:solidFill>
                  <a:srgbClr val="FFFFFF"/>
                </a:solidFill>
                <a:latin typeface="Montserrat"/>
              </a:rPr>
              <a:t>Information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6733" y="3667387"/>
            <a:ext cx="5670078" cy="41857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Roboto"/>
              </a:rPr>
              <a:t>For the Municipality of Mangatarem, Pangasinan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62620" y="942975"/>
            <a:ext cx="4219469" cy="2790824"/>
          </a:xfrm>
          <a:prstGeom prst="roundRect">
            <a:avLst>
              <a:gd name="adj" fmla="val 8191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7" name="TextBox 6"/>
          <p:cNvSpPr txBox="1"/>
          <p:nvPr/>
        </p:nvSpPr>
        <p:spPr>
          <a:xfrm>
            <a:off x="8614194" y="1143262"/>
            <a:ext cx="1316322" cy="41857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300"/>
              </a:spcAft>
            </a:pPr>
            <a:r>
              <a:rPr sz="2000" b="1">
                <a:solidFill>
                  <a:srgbClr val="FFD740"/>
                </a:solidFill>
                <a:latin typeface="Montserrat"/>
              </a:rPr>
              <a:t>Team B3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57888" y="1671900"/>
            <a:ext cx="2610138" cy="418576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Roboto"/>
              </a:rPr>
              <a:t> </a:t>
            </a:r>
            <a:r>
              <a:rPr sz="2000"/>
              <a:t>  </a:t>
            </a:r>
            <a:r>
              <a:rPr sz="2000" b="0">
                <a:solidFill>
                  <a:srgbClr val="000000"/>
                </a:solidFill>
                <a:latin typeface="Roboto"/>
              </a:rPr>
              <a:t> Jem Carlo Austria 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57888" y="1799967"/>
            <a:ext cx="209544" cy="15291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457888" y="2119574"/>
            <a:ext cx="2467470" cy="418576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Roboto"/>
              </a:rPr>
              <a:t> </a:t>
            </a:r>
            <a:r>
              <a:rPr sz="2000"/>
              <a:t>  </a:t>
            </a:r>
            <a:r>
              <a:rPr sz="2000" b="0">
                <a:solidFill>
                  <a:srgbClr val="000000"/>
                </a:solidFill>
                <a:latin typeface="Roboto"/>
              </a:rPr>
              <a:t> Mary Jane Dalas 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57888" y="2247642"/>
            <a:ext cx="209544" cy="15291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457888" y="2567250"/>
            <a:ext cx="1621085" cy="418576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dirty="0">
                <a:solidFill>
                  <a:srgbClr val="000000"/>
                </a:solidFill>
                <a:latin typeface="Roboto"/>
              </a:rPr>
              <a:t> </a:t>
            </a:r>
            <a:r>
              <a:rPr sz="2000" dirty="0"/>
              <a:t>  </a:t>
            </a:r>
            <a:r>
              <a:rPr sz="2000" b="0" dirty="0">
                <a:solidFill>
                  <a:srgbClr val="000000"/>
                </a:solidFill>
                <a:latin typeface="Roboto"/>
              </a:rPr>
              <a:t> Rea Solis 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57888" y="2695317"/>
            <a:ext cx="209544" cy="15291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457888" y="3010162"/>
            <a:ext cx="2355260" cy="418576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Roboto"/>
              </a:rPr>
              <a:t> </a:t>
            </a:r>
            <a:r>
              <a:rPr sz="2000"/>
              <a:t>  </a:t>
            </a:r>
            <a:r>
              <a:rPr sz="2000" b="0">
                <a:solidFill>
                  <a:srgbClr val="000000"/>
                </a:solidFill>
                <a:latin typeface="Roboto"/>
              </a:rPr>
              <a:t> Joy De Guzman 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57888" y="3142992"/>
            <a:ext cx="209544" cy="152914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666733" y="6305550"/>
            <a:ext cx="571485" cy="266699"/>
          </a:xfrm>
          <a:prstGeom prst="roundRect">
            <a:avLst>
              <a:gd name="adj" fmla="val 142857"/>
            </a:avLst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7" name="TextBox 16"/>
          <p:cNvSpPr txBox="1"/>
          <p:nvPr/>
        </p:nvSpPr>
        <p:spPr>
          <a:xfrm>
            <a:off x="666733" y="6229612"/>
            <a:ext cx="724814" cy="41857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dirty="0">
                <a:solidFill>
                  <a:srgbClr val="FFFFFF"/>
                </a:solidFill>
                <a:latin typeface="Roboto"/>
              </a:rPr>
              <a:t>202</a:t>
            </a:r>
            <a:r>
              <a:rPr lang="en-US" sz="2000" b="0" dirty="0">
                <a:solidFill>
                  <a:srgbClr val="FFFFFF"/>
                </a:solidFill>
                <a:latin typeface="Roboto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28714" y="6224850"/>
            <a:ext cx="5468100" cy="41857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Roboto"/>
              </a:rPr>
              <a:t>Bachelor of Science in Information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4D40"/>
            </a:gs>
            <a:gs pos="100000">
              <a:srgbClr val="006064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6733" y="565916"/>
            <a:ext cx="342891" cy="27786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52496" y="531100"/>
            <a:ext cx="3098862" cy="35702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ontserrat"/>
              </a:rPr>
              <a:t>Introduction &amp; Background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6733" y="1724024"/>
            <a:ext cx="5124321" cy="3343275"/>
          </a:xfrm>
          <a:prstGeom prst="roundRect">
            <a:avLst>
              <a:gd name="adj" fmla="val 6837"/>
            </a:avLst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5" name="Round Same Side Corner Rectangle 4"/>
          <p:cNvSpPr/>
          <p:nvPr/>
        </p:nvSpPr>
        <p:spPr>
          <a:xfrm rot="16200000">
            <a:off x="-938864" y="3329621"/>
            <a:ext cx="33432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6" name="TextBox 5"/>
          <p:cNvSpPr txBox="1"/>
          <p:nvPr/>
        </p:nvSpPr>
        <p:spPr>
          <a:xfrm>
            <a:off x="990575" y="1959851"/>
            <a:ext cx="2497735" cy="35702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600" b="1">
                <a:solidFill>
                  <a:srgbClr val="FFD740"/>
                </a:solidFill>
                <a:latin typeface="Montserrat"/>
              </a:rPr>
              <a:t> </a:t>
            </a:r>
            <a:r>
              <a:rPr sz="1600"/>
              <a:t>  </a:t>
            </a:r>
            <a:r>
              <a:rPr sz="1600" b="1">
                <a:solidFill>
                  <a:srgbClr val="FFD740"/>
                </a:solidFill>
                <a:latin typeface="Montserrat"/>
              </a:rPr>
              <a:t> Current Challenges 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90575" y="2040731"/>
            <a:ext cx="228594" cy="18573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90575" y="2643349"/>
            <a:ext cx="4514737" cy="175227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Roboto"/>
              </a:rPr>
              <a:t> The LGU of Mangatarem struggles with outdated tourism management systems   </a:t>
            </a:r>
            <a:r>
              <a:rPr sz="1600"/>
              <a:t>  </a:t>
            </a:r>
            <a:r>
              <a:rPr sz="1600" b="0">
                <a:solidFill>
                  <a:srgbClr val="FFFFFF"/>
                </a:solidFill>
                <a:latin typeface="Roboto"/>
              </a:rPr>
              <a:t> Paper-based records lead to data loss and inefficiency   </a:t>
            </a:r>
            <a:r>
              <a:rPr sz="1600"/>
              <a:t>  </a:t>
            </a:r>
            <a:r>
              <a:rPr sz="1600" b="0">
                <a:solidFill>
                  <a:srgbClr val="FFFFFF"/>
                </a:solidFill>
                <a:latin typeface="Roboto"/>
              </a:rPr>
              <a:t> Scattered information across barangays with no central hub   </a:t>
            </a:r>
            <a:r>
              <a:rPr sz="1600"/>
              <a:t>  </a:t>
            </a:r>
            <a:r>
              <a:rPr sz="1600" b="0">
                <a:solidFill>
                  <a:srgbClr val="FFFFFF"/>
                </a:solidFill>
                <a:latin typeface="Roboto"/>
              </a:rPr>
              <a:t> Delayed updates and conflicting tourist information   </a:t>
            </a:r>
            <a:r>
              <a:rPr sz="1600"/>
              <a:t>  </a:t>
            </a:r>
            <a:r>
              <a:rPr sz="1600" b="0">
                <a:solidFill>
                  <a:srgbClr val="FFFFFF"/>
                </a:solidFill>
                <a:latin typeface="Roboto"/>
              </a:rPr>
              <a:t> Manual processes hinder tourism promotion efforts   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7293" y="1724024"/>
            <a:ext cx="5124321" cy="3343275"/>
          </a:xfrm>
          <a:prstGeom prst="roundRect">
            <a:avLst>
              <a:gd name="adj" fmla="val 6837"/>
            </a:avLst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0" name="Round Same Side Corner Rectangle 9"/>
          <p:cNvSpPr/>
          <p:nvPr/>
        </p:nvSpPr>
        <p:spPr>
          <a:xfrm rot="16200000">
            <a:off x="4661696" y="3329621"/>
            <a:ext cx="33432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1" name="TextBox 10"/>
          <p:cNvSpPr txBox="1"/>
          <p:nvPr/>
        </p:nvSpPr>
        <p:spPr>
          <a:xfrm>
            <a:off x="6591135" y="1959851"/>
            <a:ext cx="4294702" cy="35702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600" b="1">
                <a:solidFill>
                  <a:srgbClr val="FFD740"/>
                </a:solidFill>
                <a:latin typeface="Montserrat"/>
              </a:rPr>
              <a:t> </a:t>
            </a:r>
            <a:r>
              <a:rPr sz="1600"/>
              <a:t>  </a:t>
            </a:r>
            <a:r>
              <a:rPr sz="1600" b="1">
                <a:solidFill>
                  <a:srgbClr val="FFD740"/>
                </a:solidFill>
                <a:latin typeface="Montserrat"/>
              </a:rPr>
              <a:t> The Need for Digital Transformation 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91135" y="2036445"/>
            <a:ext cx="228594" cy="19430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591135" y="2562784"/>
            <a:ext cx="4514737" cy="1341906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Roboto"/>
              </a:rPr>
              <a:t> Modernizing tourism management is essential to preserve Mangatarem's rich cultural heritage and natural attractions like Manleluag Spring National Park.  </a:t>
            </a:r>
            <a:r>
              <a:rPr sz="1600" b="1">
                <a:solidFill>
                  <a:srgbClr val="FFD740"/>
                </a:solidFill>
                <a:latin typeface="Roboto"/>
              </a:rPr>
              <a:t>Research Insight:</a:t>
            </a:r>
            <a:r>
              <a:rPr sz="1600" b="0">
                <a:solidFill>
                  <a:srgbClr val="FFFFFF"/>
                </a:solidFill>
                <a:latin typeface="Roboto"/>
              </a:rPr>
              <a:t>  Towns with strong web presence receive significantly more tourist attention (Wilson, 2025)  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91135" y="3286125"/>
            <a:ext cx="4514737" cy="771525"/>
          </a:xfrm>
          <a:prstGeom prst="roundRect">
            <a:avLst>
              <a:gd name="adj" fmla="val 14814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5" name="Rounded Rectangle 14"/>
          <p:cNvSpPr/>
          <p:nvPr/>
        </p:nvSpPr>
        <p:spPr>
          <a:xfrm>
            <a:off x="666733" y="5416031"/>
            <a:ext cx="11235705" cy="1141186"/>
          </a:xfrm>
          <a:prstGeom prst="roundRect">
            <a:avLst>
              <a:gd name="adj" fmla="val 21621"/>
            </a:avLst>
          </a:prstGeom>
          <a:solidFill>
            <a:srgbClr val="FFD740">
              <a:alpha val="15000"/>
            </a:srgbClr>
          </a:solidFill>
          <a:ln w="8255">
            <a:solidFill>
              <a:srgbClr val="FFD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14377" y="5671771"/>
            <a:ext cx="304792" cy="257907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362040" y="5494341"/>
            <a:ext cx="10176119" cy="60324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dirty="0">
                <a:solidFill>
                  <a:srgbClr val="FFFFFF"/>
                </a:solidFill>
                <a:latin typeface="Roboto"/>
              </a:rPr>
              <a:t> </a:t>
            </a:r>
            <a:r>
              <a:rPr sz="1600" b="1" dirty="0">
                <a:solidFill>
                  <a:srgbClr val="FFD740"/>
                </a:solidFill>
                <a:latin typeface="Roboto"/>
              </a:rPr>
              <a:t>Solution:</a:t>
            </a:r>
            <a:r>
              <a:rPr sz="1600" b="0" dirty="0">
                <a:solidFill>
                  <a:srgbClr val="FFFFFF"/>
                </a:solidFill>
                <a:latin typeface="Roboto"/>
              </a:rPr>
              <a:t> A centralized digital system to bridge the gap between traditional heritage preservation and modern </a:t>
            </a:r>
            <a:endParaRPr lang="en-US" sz="1600" b="0" dirty="0">
              <a:solidFill>
                <a:srgbClr val="FFFFFF"/>
              </a:solidFill>
              <a:latin typeface="Roboto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dirty="0">
                <a:solidFill>
                  <a:srgbClr val="FFFFFF"/>
                </a:solidFill>
                <a:latin typeface="Roboto"/>
              </a:rPr>
              <a:t>technology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4D40"/>
            </a:gs>
            <a:gs pos="100000">
              <a:srgbClr val="006064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6733" y="560004"/>
            <a:ext cx="342891" cy="28969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52496" y="438768"/>
            <a:ext cx="5854423" cy="54168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Montserrat"/>
              </a:rPr>
              <a:t>Purpose &amp; System Description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33" y="1572989"/>
            <a:ext cx="2390334" cy="38779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b="1">
                <a:solidFill>
                  <a:srgbClr val="FFD740"/>
                </a:solidFill>
                <a:latin typeface="Montserrat"/>
              </a:rPr>
              <a:t> </a:t>
            </a:r>
            <a:r>
              <a:rPr sz="1400"/>
              <a:t>  </a:t>
            </a:r>
            <a:r>
              <a:rPr b="1">
                <a:solidFill>
                  <a:srgbClr val="FFD740"/>
                </a:solidFill>
                <a:latin typeface="Montserrat"/>
              </a:rPr>
              <a:t> System Purpose 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6733" y="1685925"/>
            <a:ext cx="228594" cy="1714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66733" y="2039796"/>
            <a:ext cx="10715357" cy="501932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Roboto"/>
              </a:rPr>
              <a:t> Facilitate easy access to </a:t>
            </a:r>
            <a:r>
              <a:rPr sz="1050" b="0">
                <a:solidFill>
                  <a:srgbClr val="FFD740"/>
                </a:solidFill>
                <a:latin typeface="Roboto"/>
              </a:rPr>
              <a:t>cultural and tourism information</a:t>
            </a:r>
            <a:r>
              <a:rPr sz="1050" b="0">
                <a:solidFill>
                  <a:srgbClr val="FFFFFF"/>
                </a:solidFill>
                <a:latin typeface="Roboto"/>
              </a:rPr>
              <a:t> via a digital platform. Display attractions dynamically, improve visitor experience, and promote heritage development for Mangatarem, Pangasinan.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6733" y="2867025"/>
            <a:ext cx="3409864" cy="2838450"/>
          </a:xfrm>
          <a:prstGeom prst="roundRect">
            <a:avLst>
              <a:gd name="adj" fmla="val 8053"/>
            </a:avLst>
          </a:prstGeom>
          <a:solidFill>
            <a:srgbClr val="FFFFFF">
              <a:alpha val="8000"/>
            </a:srgbClr>
          </a:solidFill>
          <a:ln w="24765">
            <a:solidFill>
              <a:srgbClr val="009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" name="Rounded Rectangle 7"/>
          <p:cNvSpPr/>
          <p:nvPr/>
        </p:nvSpPr>
        <p:spPr>
          <a:xfrm>
            <a:off x="904852" y="3133724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9624" y="3267489"/>
            <a:ext cx="266693" cy="20872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04852" y="3710606"/>
            <a:ext cx="2933626" cy="541687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400" b="1">
                <a:solidFill>
                  <a:srgbClr val="FFFFFF"/>
                </a:solidFill>
                <a:latin typeface="Montserrat"/>
              </a:rPr>
              <a:t>Administrative &amp; Stakeholder Users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4852" y="4324349"/>
            <a:ext cx="2933626" cy="11430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Roboto"/>
              </a:rPr>
              <a:t> </a:t>
            </a:r>
            <a:r>
              <a:rPr sz="1050" b="1">
                <a:solidFill>
                  <a:srgbClr val="FFD740"/>
                </a:solidFill>
                <a:latin typeface="Roboto"/>
              </a:rPr>
              <a:t>LGU Tourism Office:</a:t>
            </a:r>
            <a:r>
              <a:rPr sz="1050" b="0">
                <a:solidFill>
                  <a:srgbClr val="FFFFFF"/>
                </a:solidFill>
                <a:latin typeface="Roboto"/>
              </a:rPr>
              <a:t> Centralized platform for promotion &amp; content moderation</a:t>
            </a:r>
            <a:r>
              <a:rPr sz="1400"/>
              <a:t>
</a:t>
            </a:r>
            <a:r>
              <a:rPr sz="1050" b="0">
                <a:solidFill>
                  <a:srgbClr val="FFFFFF"/>
                </a:solidFill>
                <a:latin typeface="Roboto"/>
              </a:rPr>
              <a:t> </a:t>
            </a:r>
            <a:r>
              <a:rPr sz="1050" b="1">
                <a:solidFill>
                  <a:srgbClr val="FFD740"/>
                </a:solidFill>
                <a:latin typeface="Roboto"/>
              </a:rPr>
              <a:t>Barangay Representatives:</a:t>
            </a:r>
            <a:r>
              <a:rPr sz="1050" b="0">
                <a:solidFill>
                  <a:srgbClr val="FFFFFF"/>
                </a:solidFill>
                <a:latin typeface="Roboto"/>
              </a:rPr>
              <a:t> Dedicated portal to upload local content 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4717" y="2867025"/>
            <a:ext cx="3409864" cy="2838450"/>
          </a:xfrm>
          <a:prstGeom prst="roundRect">
            <a:avLst>
              <a:gd name="adj" fmla="val 8053"/>
            </a:avLst>
          </a:prstGeom>
          <a:solidFill>
            <a:srgbClr val="FFFFFF">
              <a:alpha val="8000"/>
            </a:srgbClr>
          </a:solidFill>
          <a:ln w="24765">
            <a:solidFill>
              <a:srgbClr val="009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3" name="Rounded Rectangle 12"/>
          <p:cNvSpPr/>
          <p:nvPr/>
        </p:nvSpPr>
        <p:spPr>
          <a:xfrm>
            <a:off x="4552836" y="3133724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57608" y="3258792"/>
            <a:ext cx="266693" cy="22611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52836" y="3710606"/>
            <a:ext cx="2933626" cy="541687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400" b="1">
                <a:solidFill>
                  <a:srgbClr val="FFFFFF"/>
                </a:solidFill>
                <a:latin typeface="Montserrat"/>
              </a:rPr>
              <a:t>General Public &amp; Academic Users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2836" y="4324349"/>
            <a:ext cx="2933626" cy="11430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Roboto"/>
              </a:rPr>
              <a:t> </a:t>
            </a:r>
            <a:r>
              <a:rPr sz="1050" b="1">
                <a:solidFill>
                  <a:srgbClr val="FFD740"/>
                </a:solidFill>
                <a:latin typeface="Roboto"/>
              </a:rPr>
              <a:t>Tourists &amp; Visitors:</a:t>
            </a:r>
            <a:r>
              <a:rPr sz="1050" b="0">
                <a:solidFill>
                  <a:srgbClr val="FFFFFF"/>
                </a:solidFill>
                <a:latin typeface="Roboto"/>
              </a:rPr>
              <a:t> Interactive map to discover landmarks &amp; plan visits</a:t>
            </a:r>
            <a:r>
              <a:rPr sz="1400"/>
              <a:t>
</a:t>
            </a:r>
            <a:r>
              <a:rPr sz="1050" b="0">
                <a:solidFill>
                  <a:srgbClr val="FFFFFF"/>
                </a:solidFill>
                <a:latin typeface="Roboto"/>
              </a:rPr>
              <a:t> </a:t>
            </a:r>
            <a:r>
              <a:rPr sz="1050" b="1">
                <a:solidFill>
                  <a:srgbClr val="FFD740"/>
                </a:solidFill>
                <a:latin typeface="Roboto"/>
              </a:rPr>
              <a:t>Researchers:</a:t>
            </a:r>
            <a:r>
              <a:rPr sz="1050" b="0">
                <a:solidFill>
                  <a:srgbClr val="FFFFFF"/>
                </a:solidFill>
                <a:latin typeface="Roboto"/>
              </a:rPr>
              <a:t> Access digital archive of cultural profiles &amp; historical records 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72225" y="2867025"/>
            <a:ext cx="3409864" cy="2838450"/>
          </a:xfrm>
          <a:prstGeom prst="roundRect">
            <a:avLst>
              <a:gd name="adj" fmla="val 8053"/>
            </a:avLst>
          </a:prstGeom>
          <a:solidFill>
            <a:srgbClr val="FFFFFF">
              <a:alpha val="8000"/>
            </a:srgbClr>
          </a:solidFill>
          <a:ln w="24765">
            <a:solidFill>
              <a:srgbClr val="009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8" name="Rounded Rectangle 17"/>
          <p:cNvSpPr/>
          <p:nvPr/>
        </p:nvSpPr>
        <p:spPr>
          <a:xfrm>
            <a:off x="8210344" y="3133724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315117" y="3299377"/>
            <a:ext cx="266693" cy="14494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210344" y="3704028"/>
            <a:ext cx="2574679" cy="32624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400" b="1">
                <a:solidFill>
                  <a:srgbClr val="FFFFFF"/>
                </a:solidFill>
                <a:latin typeface="Montserrat"/>
              </a:rPr>
              <a:t>Residents of Mangatarem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10344" y="4199390"/>
            <a:ext cx="2933626" cy="707117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Roboto"/>
              </a:rPr>
              <a:t> Digital safeguard for traditions and festivals, fostering </a:t>
            </a:r>
            <a:r>
              <a:rPr sz="1050" b="0">
                <a:solidFill>
                  <a:srgbClr val="FFD740"/>
                </a:solidFill>
                <a:latin typeface="Roboto"/>
              </a:rPr>
              <a:t>local pride</a:t>
            </a:r>
            <a:r>
              <a:rPr sz="1050" b="0">
                <a:solidFill>
                  <a:srgbClr val="FFFFFF"/>
                </a:solidFill>
                <a:latin typeface="Roboto"/>
              </a:rPr>
              <a:t> and ensuring heritage preservation for future generations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4D40"/>
            </a:gs>
            <a:gs pos="100000">
              <a:srgbClr val="006064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6733" y="560004"/>
            <a:ext cx="342891" cy="28969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52496" y="407991"/>
            <a:ext cx="5176353" cy="60324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Montserrat"/>
              </a:rPr>
              <a:t>Objectives of the Study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6733" y="1676400"/>
            <a:ext cx="10715357" cy="1209674"/>
          </a:xfrm>
          <a:prstGeom prst="roundRect">
            <a:avLst>
              <a:gd name="adj" fmla="val 18897"/>
            </a:avLst>
          </a:prstGeom>
          <a:solidFill>
            <a:srgbClr val="FFD740">
              <a:alpha val="15000"/>
            </a:srgbClr>
          </a:solidFill>
          <a:ln w="16510">
            <a:solidFill>
              <a:srgbClr val="FFD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9149" y="2011054"/>
            <a:ext cx="400039" cy="34034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609684" y="1910024"/>
            <a:ext cx="2169120" cy="41857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000" b="1">
                <a:solidFill>
                  <a:srgbClr val="FFD740"/>
                </a:solidFill>
                <a:latin typeface="Montserrat"/>
              </a:rPr>
              <a:t>Main Objective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9684" y="2316999"/>
            <a:ext cx="8561896" cy="29995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Roboto"/>
              </a:rPr>
              <a:t>Design and develop an Interactive Digital Cultural Map and Local Tourism Information System for the LGU of Mangatarem, Pangasinan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6733" y="3141309"/>
            <a:ext cx="3212674" cy="48013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2400" b="1">
                <a:solidFill>
                  <a:srgbClr val="FFFFFF"/>
                </a:solidFill>
                <a:latin typeface="Montserrat"/>
              </a:rPr>
              <a:t>Specific Objectives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6733" y="3733799"/>
            <a:ext cx="5267193" cy="1095374"/>
          </a:xfrm>
          <a:prstGeom prst="roundRect">
            <a:avLst>
              <a:gd name="adj" fmla="val 17391"/>
            </a:avLst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0" name="Round Same Side Corner Rectangle 9"/>
          <p:cNvSpPr/>
          <p:nvPr/>
        </p:nvSpPr>
        <p:spPr>
          <a:xfrm rot="16200000">
            <a:off x="185086" y="4215446"/>
            <a:ext cx="10953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1" name="TextBox 10"/>
          <p:cNvSpPr txBox="1"/>
          <p:nvPr/>
        </p:nvSpPr>
        <p:spPr>
          <a:xfrm>
            <a:off x="942951" y="4064792"/>
            <a:ext cx="586956" cy="43338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D740"/>
                </a:solidFill>
                <a:latin typeface="Montserrat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14437" y="3865954"/>
            <a:ext cx="2696507" cy="32624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400" b="1">
                <a:solidFill>
                  <a:srgbClr val="FFFFFF"/>
                </a:solidFill>
                <a:latin typeface="Montserrat"/>
              </a:rPr>
              <a:t>Analyze Existing Processes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14437" y="4195838"/>
            <a:ext cx="4181370" cy="457048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Roboto"/>
              </a:rPr>
              <a:t>Evaluate current tourism data collection and sharing methods to identify improvements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14897" y="3733799"/>
            <a:ext cx="5267193" cy="1095374"/>
          </a:xfrm>
          <a:prstGeom prst="roundRect">
            <a:avLst>
              <a:gd name="adj" fmla="val 17391"/>
            </a:avLst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5" name="Round Same Side Corner Rectangle 14"/>
          <p:cNvSpPr/>
          <p:nvPr/>
        </p:nvSpPr>
        <p:spPr>
          <a:xfrm rot="16200000">
            <a:off x="5633250" y="4215446"/>
            <a:ext cx="10953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6" name="TextBox 15"/>
          <p:cNvSpPr txBox="1"/>
          <p:nvPr/>
        </p:nvSpPr>
        <p:spPr>
          <a:xfrm>
            <a:off x="6400639" y="4064792"/>
            <a:ext cx="668709" cy="43338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D740"/>
                </a:solidFill>
                <a:latin typeface="Montserrat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72125" y="3865954"/>
            <a:ext cx="2162708" cy="32624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400" b="1">
                <a:solidFill>
                  <a:srgbClr val="FFFFFF"/>
                </a:solidFill>
                <a:latin typeface="Montserrat"/>
              </a:rPr>
              <a:t>Identify Key Features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72125" y="4195838"/>
            <a:ext cx="4171845" cy="457048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Roboto"/>
              </a:rPr>
              <a:t>Define system features for Administrative/Stakeholder and Public/Academic user categories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6733" y="5019675"/>
            <a:ext cx="5267193" cy="1095374"/>
          </a:xfrm>
          <a:prstGeom prst="roundRect">
            <a:avLst>
              <a:gd name="adj" fmla="val 17391"/>
            </a:avLst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0" name="Round Same Side Corner Rectangle 19"/>
          <p:cNvSpPr/>
          <p:nvPr/>
        </p:nvSpPr>
        <p:spPr>
          <a:xfrm rot="16200000">
            <a:off x="185086" y="5501322"/>
            <a:ext cx="10953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1" name="TextBox 20"/>
          <p:cNvSpPr txBox="1"/>
          <p:nvPr/>
        </p:nvSpPr>
        <p:spPr>
          <a:xfrm>
            <a:off x="942951" y="5350667"/>
            <a:ext cx="670312" cy="43338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D740"/>
                </a:solidFill>
                <a:latin typeface="Montserrat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14437" y="5151829"/>
            <a:ext cx="2024850" cy="32624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400" b="1">
                <a:solidFill>
                  <a:srgbClr val="FFFFFF"/>
                </a:solidFill>
                <a:latin typeface="Montserrat"/>
              </a:rPr>
              <a:t>Test System Quality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14437" y="5481713"/>
            <a:ext cx="4171845" cy="457048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Roboto"/>
              </a:rPr>
              <a:t>Evaluate functionality, performance, security, usability, and acceptability standards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14897" y="5019675"/>
            <a:ext cx="5267193" cy="1095374"/>
          </a:xfrm>
          <a:prstGeom prst="roundRect">
            <a:avLst>
              <a:gd name="adj" fmla="val 17391"/>
            </a:avLst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5" name="Round Same Side Corner Rectangle 24"/>
          <p:cNvSpPr/>
          <p:nvPr/>
        </p:nvSpPr>
        <p:spPr>
          <a:xfrm rot="16200000">
            <a:off x="5633250" y="5501322"/>
            <a:ext cx="10953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6" name="TextBox 25"/>
          <p:cNvSpPr txBox="1"/>
          <p:nvPr/>
        </p:nvSpPr>
        <p:spPr>
          <a:xfrm>
            <a:off x="6400639" y="5350667"/>
            <a:ext cx="708784" cy="43338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D740"/>
                </a:solidFill>
                <a:latin typeface="Montserrat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10224" y="5151829"/>
            <a:ext cx="2943370" cy="32624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400" b="1">
                <a:solidFill>
                  <a:srgbClr val="FFFFFF"/>
                </a:solidFill>
                <a:latin typeface="Montserrat"/>
              </a:rPr>
              <a:t>Prepare Implementation Plan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0224" y="5481713"/>
            <a:ext cx="4133746" cy="457048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Roboto"/>
              </a:rPr>
              <a:t>Create deployment strategy for effective LGU adoption and system rollout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4D40"/>
            </a:gs>
            <a:gs pos="100000">
              <a:srgbClr val="006064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6733" y="473319"/>
            <a:ext cx="304792" cy="23446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14397" y="258152"/>
            <a:ext cx="8614794" cy="66479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Montserrat"/>
              </a:rPr>
              <a:t>Conceptual Framework: IPO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6733" y="1390650"/>
            <a:ext cx="2933626" cy="3971925"/>
          </a:xfrm>
          <a:prstGeom prst="roundRect">
            <a:avLst>
              <a:gd name="adj" fmla="val 7792"/>
            </a:avLst>
          </a:prstGeom>
          <a:solidFill>
            <a:srgbClr val="FFFFFF">
              <a:alpha val="8000"/>
            </a:srgbClr>
          </a:solidFill>
          <a:ln w="33020">
            <a:solidFill>
              <a:srgbClr val="009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5" name="Rounded Rectangle 4"/>
          <p:cNvSpPr/>
          <p:nvPr/>
        </p:nvSpPr>
        <p:spPr>
          <a:xfrm>
            <a:off x="904852" y="1666874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8674" y="1816417"/>
            <a:ext cx="228594" cy="17716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95387" y="1669698"/>
            <a:ext cx="1156022" cy="48013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ontserrat"/>
              </a:rPr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4852" y="2302724"/>
            <a:ext cx="2457388" cy="757130"/>
          </a:xfrm>
          <a:prstGeom prst="rect">
            <a:avLst/>
          </a:prstGeom>
          <a:noFill/>
        </p:spPr>
        <p:txBody>
          <a:bodyPr wrap="square" lIns="182880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Roboto"/>
              </a:rPr>
              <a:t> </a:t>
            </a:r>
            <a:r>
              <a:t>  </a:t>
            </a:r>
            <a:r>
              <a:rPr sz="1200" b="0">
                <a:solidFill>
                  <a:srgbClr val="FFFFFF"/>
                </a:solidFill>
                <a:latin typeface="Roboto"/>
              </a:rPr>
              <a:t> </a:t>
            </a:r>
            <a:r>
              <a:rPr sz="1200" b="1">
                <a:solidFill>
                  <a:srgbClr val="FFD740"/>
                </a:solidFill>
                <a:latin typeface="Roboto"/>
              </a:rPr>
              <a:t>Technical:</a:t>
            </a:r>
            <a:r>
              <a:rPr sz="1200" b="0">
                <a:solidFill>
                  <a:srgbClr val="FFFFFF"/>
                </a:solidFill>
                <a:latin typeface="Roboto"/>
              </a:rPr>
              <a:t> HTML, CSS, JavaScript, Python, Flask, PostgreSQL, Supabase 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4852" y="2439936"/>
            <a:ext cx="171445" cy="14932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04852" y="2999894"/>
            <a:ext cx="2457388" cy="572464"/>
          </a:xfrm>
          <a:prstGeom prst="rect">
            <a:avLst/>
          </a:prstGeom>
          <a:noFill/>
        </p:spPr>
        <p:txBody>
          <a:bodyPr wrap="square" lIns="182880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Roboto"/>
              </a:rPr>
              <a:t> </a:t>
            </a:r>
            <a:r>
              <a:t>  </a:t>
            </a:r>
            <a:r>
              <a:rPr sz="1200" b="0">
                <a:solidFill>
                  <a:srgbClr val="FFFFFF"/>
                </a:solidFill>
                <a:latin typeface="Roboto"/>
              </a:rPr>
              <a:t> </a:t>
            </a:r>
            <a:r>
              <a:rPr sz="1200" b="1">
                <a:solidFill>
                  <a:srgbClr val="FFD740"/>
                </a:solidFill>
                <a:latin typeface="Roboto"/>
              </a:rPr>
              <a:t>Physical:</a:t>
            </a:r>
            <a:r>
              <a:rPr sz="1200" b="0">
                <a:solidFill>
                  <a:srgbClr val="FFFFFF"/>
                </a:solidFill>
                <a:latin typeface="Roboto"/>
              </a:rPr>
              <a:t> Development machines, LGU workstations 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4852" y="3135261"/>
            <a:ext cx="171445" cy="14932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04852" y="3514244"/>
            <a:ext cx="2457388" cy="572464"/>
          </a:xfrm>
          <a:prstGeom prst="rect">
            <a:avLst/>
          </a:prstGeom>
          <a:noFill/>
        </p:spPr>
        <p:txBody>
          <a:bodyPr wrap="square" lIns="182880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Roboto"/>
              </a:rPr>
              <a:t> </a:t>
            </a:r>
            <a:r>
              <a:t>  </a:t>
            </a:r>
            <a:r>
              <a:rPr sz="1200" b="0">
                <a:solidFill>
                  <a:srgbClr val="FFFFFF"/>
                </a:solidFill>
                <a:latin typeface="Roboto"/>
              </a:rPr>
              <a:t> </a:t>
            </a:r>
            <a:r>
              <a:rPr sz="1200" b="1">
                <a:solidFill>
                  <a:srgbClr val="FFD740"/>
                </a:solidFill>
                <a:latin typeface="Roboto"/>
              </a:rPr>
              <a:t>Domain:</a:t>
            </a:r>
            <a:r>
              <a:rPr sz="1200" b="0">
                <a:solidFill>
                  <a:srgbClr val="FFFFFF"/>
                </a:solidFill>
                <a:latin typeface="Roboto"/>
              </a:rPr>
              <a:t> Tourism policies, Cultural heritage data 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4852" y="3649611"/>
            <a:ext cx="171445" cy="14932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04852" y="4028594"/>
            <a:ext cx="2457388" cy="572464"/>
          </a:xfrm>
          <a:prstGeom prst="rect">
            <a:avLst/>
          </a:prstGeom>
          <a:noFill/>
        </p:spPr>
        <p:txBody>
          <a:bodyPr wrap="square" lIns="182880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Roboto"/>
              </a:rPr>
              <a:t> </a:t>
            </a:r>
            <a:r>
              <a:t>  </a:t>
            </a:r>
            <a:r>
              <a:rPr sz="1200" b="0">
                <a:solidFill>
                  <a:srgbClr val="FFFFFF"/>
                </a:solidFill>
                <a:latin typeface="Roboto"/>
              </a:rPr>
              <a:t> </a:t>
            </a:r>
            <a:r>
              <a:rPr sz="1200" b="1">
                <a:solidFill>
                  <a:srgbClr val="FFD740"/>
                </a:solidFill>
                <a:latin typeface="Roboto"/>
              </a:rPr>
              <a:t>Stakeholder:</a:t>
            </a:r>
            <a:r>
              <a:rPr sz="1200" b="0">
                <a:solidFill>
                  <a:srgbClr val="FFFFFF"/>
                </a:solidFill>
                <a:latin typeface="Roboto"/>
              </a:rPr>
              <a:t> LGU staff, Barangay representatives 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4852" y="4163961"/>
            <a:ext cx="171445" cy="149327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3867053" y="3162299"/>
            <a:ext cx="428614" cy="428625"/>
          </a:xfrm>
          <a:prstGeom prst="roundRect">
            <a:avLst>
              <a:gd name="adj" fmla="val 50000"/>
            </a:avLst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7" name="TextBox 16"/>
          <p:cNvSpPr txBox="1"/>
          <p:nvPr/>
        </p:nvSpPr>
        <p:spPr>
          <a:xfrm>
            <a:off x="3867053" y="3105768"/>
            <a:ext cx="506805" cy="54168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FFFFFF"/>
                </a:solidFill>
                <a:latin typeface="Roboto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52836" y="1390650"/>
            <a:ext cx="2933626" cy="3971925"/>
          </a:xfrm>
          <a:prstGeom prst="roundRect">
            <a:avLst>
              <a:gd name="adj" fmla="val 7792"/>
            </a:avLst>
          </a:prstGeom>
          <a:solidFill>
            <a:srgbClr val="FFFFFF">
              <a:alpha val="8000"/>
            </a:srgbClr>
          </a:solidFill>
          <a:ln w="33020">
            <a:solidFill>
              <a:srgbClr val="009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9" name="Rounded Rectangle 18"/>
          <p:cNvSpPr/>
          <p:nvPr/>
        </p:nvSpPr>
        <p:spPr>
          <a:xfrm>
            <a:off x="4790955" y="1666874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008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14777" y="1807845"/>
            <a:ext cx="228594" cy="194309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381490" y="1669698"/>
            <a:ext cx="1683410" cy="48013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ontserrat"/>
              </a:rPr>
              <a:t>PROCESS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90955" y="2304568"/>
            <a:ext cx="2457388" cy="572464"/>
          </a:xfrm>
          <a:prstGeom prst="rect">
            <a:avLst/>
          </a:prstGeom>
          <a:noFill/>
        </p:spPr>
        <p:txBody>
          <a:bodyPr wrap="square" lIns="182880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Roboto"/>
              </a:rPr>
              <a:t> </a:t>
            </a:r>
            <a:r>
              <a:t>  </a:t>
            </a:r>
            <a:r>
              <a:rPr sz="1200" b="0">
                <a:solidFill>
                  <a:srgbClr val="FFFFFF"/>
                </a:solidFill>
                <a:latin typeface="Roboto"/>
              </a:rPr>
              <a:t> </a:t>
            </a:r>
            <a:r>
              <a:rPr sz="1200" b="1">
                <a:solidFill>
                  <a:srgbClr val="FFD740"/>
                </a:solidFill>
                <a:latin typeface="Roboto"/>
              </a:rPr>
              <a:t>Phase 1:</a:t>
            </a:r>
            <a:r>
              <a:rPr sz="1200" b="0">
                <a:solidFill>
                  <a:srgbClr val="FFFFFF"/>
                </a:solidFill>
                <a:latin typeface="Roboto"/>
              </a:rPr>
              <a:t> Requirements Planning 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90955" y="2439936"/>
            <a:ext cx="171445" cy="149327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790955" y="2818918"/>
            <a:ext cx="2457388" cy="572464"/>
          </a:xfrm>
          <a:prstGeom prst="rect">
            <a:avLst/>
          </a:prstGeom>
          <a:noFill/>
        </p:spPr>
        <p:txBody>
          <a:bodyPr wrap="square" lIns="182880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Roboto"/>
              </a:rPr>
              <a:t> </a:t>
            </a:r>
            <a:r>
              <a:t>  </a:t>
            </a:r>
            <a:r>
              <a:rPr sz="1200" b="0">
                <a:solidFill>
                  <a:srgbClr val="FFFFFF"/>
                </a:solidFill>
                <a:latin typeface="Roboto"/>
              </a:rPr>
              <a:t> </a:t>
            </a:r>
            <a:r>
              <a:rPr sz="1200" b="1">
                <a:solidFill>
                  <a:srgbClr val="FFD740"/>
                </a:solidFill>
                <a:latin typeface="Roboto"/>
              </a:rPr>
              <a:t>Phase 2:</a:t>
            </a:r>
            <a:r>
              <a:rPr sz="1200" b="0">
                <a:solidFill>
                  <a:srgbClr val="FFFFFF"/>
                </a:solidFill>
                <a:latin typeface="Roboto"/>
              </a:rPr>
              <a:t> User Design &amp; Prototyping (Figma) 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90955" y="2954286"/>
            <a:ext cx="171445" cy="149327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790955" y="3333268"/>
            <a:ext cx="2457388" cy="572464"/>
          </a:xfrm>
          <a:prstGeom prst="rect">
            <a:avLst/>
          </a:prstGeom>
          <a:noFill/>
        </p:spPr>
        <p:txBody>
          <a:bodyPr wrap="square" lIns="182880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Roboto"/>
              </a:rPr>
              <a:t> </a:t>
            </a:r>
            <a:r>
              <a:t>  </a:t>
            </a:r>
            <a:r>
              <a:rPr sz="1200" b="0">
                <a:solidFill>
                  <a:srgbClr val="FFFFFF"/>
                </a:solidFill>
                <a:latin typeface="Roboto"/>
              </a:rPr>
              <a:t> </a:t>
            </a:r>
            <a:r>
              <a:rPr sz="1200" b="1">
                <a:solidFill>
                  <a:srgbClr val="FFD740"/>
                </a:solidFill>
                <a:latin typeface="Roboto"/>
              </a:rPr>
              <a:t>Phase 3:</a:t>
            </a:r>
            <a:r>
              <a:rPr sz="1200" b="0">
                <a:solidFill>
                  <a:srgbClr val="FFFFFF"/>
                </a:solidFill>
                <a:latin typeface="Roboto"/>
              </a:rPr>
              <a:t> Construction &amp; Coding 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90955" y="3468636"/>
            <a:ext cx="171445" cy="149327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790955" y="3847618"/>
            <a:ext cx="2457388" cy="572464"/>
          </a:xfrm>
          <a:prstGeom prst="rect">
            <a:avLst/>
          </a:prstGeom>
          <a:noFill/>
        </p:spPr>
        <p:txBody>
          <a:bodyPr wrap="square" lIns="182880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Roboto"/>
              </a:rPr>
              <a:t> </a:t>
            </a:r>
            <a:r>
              <a:t>  </a:t>
            </a:r>
            <a:r>
              <a:rPr sz="1200" b="0">
                <a:solidFill>
                  <a:srgbClr val="FFFFFF"/>
                </a:solidFill>
                <a:latin typeface="Roboto"/>
              </a:rPr>
              <a:t> </a:t>
            </a:r>
            <a:r>
              <a:rPr sz="1200" b="1">
                <a:solidFill>
                  <a:srgbClr val="FFD740"/>
                </a:solidFill>
                <a:latin typeface="Roboto"/>
              </a:rPr>
              <a:t>Phase 4:</a:t>
            </a:r>
            <a:r>
              <a:rPr sz="1200" b="0">
                <a:solidFill>
                  <a:srgbClr val="FFFFFF"/>
                </a:solidFill>
                <a:latin typeface="Roboto"/>
              </a:rPr>
              <a:t> Cutover (Testing &amp; Deployment) 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90955" y="3982986"/>
            <a:ext cx="171445" cy="149327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4790955" y="4533900"/>
            <a:ext cx="2457388" cy="590549"/>
          </a:xfrm>
          <a:prstGeom prst="roundRect">
            <a:avLst>
              <a:gd name="adj" fmla="val 25806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1" name="Round Same Side Corner Rectangle 30"/>
          <p:cNvSpPr/>
          <p:nvPr/>
        </p:nvSpPr>
        <p:spPr>
          <a:xfrm rot="16200000">
            <a:off x="4545211" y="4779644"/>
            <a:ext cx="590549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D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933826" y="4739527"/>
            <a:ext cx="190495" cy="179294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124321" y="4573575"/>
            <a:ext cx="2069734" cy="48013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FFFFFF"/>
                </a:solidFill>
                <a:latin typeface="Roboto"/>
              </a:rPr>
              <a:t>RAD Methodology:</a:t>
            </a:r>
            <a:r>
              <a:rPr sz="1200" b="0" dirty="0">
                <a:solidFill>
                  <a:srgbClr val="FFFFFF"/>
                </a:solidFill>
                <a:latin typeface="Roboto"/>
              </a:rPr>
              <a:t> Iterative </a:t>
            </a:r>
            <a:endParaRPr lang="en-US" sz="1200" b="0" dirty="0">
              <a:solidFill>
                <a:srgbClr val="FFFFFF"/>
              </a:solidFill>
              <a:latin typeface="Roboto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FFFFFF"/>
                </a:solidFill>
                <a:latin typeface="Roboto"/>
              </a:rPr>
              <a:t>feedback cycles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53156" y="3162299"/>
            <a:ext cx="428614" cy="428625"/>
          </a:xfrm>
          <a:prstGeom prst="roundRect">
            <a:avLst>
              <a:gd name="adj" fmla="val 50000"/>
            </a:avLst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5" name="TextBox 34"/>
          <p:cNvSpPr txBox="1"/>
          <p:nvPr/>
        </p:nvSpPr>
        <p:spPr>
          <a:xfrm>
            <a:off x="7753156" y="3105768"/>
            <a:ext cx="506805" cy="54168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FFFFFF"/>
                </a:solidFill>
                <a:latin typeface="Roboto"/>
              </a:rPr>
              <a:t>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448463" y="1390650"/>
            <a:ext cx="2933626" cy="3971925"/>
          </a:xfrm>
          <a:prstGeom prst="roundRect">
            <a:avLst>
              <a:gd name="adj" fmla="val 7792"/>
            </a:avLst>
          </a:prstGeom>
          <a:solidFill>
            <a:srgbClr val="FFD740">
              <a:alpha val="12000"/>
            </a:srgbClr>
          </a:solidFill>
          <a:ln w="33020">
            <a:solidFill>
              <a:srgbClr val="FFD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7" name="Rounded Rectangle 36"/>
          <p:cNvSpPr/>
          <p:nvPr/>
        </p:nvSpPr>
        <p:spPr>
          <a:xfrm>
            <a:off x="8686582" y="1666874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FFD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810404" y="1816417"/>
            <a:ext cx="228594" cy="177164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9277118" y="1669698"/>
            <a:ext cx="1499065" cy="48013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ontserrat"/>
              </a:rPr>
              <a:t>OUTPUT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582" y="2302724"/>
            <a:ext cx="2457388" cy="757130"/>
          </a:xfrm>
          <a:prstGeom prst="rect">
            <a:avLst/>
          </a:prstGeom>
          <a:noFill/>
        </p:spPr>
        <p:txBody>
          <a:bodyPr wrap="square" lIns="182880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Roboto"/>
              </a:rPr>
              <a:t> </a:t>
            </a:r>
            <a:r>
              <a:t>  </a:t>
            </a:r>
            <a:r>
              <a:rPr sz="1200" b="0">
                <a:solidFill>
                  <a:srgbClr val="FFFFFF"/>
                </a:solidFill>
                <a:latin typeface="Roboto"/>
              </a:rPr>
              <a:t> </a:t>
            </a:r>
            <a:r>
              <a:rPr sz="1200" b="1">
                <a:solidFill>
                  <a:srgbClr val="FFD740"/>
                </a:solidFill>
                <a:latin typeface="Roboto"/>
              </a:rPr>
              <a:t>System:</a:t>
            </a:r>
            <a:r>
              <a:rPr sz="1200" b="0">
                <a:solidFill>
                  <a:srgbClr val="FFFFFF"/>
                </a:solidFill>
                <a:latin typeface="Roboto"/>
              </a:rPr>
              <a:t> Interactive Digital Cultural Map &amp; Tourism Information System </a:t>
            </a:r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686582" y="2442701"/>
            <a:ext cx="171445" cy="143796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8686582" y="2999894"/>
            <a:ext cx="2457388" cy="572464"/>
          </a:xfrm>
          <a:prstGeom prst="rect">
            <a:avLst/>
          </a:prstGeom>
          <a:noFill/>
        </p:spPr>
        <p:txBody>
          <a:bodyPr wrap="square" lIns="182880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Roboto"/>
              </a:rPr>
              <a:t> </a:t>
            </a:r>
            <a:r>
              <a:t>  </a:t>
            </a:r>
            <a:r>
              <a:rPr sz="1200" b="0">
                <a:solidFill>
                  <a:srgbClr val="FFFFFF"/>
                </a:solidFill>
                <a:latin typeface="Roboto"/>
              </a:rPr>
              <a:t> </a:t>
            </a:r>
            <a:r>
              <a:rPr sz="1200" b="1">
                <a:solidFill>
                  <a:srgbClr val="FFD740"/>
                </a:solidFill>
                <a:latin typeface="Roboto"/>
              </a:rPr>
              <a:t>Features:</a:t>
            </a:r>
            <a:r>
              <a:rPr sz="1200" b="0">
                <a:solidFill>
                  <a:srgbClr val="FFFFFF"/>
                </a:solidFill>
                <a:latin typeface="Roboto"/>
              </a:rPr>
              <a:t> Public map, Admin dashboard, Content moderation </a:t>
            </a:r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686582" y="3138026"/>
            <a:ext cx="171445" cy="143796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8686582" y="3514244"/>
            <a:ext cx="2457388" cy="572464"/>
          </a:xfrm>
          <a:prstGeom prst="rect">
            <a:avLst/>
          </a:prstGeom>
          <a:noFill/>
        </p:spPr>
        <p:txBody>
          <a:bodyPr wrap="square" lIns="182880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Roboto"/>
              </a:rPr>
              <a:t> </a:t>
            </a:r>
            <a:r>
              <a:t>  </a:t>
            </a:r>
            <a:r>
              <a:rPr sz="1200" b="0">
                <a:solidFill>
                  <a:srgbClr val="FFFFFF"/>
                </a:solidFill>
                <a:latin typeface="Roboto"/>
              </a:rPr>
              <a:t> </a:t>
            </a:r>
            <a:r>
              <a:rPr sz="1200" b="1">
                <a:solidFill>
                  <a:srgbClr val="FFD740"/>
                </a:solidFill>
                <a:latin typeface="Roboto"/>
              </a:rPr>
              <a:t>Impact:</a:t>
            </a:r>
            <a:r>
              <a:rPr sz="1200" b="0">
                <a:solidFill>
                  <a:srgbClr val="FFFFFF"/>
                </a:solidFill>
                <a:latin typeface="Roboto"/>
              </a:rPr>
              <a:t> Centralized heritage data for Mangatarem </a:t>
            </a:r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686582" y="3652376"/>
            <a:ext cx="171445" cy="143796"/>
          </a:xfrm>
          <a:prstGeom prst="rect">
            <a:avLst/>
          </a:prstGeom>
        </p:spPr>
      </p:pic>
      <p:sp>
        <p:nvSpPr>
          <p:cNvPr id="46" name="Rounded Rectangle 45"/>
          <p:cNvSpPr/>
          <p:nvPr/>
        </p:nvSpPr>
        <p:spPr>
          <a:xfrm>
            <a:off x="8686582" y="4533900"/>
            <a:ext cx="2457388" cy="590549"/>
          </a:xfrm>
          <a:prstGeom prst="roundRect">
            <a:avLst>
              <a:gd name="adj" fmla="val 25806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47" name="Round Same Side Corner Rectangle 46"/>
          <p:cNvSpPr/>
          <p:nvPr/>
        </p:nvSpPr>
        <p:spPr>
          <a:xfrm rot="16200000">
            <a:off x="8440838" y="4779644"/>
            <a:ext cx="590549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D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829454" y="4739527"/>
            <a:ext cx="190495" cy="179294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9096147" y="4589111"/>
            <a:ext cx="2061718" cy="48013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FFFFFF"/>
                </a:solidFill>
                <a:latin typeface="Roboto"/>
              </a:rPr>
              <a:t>Feedback Loop:</a:t>
            </a:r>
            <a:r>
              <a:rPr sz="1200" b="0" dirty="0">
                <a:solidFill>
                  <a:srgbClr val="FFFFFF"/>
                </a:solidFill>
                <a:latin typeface="Roboto"/>
              </a:rPr>
              <a:t> Continuous</a:t>
            </a:r>
            <a:endParaRPr lang="en-US" sz="1200" b="0" dirty="0">
              <a:solidFill>
                <a:srgbClr val="FFFFFF"/>
              </a:solidFill>
              <a:latin typeface="Roboto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FFFFFF"/>
                </a:solidFill>
                <a:latin typeface="Roboto"/>
              </a:rPr>
              <a:t> refinement &amp; improvement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4D40"/>
            </a:gs>
            <a:gs pos="100000">
              <a:srgbClr val="006064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6733" y="461596"/>
            <a:ext cx="304792" cy="25790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14397" y="319706"/>
            <a:ext cx="3884333" cy="54168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Montserrat"/>
              </a:rPr>
              <a:t>Scope &amp; Limitations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6733" y="1390650"/>
            <a:ext cx="5219569" cy="4029075"/>
          </a:xfrm>
          <a:prstGeom prst="roundRect">
            <a:avLst>
              <a:gd name="adj" fmla="val 5673"/>
            </a:avLst>
          </a:prstGeom>
          <a:solidFill>
            <a:srgbClr val="FFFFFF">
              <a:alpha val="8000"/>
            </a:srgbClr>
          </a:solidFill>
          <a:ln w="33020">
            <a:solidFill>
              <a:srgbClr val="FFD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" name="Rounded Rectangle 4"/>
          <p:cNvSpPr/>
          <p:nvPr/>
        </p:nvSpPr>
        <p:spPr>
          <a:xfrm>
            <a:off x="904852" y="1666874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FFD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8674" y="1807845"/>
            <a:ext cx="228594" cy="19430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95387" y="1695712"/>
            <a:ext cx="970074" cy="41857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ontserrat"/>
              </a:rPr>
              <a:t>Scope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4852" y="2558243"/>
            <a:ext cx="4743331" cy="455638"/>
          </a:xfrm>
          <a:prstGeom prst="rect">
            <a:avLst/>
          </a:prstGeom>
          <a:noFill/>
        </p:spPr>
        <p:txBody>
          <a:bodyPr wrap="square" lIns="182880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Roboto"/>
              </a:rPr>
              <a:t> </a:t>
            </a:r>
            <a:r>
              <a:rPr sz="1400"/>
              <a:t>  </a:t>
            </a:r>
            <a:r>
              <a:rPr sz="1050" b="0">
                <a:solidFill>
                  <a:srgbClr val="FFFFFF"/>
                </a:solidFill>
                <a:latin typeface="Roboto"/>
              </a:rPr>
              <a:t> </a:t>
            </a:r>
            <a:r>
              <a:rPr sz="1050" b="1">
                <a:solidFill>
                  <a:srgbClr val="FFFFFF"/>
                </a:solidFill>
                <a:latin typeface="Roboto"/>
              </a:rPr>
              <a:t>Technology:</a:t>
            </a:r>
            <a:r>
              <a:rPr sz="1050" b="0">
                <a:solidFill>
                  <a:srgbClr val="FFFFFF"/>
                </a:solidFill>
                <a:latin typeface="Roboto"/>
              </a:rPr>
              <a:t> HTML, CSS (Tailwind), JavaScript, Python (Flask), PostgreSQL (Supabase) 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4852" y="2632822"/>
            <a:ext cx="190495" cy="10645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04852" y="3137760"/>
            <a:ext cx="4743331" cy="458652"/>
          </a:xfrm>
          <a:prstGeom prst="rect">
            <a:avLst/>
          </a:prstGeom>
          <a:noFill/>
        </p:spPr>
        <p:txBody>
          <a:bodyPr wrap="square" lIns="182880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Roboto"/>
              </a:rPr>
              <a:t> </a:t>
            </a:r>
            <a:r>
              <a:rPr sz="1400"/>
              <a:t>  </a:t>
            </a:r>
            <a:r>
              <a:rPr sz="1050" b="0">
                <a:solidFill>
                  <a:srgbClr val="FFFFFF"/>
                </a:solidFill>
                <a:latin typeface="Roboto"/>
              </a:rPr>
              <a:t> </a:t>
            </a:r>
            <a:r>
              <a:rPr sz="1050" b="1">
                <a:solidFill>
                  <a:srgbClr val="FFFFFF"/>
                </a:solidFill>
                <a:latin typeface="Roboto"/>
              </a:rPr>
              <a:t>Public Portal:</a:t>
            </a:r>
            <a:r>
              <a:rPr sz="1050" b="0">
                <a:solidFill>
                  <a:srgbClr val="FFFFFF"/>
                </a:solidFill>
                <a:latin typeface="Roboto"/>
              </a:rPr>
              <a:t> Interactive map for browsing and filtering tourist attractions 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04852" y="3191435"/>
            <a:ext cx="190495" cy="1512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04852" y="3713177"/>
            <a:ext cx="4743331" cy="469872"/>
          </a:xfrm>
          <a:prstGeom prst="rect">
            <a:avLst/>
          </a:prstGeom>
          <a:noFill/>
        </p:spPr>
        <p:txBody>
          <a:bodyPr wrap="square" lIns="182880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FFFFFF"/>
                </a:solidFill>
                <a:latin typeface="Roboto"/>
              </a:rPr>
              <a:t> </a:t>
            </a:r>
            <a:r>
              <a:rPr dirty="0"/>
              <a:t>  </a:t>
            </a:r>
            <a:r>
              <a:rPr sz="1200" b="0" dirty="0">
                <a:solidFill>
                  <a:srgbClr val="FFFFFF"/>
                </a:solidFill>
                <a:latin typeface="Roboto"/>
              </a:rPr>
              <a:t> </a:t>
            </a:r>
            <a:r>
              <a:rPr sz="1200" b="1" dirty="0">
                <a:solidFill>
                  <a:srgbClr val="FFFFFF"/>
                </a:solidFill>
                <a:latin typeface="Roboto"/>
              </a:rPr>
              <a:t>Contributor Portal:</a:t>
            </a:r>
            <a:r>
              <a:rPr sz="1200" b="0" dirty="0">
                <a:solidFill>
                  <a:srgbClr val="FFFFFF"/>
                </a:solidFill>
                <a:latin typeface="Roboto"/>
              </a:rPr>
              <a:t> Content submission for barangay representatives 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04852" y="3772460"/>
            <a:ext cx="190495" cy="15127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04852" y="4290286"/>
            <a:ext cx="4743331" cy="458652"/>
          </a:xfrm>
          <a:prstGeom prst="rect">
            <a:avLst/>
          </a:prstGeom>
          <a:noFill/>
        </p:spPr>
        <p:txBody>
          <a:bodyPr wrap="square" lIns="182880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Roboto"/>
              </a:rPr>
              <a:t> </a:t>
            </a:r>
            <a:r>
              <a:rPr sz="1400"/>
              <a:t>  </a:t>
            </a:r>
            <a:r>
              <a:rPr sz="1050" b="0">
                <a:solidFill>
                  <a:srgbClr val="FFFFFF"/>
                </a:solidFill>
                <a:latin typeface="Roboto"/>
              </a:rPr>
              <a:t> </a:t>
            </a:r>
            <a:r>
              <a:rPr sz="1050" b="1">
                <a:solidFill>
                  <a:srgbClr val="FFFFFF"/>
                </a:solidFill>
                <a:latin typeface="Roboto"/>
              </a:rPr>
              <a:t>Admin Dashboard:</a:t>
            </a:r>
            <a:r>
              <a:rPr sz="1050" b="0">
                <a:solidFill>
                  <a:srgbClr val="FFFFFF"/>
                </a:solidFill>
                <a:latin typeface="Roboto"/>
              </a:rPr>
              <a:t> Content moderation and user management for LGU staff 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04852" y="4343960"/>
            <a:ext cx="190495" cy="15127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04852" y="4844681"/>
            <a:ext cx="3528658" cy="292837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Roboto"/>
              </a:rPr>
              <a:t> </a:t>
            </a:r>
            <a:r>
              <a:rPr sz="1400"/>
              <a:t>  </a:t>
            </a:r>
            <a:r>
              <a:rPr sz="1050" b="0">
                <a:solidFill>
                  <a:srgbClr val="FFFFFF"/>
                </a:solidFill>
                <a:latin typeface="Roboto"/>
              </a:rPr>
              <a:t> </a:t>
            </a:r>
            <a:r>
              <a:rPr sz="1050" b="1">
                <a:solidFill>
                  <a:srgbClr val="FFFFFF"/>
                </a:solidFill>
                <a:latin typeface="Roboto"/>
              </a:rPr>
              <a:t>Coverage:</a:t>
            </a:r>
            <a:r>
              <a:rPr sz="1050" b="0">
                <a:solidFill>
                  <a:srgbClr val="FFFFFF"/>
                </a:solidFill>
                <a:latin typeface="Roboto"/>
              </a:rPr>
              <a:t> Municipality of Mangatarem, Pangasinan 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04852" y="4919382"/>
            <a:ext cx="190495" cy="162485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172045" y="1390650"/>
            <a:ext cx="5219569" cy="4029075"/>
          </a:xfrm>
          <a:prstGeom prst="roundRect">
            <a:avLst>
              <a:gd name="adj" fmla="val 5673"/>
            </a:avLst>
          </a:prstGeom>
          <a:solidFill>
            <a:srgbClr val="FFFFFF">
              <a:alpha val="8000"/>
            </a:srgbClr>
          </a:solidFill>
          <a:ln w="33020">
            <a:solidFill>
              <a:srgbClr val="EF5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9" name="Rounded Rectangle 18"/>
          <p:cNvSpPr/>
          <p:nvPr/>
        </p:nvSpPr>
        <p:spPr>
          <a:xfrm>
            <a:off x="6400639" y="1666874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533986" y="1807845"/>
            <a:ext cx="228594" cy="194309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991175" y="1695712"/>
            <a:ext cx="1668983" cy="41857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ontserrat"/>
              </a:rPr>
              <a:t>Limitations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639" y="2640894"/>
            <a:ext cx="4743331" cy="290336"/>
          </a:xfrm>
          <a:prstGeom prst="rect">
            <a:avLst/>
          </a:prstGeom>
          <a:noFill/>
        </p:spPr>
        <p:txBody>
          <a:bodyPr wrap="square" lIns="182880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Roboto"/>
              </a:rPr>
              <a:t> </a:t>
            </a:r>
            <a:r>
              <a:rPr sz="1400"/>
              <a:t>  </a:t>
            </a:r>
            <a:r>
              <a:rPr sz="1050" b="0">
                <a:solidFill>
                  <a:srgbClr val="FFFFFF"/>
                </a:solidFill>
                <a:latin typeface="Roboto"/>
              </a:rPr>
              <a:t> </a:t>
            </a:r>
            <a:r>
              <a:rPr sz="1050" b="1">
                <a:solidFill>
                  <a:srgbClr val="FFFFFF"/>
                </a:solidFill>
                <a:latin typeface="Roboto"/>
              </a:rPr>
              <a:t>No Transactions:</a:t>
            </a:r>
            <a:r>
              <a:rPr sz="1050" b="0">
                <a:solidFill>
                  <a:srgbClr val="FFFFFF"/>
                </a:solidFill>
                <a:latin typeface="Roboto"/>
              </a:rPr>
              <a:t> No booking, reservation, or payment processing 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400639" y="2672567"/>
            <a:ext cx="952476" cy="17936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400639" y="3111131"/>
            <a:ext cx="3770712" cy="292837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Roboto"/>
              </a:rPr>
              <a:t> </a:t>
            </a:r>
            <a:r>
              <a:rPr sz="1400"/>
              <a:t>  </a:t>
            </a:r>
            <a:r>
              <a:rPr sz="1050" b="0">
                <a:solidFill>
                  <a:srgbClr val="FFFFFF"/>
                </a:solidFill>
                <a:latin typeface="Roboto"/>
              </a:rPr>
              <a:t> </a:t>
            </a:r>
            <a:r>
              <a:rPr sz="1050" b="1">
                <a:solidFill>
                  <a:srgbClr val="FFFFFF"/>
                </a:solidFill>
                <a:latin typeface="Roboto"/>
              </a:rPr>
              <a:t>Online Required:</a:t>
            </a:r>
            <a:r>
              <a:rPr sz="1050" b="0">
                <a:solidFill>
                  <a:srgbClr val="FFFFFF"/>
                </a:solidFill>
                <a:latin typeface="Roboto"/>
              </a:rPr>
              <a:t> No offline capabilities or cached maps 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400639" y="3190034"/>
            <a:ext cx="190495" cy="15408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400639" y="3473082"/>
            <a:ext cx="4309321" cy="292837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Roboto"/>
              </a:rPr>
              <a:t> </a:t>
            </a:r>
            <a:r>
              <a:rPr sz="1400"/>
              <a:t>  </a:t>
            </a:r>
            <a:r>
              <a:rPr sz="1050" b="0">
                <a:solidFill>
                  <a:srgbClr val="FFFFFF"/>
                </a:solidFill>
                <a:latin typeface="Roboto"/>
              </a:rPr>
              <a:t> </a:t>
            </a:r>
            <a:r>
              <a:rPr sz="1050" b="1">
                <a:solidFill>
                  <a:srgbClr val="FFFFFF"/>
                </a:solidFill>
                <a:latin typeface="Roboto"/>
              </a:rPr>
              <a:t>Traffic Limits:</a:t>
            </a:r>
            <a:r>
              <a:rPr sz="1050" b="0">
                <a:solidFill>
                  <a:srgbClr val="FFFFFF"/>
                </a:solidFill>
                <a:latin typeface="Roboto"/>
              </a:rPr>
              <a:t> Designed for municipal traffic, not extreme surges 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6400639" y="3560388"/>
            <a:ext cx="190495" cy="137272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400639" y="3955343"/>
            <a:ext cx="4743331" cy="290336"/>
          </a:xfrm>
          <a:prstGeom prst="rect">
            <a:avLst/>
          </a:prstGeom>
          <a:noFill/>
        </p:spPr>
        <p:txBody>
          <a:bodyPr wrap="square" lIns="182880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Roboto"/>
              </a:rPr>
              <a:t> </a:t>
            </a:r>
            <a:r>
              <a:rPr sz="1400"/>
              <a:t>  </a:t>
            </a:r>
            <a:r>
              <a:rPr sz="1050" b="0">
                <a:solidFill>
                  <a:srgbClr val="FFFFFF"/>
                </a:solidFill>
                <a:latin typeface="Roboto"/>
              </a:rPr>
              <a:t> </a:t>
            </a:r>
            <a:r>
              <a:rPr sz="1050" b="1">
                <a:solidFill>
                  <a:srgbClr val="FFFFFF"/>
                </a:solidFill>
                <a:latin typeface="Roboto"/>
              </a:rPr>
              <a:t>Restricted Access:</a:t>
            </a:r>
            <a:r>
              <a:rPr sz="1050" b="0">
                <a:solidFill>
                  <a:srgbClr val="FFFFFF"/>
                </a:solidFill>
                <a:latin typeface="Roboto"/>
              </a:rPr>
              <a:t> Content submission limited to authorized personnel 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6400639" y="3915055"/>
            <a:ext cx="190495" cy="170889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400639" y="4416056"/>
            <a:ext cx="3605602" cy="292837"/>
          </a:xfrm>
          <a:prstGeom prst="rect">
            <a:avLst/>
          </a:prstGeom>
          <a:noFill/>
        </p:spPr>
        <p:txBody>
          <a:bodyPr wrap="none" lIns="182880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Roboto"/>
              </a:rPr>
              <a:t> </a:t>
            </a:r>
            <a:r>
              <a:rPr sz="1400"/>
              <a:t>  </a:t>
            </a:r>
            <a:r>
              <a:rPr sz="1050" b="0">
                <a:solidFill>
                  <a:srgbClr val="FFFFFF"/>
                </a:solidFill>
                <a:latin typeface="Roboto"/>
              </a:rPr>
              <a:t> </a:t>
            </a:r>
            <a:r>
              <a:rPr sz="1050" b="1">
                <a:solidFill>
                  <a:srgbClr val="FFFFFF"/>
                </a:solidFill>
                <a:latin typeface="Roboto"/>
              </a:rPr>
              <a:t>Geographic Boundaries:</a:t>
            </a:r>
            <a:r>
              <a:rPr sz="1050" b="0">
                <a:solidFill>
                  <a:srgbClr val="FFFFFF"/>
                </a:solidFill>
                <a:latin typeface="Roboto"/>
              </a:rPr>
              <a:t> Limited to Mangatarem only 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6400639" y="4490757"/>
            <a:ext cx="190495" cy="16248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4D40"/>
            </a:gs>
            <a:gs pos="100000">
              <a:srgbClr val="006064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6733" y="482111"/>
            <a:ext cx="304792" cy="21687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14397" y="288929"/>
            <a:ext cx="3538084" cy="60324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Montserrat"/>
              </a:rPr>
              <a:t>Sources of Data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6733" y="1390650"/>
            <a:ext cx="3600359" cy="3314700"/>
          </a:xfrm>
          <a:prstGeom prst="roundRect">
            <a:avLst>
              <a:gd name="adj" fmla="val 6896"/>
            </a:avLst>
          </a:prstGeom>
          <a:solidFill>
            <a:srgbClr val="FFFFFF">
              <a:alpha val="8000"/>
            </a:srgbClr>
          </a:solidFill>
          <a:ln w="33020">
            <a:solidFill>
              <a:srgbClr val="FFD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5" name="Rounded Rectangle 4"/>
          <p:cNvSpPr/>
          <p:nvPr/>
        </p:nvSpPr>
        <p:spPr>
          <a:xfrm>
            <a:off x="904852" y="1666874"/>
            <a:ext cx="428614" cy="428625"/>
          </a:xfrm>
          <a:prstGeom prst="roundRect">
            <a:avLst>
              <a:gd name="adj" fmla="val 50000"/>
            </a:avLst>
          </a:prstGeom>
          <a:solidFill>
            <a:srgbClr val="FFD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9624" y="1814512"/>
            <a:ext cx="228594" cy="1428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47763" y="1671900"/>
            <a:ext cx="2356671" cy="41857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ontserrat"/>
              </a:rPr>
              <a:t>Primary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4852" y="2479735"/>
            <a:ext cx="3124121" cy="460254"/>
          </a:xfrm>
          <a:prstGeom prst="rect">
            <a:avLst/>
          </a:prstGeom>
          <a:noFill/>
        </p:spPr>
        <p:txBody>
          <a:bodyPr wrap="square" lIns="182880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Roboto"/>
              </a:rPr>
              <a:t> </a:t>
            </a:r>
            <a:r>
              <a:rPr sz="1600"/>
              <a:t>  </a:t>
            </a:r>
            <a:r>
              <a:rPr sz="1100" b="0">
                <a:solidFill>
                  <a:srgbClr val="FFFFFF"/>
                </a:solidFill>
                <a:latin typeface="Roboto"/>
              </a:rPr>
              <a:t> </a:t>
            </a:r>
            <a:r>
              <a:rPr sz="1100" b="1">
                <a:solidFill>
                  <a:srgbClr val="FFD740"/>
                </a:solidFill>
                <a:latin typeface="Roboto"/>
              </a:rPr>
              <a:t>LGU Tourism Office:</a:t>
            </a:r>
            <a:r>
              <a:rPr sz="1100" b="0">
                <a:solidFill>
                  <a:srgbClr val="FFFFFF"/>
                </a:solidFill>
                <a:latin typeface="Roboto"/>
              </a:rPr>
              <a:t> Official policies, manual records, promotional materials 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4852" y="2534210"/>
            <a:ext cx="190495" cy="15127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04852" y="3203634"/>
            <a:ext cx="3124121" cy="460254"/>
          </a:xfrm>
          <a:prstGeom prst="rect">
            <a:avLst/>
          </a:prstGeom>
          <a:noFill/>
        </p:spPr>
        <p:txBody>
          <a:bodyPr wrap="square" lIns="182880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Roboto"/>
              </a:rPr>
              <a:t> </a:t>
            </a:r>
            <a:r>
              <a:rPr sz="1600"/>
              <a:t>  </a:t>
            </a:r>
            <a:r>
              <a:rPr sz="1100" b="0">
                <a:solidFill>
                  <a:srgbClr val="FFFFFF"/>
                </a:solidFill>
                <a:latin typeface="Roboto"/>
              </a:rPr>
              <a:t> </a:t>
            </a:r>
            <a:r>
              <a:rPr sz="1100" b="1">
                <a:solidFill>
                  <a:srgbClr val="FFD740"/>
                </a:solidFill>
                <a:latin typeface="Roboto"/>
              </a:rPr>
              <a:t>Barangay Officials:</a:t>
            </a:r>
            <a:r>
              <a:rPr sz="1100" b="0">
                <a:solidFill>
                  <a:srgbClr val="FFFFFF"/>
                </a:solidFill>
                <a:latin typeface="Roboto"/>
              </a:rPr>
              <a:t> Localized cultural data, landmark descriptions, community events 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04852" y="3150533"/>
            <a:ext cx="190495" cy="15688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04852" y="3927534"/>
            <a:ext cx="3124121" cy="460254"/>
          </a:xfrm>
          <a:prstGeom prst="rect">
            <a:avLst/>
          </a:prstGeom>
          <a:noFill/>
        </p:spPr>
        <p:txBody>
          <a:bodyPr wrap="square" lIns="182880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Roboto"/>
              </a:rPr>
              <a:t> </a:t>
            </a:r>
            <a:r>
              <a:rPr sz="1600"/>
              <a:t>  </a:t>
            </a:r>
            <a:r>
              <a:rPr sz="1100" b="0">
                <a:solidFill>
                  <a:srgbClr val="FFFFFF"/>
                </a:solidFill>
                <a:latin typeface="Roboto"/>
              </a:rPr>
              <a:t> </a:t>
            </a:r>
            <a:r>
              <a:rPr sz="1100" b="1">
                <a:solidFill>
                  <a:srgbClr val="FFD740"/>
                </a:solidFill>
                <a:latin typeface="Roboto"/>
              </a:rPr>
              <a:t>Tourist Sites:</a:t>
            </a:r>
            <a:r>
              <a:rPr sz="1100" b="0">
                <a:solidFill>
                  <a:srgbClr val="FFFFFF"/>
                </a:solidFill>
                <a:latin typeface="Roboto"/>
              </a:rPr>
              <a:t> Mapping coordinates, photographic documentation 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04852" y="3982010"/>
            <a:ext cx="190495" cy="151279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457588" y="1390650"/>
            <a:ext cx="3600359" cy="3314700"/>
          </a:xfrm>
          <a:prstGeom prst="roundRect">
            <a:avLst>
              <a:gd name="adj" fmla="val 6896"/>
            </a:avLst>
          </a:prstGeom>
          <a:solidFill>
            <a:srgbClr val="FFFFFF">
              <a:alpha val="8000"/>
            </a:srgbClr>
          </a:solidFill>
          <a:ln w="33020">
            <a:solidFill>
              <a:srgbClr val="009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5" name="Rounded Rectangle 14"/>
          <p:cNvSpPr/>
          <p:nvPr/>
        </p:nvSpPr>
        <p:spPr>
          <a:xfrm>
            <a:off x="4686182" y="1666874"/>
            <a:ext cx="428614" cy="428625"/>
          </a:xfrm>
          <a:prstGeom prst="roundRect">
            <a:avLst>
              <a:gd name="adj" fmla="val 50000"/>
            </a:avLst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790955" y="1803082"/>
            <a:ext cx="228594" cy="16573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238619" y="1671900"/>
            <a:ext cx="2714141" cy="41857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ontserrat"/>
              </a:rPr>
              <a:t>Secondary Sources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86182" y="2479735"/>
            <a:ext cx="3124121" cy="460254"/>
          </a:xfrm>
          <a:prstGeom prst="rect">
            <a:avLst/>
          </a:prstGeom>
          <a:noFill/>
        </p:spPr>
        <p:txBody>
          <a:bodyPr wrap="square" lIns="182880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Roboto"/>
              </a:rPr>
              <a:t> </a:t>
            </a:r>
            <a:r>
              <a:rPr sz="1600"/>
              <a:t>  </a:t>
            </a:r>
            <a:r>
              <a:rPr sz="1100" b="0">
                <a:solidFill>
                  <a:srgbClr val="FFFFFF"/>
                </a:solidFill>
                <a:latin typeface="Roboto"/>
              </a:rPr>
              <a:t> </a:t>
            </a:r>
            <a:r>
              <a:rPr sz="1100" b="1">
                <a:solidFill>
                  <a:srgbClr val="0097A7"/>
                </a:solidFill>
                <a:latin typeface="Roboto"/>
              </a:rPr>
              <a:t>Municipal Archives:</a:t>
            </a:r>
            <a:r>
              <a:rPr sz="1100" b="0">
                <a:solidFill>
                  <a:srgbClr val="FFFFFF"/>
                </a:solidFill>
                <a:latin typeface="Roboto"/>
              </a:rPr>
              <a:t> Tourism brochures, municipal profiles 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686182" y="2528607"/>
            <a:ext cx="190495" cy="16248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686182" y="3098859"/>
            <a:ext cx="3124121" cy="460254"/>
          </a:xfrm>
          <a:prstGeom prst="rect">
            <a:avLst/>
          </a:prstGeom>
          <a:noFill/>
        </p:spPr>
        <p:txBody>
          <a:bodyPr wrap="square" lIns="182880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dirty="0">
                <a:solidFill>
                  <a:srgbClr val="FFFFFF"/>
                </a:solidFill>
                <a:latin typeface="Roboto"/>
              </a:rPr>
              <a:t> </a:t>
            </a:r>
            <a:r>
              <a:rPr sz="1600" dirty="0"/>
              <a:t>  </a:t>
            </a:r>
            <a:r>
              <a:rPr sz="1100" b="0" dirty="0">
                <a:solidFill>
                  <a:srgbClr val="FFFFFF"/>
                </a:solidFill>
                <a:latin typeface="Roboto"/>
              </a:rPr>
              <a:t> </a:t>
            </a:r>
            <a:r>
              <a:rPr sz="1100" b="1" dirty="0">
                <a:solidFill>
                  <a:srgbClr val="0097A7"/>
                </a:solidFill>
                <a:latin typeface="Roboto"/>
              </a:rPr>
              <a:t>Historical Documents:</a:t>
            </a:r>
            <a:r>
              <a:rPr sz="1100" b="0" dirty="0">
                <a:solidFill>
                  <a:srgbClr val="FFFFFF"/>
                </a:solidFill>
                <a:latin typeface="Roboto"/>
              </a:rPr>
              <a:t> Past tourism reports, heritage records 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686182" y="3158938"/>
            <a:ext cx="190495" cy="140073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686182" y="3717985"/>
            <a:ext cx="3124121" cy="460254"/>
          </a:xfrm>
          <a:prstGeom prst="rect">
            <a:avLst/>
          </a:prstGeom>
          <a:noFill/>
        </p:spPr>
        <p:txBody>
          <a:bodyPr wrap="square" lIns="182880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Roboto"/>
              </a:rPr>
              <a:t> </a:t>
            </a:r>
            <a:r>
              <a:rPr sz="1600"/>
              <a:t>  </a:t>
            </a:r>
            <a:r>
              <a:rPr sz="1100" b="0">
                <a:solidFill>
                  <a:srgbClr val="FFFFFF"/>
                </a:solidFill>
                <a:latin typeface="Roboto"/>
              </a:rPr>
              <a:t> </a:t>
            </a:r>
            <a:r>
              <a:rPr sz="1100" b="1">
                <a:solidFill>
                  <a:srgbClr val="0097A7"/>
                </a:solidFill>
                <a:latin typeface="Roboto"/>
              </a:rPr>
              <a:t>Physical Records:</a:t>
            </a:r>
            <a:r>
              <a:rPr sz="1100" b="0">
                <a:solidFill>
                  <a:srgbClr val="FFFFFF"/>
                </a:solidFill>
                <a:latin typeface="Roboto"/>
              </a:rPr>
              <a:t> Printed profiles, archived documents 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686182" y="3776662"/>
            <a:ext cx="190495" cy="142875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8238919" y="1390650"/>
            <a:ext cx="3143171" cy="3314700"/>
          </a:xfrm>
          <a:prstGeom prst="roundRect">
            <a:avLst>
              <a:gd name="adj" fmla="val 7272"/>
            </a:avLst>
          </a:prstGeom>
          <a:solidFill>
            <a:srgbClr val="FFFFFF">
              <a:alpha val="8000"/>
            </a:srgbClr>
          </a:solidFill>
          <a:ln w="33020">
            <a:solidFill>
              <a:srgbClr val="26C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5" name="Rounded Rectangle 24"/>
          <p:cNvSpPr/>
          <p:nvPr/>
        </p:nvSpPr>
        <p:spPr>
          <a:xfrm>
            <a:off x="8477038" y="1666874"/>
            <a:ext cx="428614" cy="428625"/>
          </a:xfrm>
          <a:prstGeom prst="roundRect">
            <a:avLst>
              <a:gd name="adj" fmla="val 50000"/>
            </a:avLst>
          </a:prstGeom>
          <a:solidFill>
            <a:srgbClr val="26C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8572285" y="1803082"/>
            <a:ext cx="228594" cy="16573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019949" y="1671900"/>
            <a:ext cx="1704249" cy="41857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ontserrat"/>
              </a:rPr>
              <a:t>Techniques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77038" y="2606587"/>
            <a:ext cx="2666933" cy="635174"/>
          </a:xfrm>
          <a:prstGeom prst="rect">
            <a:avLst/>
          </a:prstGeom>
          <a:noFill/>
        </p:spPr>
        <p:txBody>
          <a:bodyPr wrap="square" lIns="182880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Roboto"/>
              </a:rPr>
              <a:t> </a:t>
            </a:r>
            <a:r>
              <a:rPr sz="1600"/>
              <a:t>  </a:t>
            </a:r>
            <a:r>
              <a:rPr sz="1100" b="0">
                <a:solidFill>
                  <a:srgbClr val="FFFFFF"/>
                </a:solidFill>
                <a:latin typeface="Roboto"/>
              </a:rPr>
              <a:t>  </a:t>
            </a:r>
            <a:r>
              <a:rPr sz="1100" b="1">
                <a:solidFill>
                  <a:srgbClr val="FFFFFF"/>
                </a:solidFill>
                <a:latin typeface="Roboto"/>
              </a:rPr>
              <a:t>Interviews</a:t>
            </a:r>
            <a:r>
              <a:rPr sz="1600"/>
              <a:t>
</a:t>
            </a:r>
            <a:r>
              <a:rPr sz="1100" b="0">
                <a:solidFill>
                  <a:srgbClr val="FFFFFF"/>
                </a:solidFill>
                <a:latin typeface="Roboto"/>
              </a:rPr>
              <a:t> Face-to-face talks with tourism staff about daily tasks and pain points  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8477038" y="2531408"/>
            <a:ext cx="190495" cy="156882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477038" y="3544799"/>
            <a:ext cx="2666933" cy="635174"/>
          </a:xfrm>
          <a:prstGeom prst="rect">
            <a:avLst/>
          </a:prstGeom>
          <a:noFill/>
        </p:spPr>
        <p:txBody>
          <a:bodyPr wrap="square" lIns="182880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Roboto"/>
              </a:rPr>
              <a:t> </a:t>
            </a:r>
            <a:r>
              <a:rPr sz="1600"/>
              <a:t>  </a:t>
            </a:r>
            <a:r>
              <a:rPr sz="1100" b="0">
                <a:solidFill>
                  <a:srgbClr val="FFFFFF"/>
                </a:solidFill>
                <a:latin typeface="Roboto"/>
              </a:rPr>
              <a:t>  </a:t>
            </a:r>
            <a:r>
              <a:rPr sz="1100" b="1">
                <a:solidFill>
                  <a:srgbClr val="FFFFFF"/>
                </a:solidFill>
                <a:latin typeface="Roboto"/>
              </a:rPr>
              <a:t>Observation</a:t>
            </a:r>
            <a:r>
              <a:rPr sz="1600"/>
              <a:t>
</a:t>
            </a:r>
            <a:r>
              <a:rPr sz="1100" b="0">
                <a:solidFill>
                  <a:srgbClr val="FFFFFF"/>
                </a:solidFill>
                <a:latin typeface="Roboto"/>
              </a:rPr>
              <a:t> On-site workflow analysis at LGU office to identify bottlenecks  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8477038" y="3593166"/>
            <a:ext cx="190495" cy="12886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4D40"/>
            </a:gs>
            <a:gs pos="100000">
              <a:srgbClr val="006064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6733" y="473319"/>
            <a:ext cx="304792" cy="23446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14397" y="227374"/>
            <a:ext cx="7720319" cy="72635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4000" b="1">
                <a:solidFill>
                  <a:srgbClr val="FFFFFF"/>
                </a:solidFill>
                <a:latin typeface="Montserrat"/>
              </a:rPr>
              <a:t>Proposed System Flowchart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3624CE-FECB-B30A-B7C4-3F4CEE77280E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194726" y="953727"/>
            <a:ext cx="9882878" cy="544707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4D40"/>
            </a:gs>
            <a:gs pos="100000">
              <a:srgbClr val="006064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6733" y="473319"/>
            <a:ext cx="304792" cy="23446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14397" y="380999"/>
            <a:ext cx="5038599" cy="4191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FFFFFF"/>
                </a:solidFill>
                <a:latin typeface="Montserrat"/>
              </a:rPr>
              <a:t>System Architecture Design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1205C4-659A-C652-6FBB-00C9B0D04439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681343" y="954956"/>
            <a:ext cx="8829314" cy="586740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4D40"/>
            </a:gs>
            <a:gs pos="100000">
              <a:srgbClr val="006064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6733" y="473319"/>
            <a:ext cx="304792" cy="23446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14397" y="380999"/>
            <a:ext cx="4581410" cy="4191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FFFFFF"/>
                </a:solidFill>
                <a:latin typeface="Montserrat"/>
              </a:rPr>
              <a:t>Data Flow Diagram (DFD)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0D8A19-2962-047C-B24E-DAEC28F332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5102" y="946356"/>
            <a:ext cx="6045214" cy="553064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4D40"/>
            </a:gs>
            <a:gs pos="100000">
              <a:srgbClr val="006064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6733" y="473319"/>
            <a:ext cx="304792" cy="23446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14397" y="380999"/>
            <a:ext cx="6172045" cy="4191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FFFFFF"/>
                </a:solidFill>
                <a:latin typeface="Montserrat"/>
              </a:rPr>
              <a:t>Entity Relationship Diagram (ERD)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D48CFE-F01A-1716-EC03-E99361AF48C0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266951" y="1159120"/>
            <a:ext cx="6305549" cy="531788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4D40"/>
            </a:gs>
            <a:gs pos="100000">
              <a:srgbClr val="006064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6733" y="455734"/>
            <a:ext cx="304792" cy="26963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14397" y="380999"/>
            <a:ext cx="5410064" cy="4191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FFFFFF"/>
                </a:solidFill>
                <a:latin typeface="Montserrat"/>
              </a:rPr>
              <a:t>System Testing &amp; Deployment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6733" y="1343025"/>
            <a:ext cx="5010024" cy="5076825"/>
          </a:xfrm>
          <a:prstGeom prst="roundRect">
            <a:avLst>
              <a:gd name="adj" fmla="val 4562"/>
            </a:avLst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57228" y="1533525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4CAF50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3426" y="1641157"/>
            <a:ext cx="228594" cy="16573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33466" y="1609724"/>
            <a:ext cx="1523961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Montserrat"/>
              </a:rPr>
              <a:t>Testing Results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7228" y="2171700"/>
            <a:ext cx="4629034" cy="552450"/>
          </a:xfrm>
          <a:prstGeom prst="roundRect">
            <a:avLst>
              <a:gd name="adj" fmla="val 34482"/>
            </a:avLst>
          </a:prstGeom>
          <a:solidFill>
            <a:srgbClr val="4CAF50">
              <a:alpha val="20000"/>
            </a:srgbClr>
          </a:solidFill>
          <a:ln w="1651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19149" y="2333624"/>
            <a:ext cx="4305192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4CAF50"/>
                </a:solidFill>
                <a:latin typeface="Montserrat"/>
              </a:rPr>
              <a:t> </a:t>
            </a:r>
            <a:r>
              <a:rPr sz="1104"/>
              <a:t>  </a:t>
            </a:r>
            <a:r>
              <a:rPr sz="956" b="1">
                <a:solidFill>
                  <a:srgbClr val="4CAF50"/>
                </a:solidFill>
                <a:latin typeface="Montserrat"/>
              </a:rPr>
              <a:t> All Tests Passed Successfully 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95427" y="2350770"/>
            <a:ext cx="228594" cy="194309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57228" y="2867025"/>
            <a:ext cx="2266893" cy="1628775"/>
          </a:xfrm>
          <a:prstGeom prst="roundRect">
            <a:avLst>
              <a:gd name="adj" fmla="val 9356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92371" y="3631882"/>
            <a:ext cx="1628775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0099" y="3324225"/>
            <a:ext cx="2009724" cy="1809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956" b="0">
                <a:solidFill>
                  <a:srgbClr val="FFFFFF"/>
                </a:solidFill>
                <a:latin typeface="Roboto"/>
              </a:rPr>
              <a:t>Functional Testing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99" y="3552825"/>
            <a:ext cx="2009724" cy="27622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435" b="1">
                <a:solidFill>
                  <a:srgbClr val="FFD740"/>
                </a:solidFill>
                <a:latin typeface="Montserrat"/>
              </a:rPr>
              <a:t>100% </a:t>
            </a:r>
            <a:r>
              <a:rPr sz="956" b="1">
                <a:solidFill>
                  <a:srgbClr val="4CAF50"/>
                </a:solidFill>
                <a:latin typeface="Montserrat"/>
              </a:rPr>
              <a:t>PASS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666833" y="3609975"/>
            <a:ext cx="561960" cy="219074"/>
          </a:xfrm>
          <a:prstGeom prst="roundRect">
            <a:avLst>
              <a:gd name="adj" fmla="val 86956"/>
            </a:avLst>
          </a:prstGeom>
          <a:solidFill>
            <a:srgbClr val="4CAF50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00099" y="3867149"/>
            <a:ext cx="2009724" cy="1809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"/>
              </a:rPr>
              <a:t>4/4 tests passed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19369" y="2867025"/>
            <a:ext cx="2266893" cy="1628775"/>
          </a:xfrm>
          <a:prstGeom prst="roundRect">
            <a:avLst>
              <a:gd name="adj" fmla="val 9356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 Same Side Corner Rectangle 17"/>
          <p:cNvSpPr/>
          <p:nvPr/>
        </p:nvSpPr>
        <p:spPr>
          <a:xfrm rot="16200000">
            <a:off x="2454512" y="3631882"/>
            <a:ext cx="1628775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362240" y="3324225"/>
            <a:ext cx="2009724" cy="1809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956" b="0">
                <a:solidFill>
                  <a:srgbClr val="FFFFFF"/>
                </a:solidFill>
                <a:latin typeface="Roboto"/>
              </a:rPr>
              <a:t>Performance Testing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62240" y="3552825"/>
            <a:ext cx="2009724" cy="27622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435" b="1">
                <a:solidFill>
                  <a:srgbClr val="FFD740"/>
                </a:solidFill>
                <a:latin typeface="Montserrat"/>
              </a:rPr>
              <a:t>100% </a:t>
            </a:r>
            <a:r>
              <a:rPr sz="956" b="1">
                <a:solidFill>
                  <a:srgbClr val="4CAF50"/>
                </a:solidFill>
                <a:latin typeface="Montserrat"/>
              </a:rPr>
              <a:t>PASS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28974" y="3609975"/>
            <a:ext cx="561960" cy="219074"/>
          </a:xfrm>
          <a:prstGeom prst="roundRect">
            <a:avLst>
              <a:gd name="adj" fmla="val 86956"/>
            </a:avLst>
          </a:prstGeom>
          <a:solidFill>
            <a:srgbClr val="4CAF50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362240" y="3867149"/>
            <a:ext cx="2009724" cy="1809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"/>
              </a:rPr>
              <a:t>3/3 tests passed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7228" y="4591050"/>
            <a:ext cx="2266893" cy="1628775"/>
          </a:xfrm>
          <a:prstGeom prst="roundRect">
            <a:avLst>
              <a:gd name="adj" fmla="val 9356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 Same Side Corner Rectangle 23"/>
          <p:cNvSpPr/>
          <p:nvPr/>
        </p:nvSpPr>
        <p:spPr>
          <a:xfrm rot="16200000">
            <a:off x="92371" y="5355907"/>
            <a:ext cx="1628775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00099" y="5048250"/>
            <a:ext cx="2009724" cy="1809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956" b="0">
                <a:solidFill>
                  <a:srgbClr val="FFFFFF"/>
                </a:solidFill>
                <a:latin typeface="Roboto"/>
              </a:rPr>
              <a:t>Security Testing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0099" y="5276850"/>
            <a:ext cx="2009724" cy="27622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435" b="1">
                <a:solidFill>
                  <a:srgbClr val="FFD740"/>
                </a:solidFill>
                <a:latin typeface="Montserrat"/>
              </a:rPr>
              <a:t>100% </a:t>
            </a:r>
            <a:r>
              <a:rPr sz="956" b="1">
                <a:solidFill>
                  <a:srgbClr val="4CAF50"/>
                </a:solidFill>
                <a:latin typeface="Montserrat"/>
              </a:rPr>
              <a:t>PASS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666833" y="5334000"/>
            <a:ext cx="561960" cy="219074"/>
          </a:xfrm>
          <a:prstGeom prst="roundRect">
            <a:avLst>
              <a:gd name="adj" fmla="val 86956"/>
            </a:avLst>
          </a:prstGeom>
          <a:solidFill>
            <a:srgbClr val="4CAF50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00099" y="5591175"/>
            <a:ext cx="2009724" cy="1809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"/>
              </a:rPr>
              <a:t>3/3 tests passed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19369" y="4591050"/>
            <a:ext cx="2266893" cy="1628775"/>
          </a:xfrm>
          <a:prstGeom prst="roundRect">
            <a:avLst>
              <a:gd name="adj" fmla="val 9356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 Same Side Corner Rectangle 29"/>
          <p:cNvSpPr/>
          <p:nvPr/>
        </p:nvSpPr>
        <p:spPr>
          <a:xfrm rot="16200000">
            <a:off x="2454512" y="5355907"/>
            <a:ext cx="1628775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362240" y="5048250"/>
            <a:ext cx="2009724" cy="1809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956" b="0">
                <a:solidFill>
                  <a:srgbClr val="FFFFFF"/>
                </a:solidFill>
                <a:latin typeface="Roboto"/>
              </a:rPr>
              <a:t>Usability Testing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62240" y="5276850"/>
            <a:ext cx="2009724" cy="2762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435" b="1">
                <a:solidFill>
                  <a:srgbClr val="FFD740"/>
                </a:solidFill>
                <a:latin typeface="Montserrat"/>
              </a:rPr>
              <a:t>4.34/5.0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62240" y="5591175"/>
            <a:ext cx="2009724" cy="1809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"/>
              </a:rPr>
              <a:t>High user satisfaction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62500" y="1343025"/>
            <a:ext cx="5419589" cy="5076825"/>
          </a:xfrm>
          <a:prstGeom prst="roundRect">
            <a:avLst>
              <a:gd name="adj" fmla="val 4502"/>
            </a:avLst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6152996" y="1533525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2196F3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29194" y="1628298"/>
            <a:ext cx="228594" cy="191452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629234" y="1609724"/>
            <a:ext cx="1733506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Montserrat"/>
              </a:rPr>
              <a:t>Deployment Plan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52996" y="2171700"/>
            <a:ext cx="5038599" cy="1085850"/>
          </a:xfrm>
          <a:prstGeom prst="roundRect">
            <a:avLst>
              <a:gd name="adj" fmla="val 14035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6267293" y="2286000"/>
            <a:ext cx="285742" cy="285750"/>
          </a:xfrm>
          <a:prstGeom prst="roundRect">
            <a:avLst>
              <a:gd name="adj" fmla="val 50000"/>
            </a:avLst>
          </a:prstGeom>
          <a:solidFill>
            <a:srgbClr val="2196F3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267293" y="2286000"/>
            <a:ext cx="285742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2196F3"/>
                </a:solidFill>
                <a:latin typeface="Roboto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67333" y="2286000"/>
            <a:ext cx="4409964" cy="1809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956" b="1">
                <a:solidFill>
                  <a:srgbClr val="FFFFFF"/>
                </a:solidFill>
                <a:latin typeface="Roboto"/>
              </a:rPr>
              <a:t>Pilot Testing (Internal)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67333" y="2505074"/>
            <a:ext cx="4409964" cy="63817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"/>
              </a:rPr>
              <a:t>Staging environment for LGU staff and select barangay representatives. Validate end-to-end content moderation workflow.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52996" y="3371850"/>
            <a:ext cx="5038599" cy="876299"/>
          </a:xfrm>
          <a:prstGeom prst="roundRect">
            <a:avLst>
              <a:gd name="adj" fmla="val 17391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6267293" y="3486150"/>
            <a:ext cx="285742" cy="285750"/>
          </a:xfrm>
          <a:prstGeom prst="roundRect">
            <a:avLst>
              <a:gd name="adj" fmla="val 50000"/>
            </a:avLst>
          </a:prstGeom>
          <a:solidFill>
            <a:srgbClr val="2196F3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267293" y="3486150"/>
            <a:ext cx="285742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2196F3"/>
                </a:solidFill>
                <a:latin typeface="Roboto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67333" y="3486150"/>
            <a:ext cx="4409964" cy="1809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956" b="1">
                <a:solidFill>
                  <a:srgbClr val="FFFFFF"/>
                </a:solidFill>
                <a:latin typeface="Roboto"/>
              </a:rPr>
              <a:t>Production Deployment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67333" y="3705224"/>
            <a:ext cx="4409964" cy="42862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"/>
              </a:rPr>
              <a:t>Migrate to live environment on Vercel with Supabase backend. Configure SSL/TLS and security headers.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152996" y="4362450"/>
            <a:ext cx="5038599" cy="876299"/>
          </a:xfrm>
          <a:prstGeom prst="roundRect">
            <a:avLst>
              <a:gd name="adj" fmla="val 17391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6267293" y="4476750"/>
            <a:ext cx="285742" cy="285750"/>
          </a:xfrm>
          <a:prstGeom prst="roundRect">
            <a:avLst>
              <a:gd name="adj" fmla="val 50000"/>
            </a:avLst>
          </a:prstGeom>
          <a:solidFill>
            <a:srgbClr val="2196F3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267293" y="4476750"/>
            <a:ext cx="285742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2196F3"/>
                </a:solidFill>
                <a:latin typeface="Roboto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67333" y="4476750"/>
            <a:ext cx="4409964" cy="1809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956" b="1">
                <a:solidFill>
                  <a:srgbClr val="FFFFFF"/>
                </a:solidFill>
                <a:latin typeface="Roboto"/>
              </a:rPr>
              <a:t>User Training &amp; Launch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67333" y="4695824"/>
            <a:ext cx="4409964" cy="42862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"/>
              </a:rPr>
              <a:t>Conduct training sessions for admins, barangay reps, and business owners. Distribute user manuals.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152996" y="5353049"/>
            <a:ext cx="5038599" cy="876299"/>
          </a:xfrm>
          <a:prstGeom prst="roundRect">
            <a:avLst>
              <a:gd name="adj" fmla="val 17391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6267293" y="5467349"/>
            <a:ext cx="285742" cy="285750"/>
          </a:xfrm>
          <a:prstGeom prst="roundRect">
            <a:avLst>
              <a:gd name="adj" fmla="val 50000"/>
            </a:avLst>
          </a:prstGeom>
          <a:solidFill>
            <a:srgbClr val="2196F3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267293" y="5467349"/>
            <a:ext cx="285742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2196F3"/>
                </a:solidFill>
                <a:latin typeface="Roboto"/>
              </a:rPr>
              <a:t>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667333" y="5467349"/>
            <a:ext cx="4409964" cy="1809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956" b="1">
                <a:solidFill>
                  <a:srgbClr val="FFFFFF"/>
                </a:solidFill>
                <a:latin typeface="Roboto"/>
              </a:rPr>
              <a:t>Post-Launch Support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667333" y="5686425"/>
            <a:ext cx="4409964" cy="42862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Roboto"/>
              </a:rPr>
              <a:t>30-day support period for bug fixes and adjustments. Establish maintenance schedule for updates.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82885A1-F786-444C-8D3F-070FFEB73079}">
  <we:reference id="wa200000113" version="1.0.0.0" store="en-US" storeType="OMEX"/>
  <we:alternateReferences>
    <we:reference id="WA200000113" version="1.0.0.0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854</Words>
  <Application>Microsoft Office PowerPoint</Application>
  <PresentationFormat>Widescreen</PresentationFormat>
  <Paragraphs>121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Arial</vt:lpstr>
      <vt:lpstr>Calibri</vt:lpstr>
      <vt:lpstr>Montserrat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jem</dc:creator>
  <cp:keywords/>
  <dc:description>generated using python-pptx</dc:description>
  <cp:lastModifiedBy>Jem Carlo Austria</cp:lastModifiedBy>
  <cp:revision>3</cp:revision>
  <dcterms:created xsi:type="dcterms:W3CDTF">2013-01-27T09:14:16Z</dcterms:created>
  <dcterms:modified xsi:type="dcterms:W3CDTF">2026-05-17T21:51:52Z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{"Label":"1","ContentProducer":"001191110108MA01KP2T5U00000","ProduceID":"097cccf0357a5491ed46fdf5526b17e7","ReservedCode1":"","ContentPropagator":"001191110108MA01KP2T5U00000","PropagateID":"097cccf0357a5491ed46fdf5526b17e7","ReservedCode2":""}</vt:lpwstr>
  </property>
</Properties>
</file>