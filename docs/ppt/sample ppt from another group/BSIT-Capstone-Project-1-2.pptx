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92" r:id="rId27"/>
    <p:sldId id="281" r:id="rId28"/>
    <p:sldId id="282" r:id="rId29"/>
    <p:sldId id="283" r:id="rId30"/>
    <p:sldId id="284" r:id="rId31"/>
    <p:sldId id="285" r:id="rId32"/>
    <p:sldId id="286" r:id="rId33"/>
    <p:sldId id="290" r:id="rId34"/>
    <p:sldId id="291" r:id="rId35"/>
    <p:sldId id="289" r:id="rId36"/>
    <p:sldId id="288" r:id="rId37"/>
  </p:sldIdLst>
  <p:sldSz cx="18288000" cy="10287000"/>
  <p:notesSz cx="6858000" cy="9144000"/>
  <p:embeddedFontLst>
    <p:embeddedFont>
      <p:font typeface="ADLaM Display" panose="02010000000000000000" pitchFamily="2" charset="0"/>
      <p:regular r:id="rId38"/>
    </p:embeddedFont>
    <p:embeddedFont>
      <p:font typeface="Bebas Neue" panose="020B0606020202050201" pitchFamily="34" charset="0"/>
      <p:regular r:id="rId39"/>
    </p:embeddedFont>
    <p:embeddedFont>
      <p:font typeface="Glacial Indifference" panose="020B0604020202020204" charset="0"/>
      <p:regular r:id="rId40"/>
    </p:embeddedFont>
    <p:embeddedFont>
      <p:font typeface="Times New Roman Bold" panose="02020803070505020304" pitchFamily="18" charset="0"/>
      <p:regular r:id="rId41"/>
      <p:bold r:id="rId42"/>
    </p:embeddedFont>
    <p:embeddedFont>
      <p:font typeface="Times New Roman MT" panose="020B0604020202020204" charset="0"/>
      <p:regular r:id="rId43"/>
    </p:embeddedFont>
    <p:embeddedFont>
      <p:font typeface="Times New Roman MT Bold" panose="020B0604020202020204" charset="0"/>
      <p:regular r:id="rId44"/>
    </p:embeddedFont>
    <p:embeddedFont>
      <p:font typeface="Times New Roman MT Condensed" panose="020B0604020202020204" charset="0"/>
      <p:regular r:id="rId4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4" d="100"/>
          <a:sy n="44" d="100"/>
        </p:scale>
        <p:origin x="876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2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5.fntdata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3.fntdata"/><Relationship Id="rId45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6.fntdata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1.fntdata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0.jpeg"/><Relationship Id="rId7" Type="http://schemas.microsoft.com/office/2007/relationships/hdphoto" Target="../media/hdphoto1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png"/><Relationship Id="rId11" Type="http://schemas.openxmlformats.org/officeDocument/2006/relationships/image" Target="../media/image17.jpg"/><Relationship Id="rId5" Type="http://schemas.openxmlformats.org/officeDocument/2006/relationships/image" Target="../media/image12.png"/><Relationship Id="rId10" Type="http://schemas.openxmlformats.org/officeDocument/2006/relationships/image" Target="../media/image16.jpeg"/><Relationship Id="rId4" Type="http://schemas.openxmlformats.org/officeDocument/2006/relationships/image" Target="../media/image11.png"/><Relationship Id="rId9" Type="http://schemas.openxmlformats.org/officeDocument/2006/relationships/image" Target="../media/image1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78240" y="-164710"/>
            <a:ext cx="19773900" cy="10287000"/>
          </a:xfrm>
          <a:custGeom>
            <a:avLst/>
            <a:gdLst/>
            <a:ahLst/>
            <a:cxnLst/>
            <a:rect l="l" t="t" r="r" b="b"/>
            <a:pathLst>
              <a:path w="19773900" h="10287000">
                <a:moveTo>
                  <a:pt x="0" y="0"/>
                </a:moveTo>
                <a:lnTo>
                  <a:pt x="19773900" y="0"/>
                </a:lnTo>
                <a:lnTo>
                  <a:pt x="197739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577" t="-10684" r="-9300" b="-40373"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" name="TextBox 3"/>
          <p:cNvSpPr txBox="1"/>
          <p:nvPr/>
        </p:nvSpPr>
        <p:spPr>
          <a:xfrm>
            <a:off x="1423297" y="5838382"/>
            <a:ext cx="4192637" cy="2980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MEMBERS: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NOIME D. TANGIHAN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JAYSOHN M.BANAAG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JESZEL ANNE LAYAOG </a:t>
            </a:r>
          </a:p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JEROME LAYACAN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98541"/>
            <a:ext cx="18288000" cy="10385541"/>
          </a:xfrm>
          <a:custGeom>
            <a:avLst/>
            <a:gdLst/>
            <a:ahLst/>
            <a:cxnLst/>
            <a:rect l="l" t="t" r="r" b="b"/>
            <a:pathLst>
              <a:path w="18288000" h="10385541">
                <a:moveTo>
                  <a:pt x="0" y="0"/>
                </a:moveTo>
                <a:lnTo>
                  <a:pt x="18288000" y="0"/>
                </a:lnTo>
                <a:lnTo>
                  <a:pt x="18288000" y="10385541"/>
                </a:lnTo>
                <a:lnTo>
                  <a:pt x="0" y="103855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696" b="-8696"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" name="TextBox 3"/>
          <p:cNvSpPr txBox="1"/>
          <p:nvPr/>
        </p:nvSpPr>
        <p:spPr>
          <a:xfrm>
            <a:off x="1724184" y="644302"/>
            <a:ext cx="3914616" cy="7653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112"/>
              </a:lnSpc>
            </a:pPr>
            <a:r>
              <a:rPr lang="en-US" sz="4366" dirty="0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rPr>
              <a:t>Project Overview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500068" y="1535594"/>
            <a:ext cx="15287865" cy="5616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85182" lvl="1" indent="-442591">
              <a:lnSpc>
                <a:spcPts val="5739"/>
              </a:lnSpc>
              <a:buFont typeface="Arial"/>
              <a:buChar char="•"/>
            </a:pPr>
            <a:r>
              <a:rPr lang="en-US" sz="40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US" sz="40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web-based information system</a:t>
            </a:r>
            <a:r>
              <a:rPr lang="en-US" sz="40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that consolidates:</a:t>
            </a:r>
          </a:p>
          <a:p>
            <a:pPr marL="1770365" lvl="2" indent="-590122">
              <a:lnSpc>
                <a:spcPts val="5739"/>
              </a:lnSpc>
              <a:buFont typeface="Arial"/>
              <a:buChar char="⚬"/>
            </a:pPr>
            <a:r>
              <a:rPr lang="en-US" sz="40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Tourism destinations (hotels, resorts, restaurants, attractions)</a:t>
            </a:r>
          </a:p>
          <a:p>
            <a:pPr marL="1770365" lvl="2" indent="-590122">
              <a:lnSpc>
                <a:spcPts val="5739"/>
              </a:lnSpc>
              <a:buFont typeface="Arial"/>
              <a:buChar char="⚬"/>
            </a:pPr>
            <a:r>
              <a:rPr lang="en-US" sz="40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Cultural heritage sites (history, stories, location)</a:t>
            </a:r>
          </a:p>
          <a:p>
            <a:pPr marL="1770365" lvl="2" indent="-590122">
              <a:lnSpc>
                <a:spcPts val="5739"/>
              </a:lnSpc>
              <a:buFont typeface="Arial"/>
              <a:buChar char="⚬"/>
            </a:pPr>
            <a:r>
              <a:rPr lang="en-US" sz="40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Interactive map </a:t>
            </a:r>
            <a:r>
              <a:rPr lang="en-US" sz="40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managed by the City Tourism Office</a:t>
            </a:r>
          </a:p>
          <a:p>
            <a:pPr marL="885182" lvl="1" indent="-442591">
              <a:lnSpc>
                <a:spcPts val="5739"/>
              </a:lnSpc>
              <a:buFont typeface="Arial"/>
              <a:buChar char="•"/>
            </a:pPr>
            <a:r>
              <a:rPr lang="en-US" sz="40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Designed to support </a:t>
            </a:r>
            <a:r>
              <a:rPr lang="en-US" sz="40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tourism promotion, public information</a:t>
            </a:r>
            <a:r>
              <a:rPr lang="en-US" sz="40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and </a:t>
            </a:r>
            <a:r>
              <a:rPr lang="en-US" sz="40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data-driven reporting</a:t>
            </a:r>
            <a:r>
              <a:rPr lang="en-US" sz="40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San Carlos City. </a:t>
            </a:r>
          </a:p>
          <a:p>
            <a:pPr algn="ctr">
              <a:lnSpc>
                <a:spcPts val="10360"/>
              </a:lnSpc>
            </a:pPr>
            <a:endParaRPr lang="en-US" sz="4099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98541"/>
            <a:ext cx="18288000" cy="10385541"/>
          </a:xfrm>
          <a:custGeom>
            <a:avLst/>
            <a:gdLst/>
            <a:ahLst/>
            <a:cxnLst/>
            <a:rect l="l" t="t" r="r" b="b"/>
            <a:pathLst>
              <a:path w="18288000" h="10385541">
                <a:moveTo>
                  <a:pt x="0" y="0"/>
                </a:moveTo>
                <a:lnTo>
                  <a:pt x="18288000" y="0"/>
                </a:lnTo>
                <a:lnTo>
                  <a:pt x="18288000" y="10385541"/>
                </a:lnTo>
                <a:lnTo>
                  <a:pt x="0" y="103855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696" b="-8696"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" name="TextBox 3"/>
          <p:cNvSpPr txBox="1"/>
          <p:nvPr/>
        </p:nvSpPr>
        <p:spPr>
          <a:xfrm>
            <a:off x="1414611" y="2111628"/>
            <a:ext cx="15458779" cy="2476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742"/>
              </a:lnSpc>
            </a:pPr>
            <a:r>
              <a:rPr lang="en-US" sz="6244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I. Company Background and Contact Person</a:t>
            </a:r>
          </a:p>
          <a:p>
            <a:pPr algn="ctr">
              <a:lnSpc>
                <a:spcPts val="12186"/>
              </a:lnSpc>
            </a:pPr>
            <a:endParaRPr lang="en-US" sz="6244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98541"/>
            <a:ext cx="18288000" cy="10385541"/>
          </a:xfrm>
          <a:custGeom>
            <a:avLst/>
            <a:gdLst/>
            <a:ahLst/>
            <a:cxnLst/>
            <a:rect l="l" t="t" r="r" b="b"/>
            <a:pathLst>
              <a:path w="18288000" h="10385541">
                <a:moveTo>
                  <a:pt x="0" y="0"/>
                </a:moveTo>
                <a:lnTo>
                  <a:pt x="18288000" y="0"/>
                </a:lnTo>
                <a:lnTo>
                  <a:pt x="18288000" y="10385541"/>
                </a:lnTo>
                <a:lnTo>
                  <a:pt x="0" y="103855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696" b="-8696"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" name="TextBox 3"/>
          <p:cNvSpPr txBox="1"/>
          <p:nvPr/>
        </p:nvSpPr>
        <p:spPr>
          <a:xfrm>
            <a:off x="1624387" y="561881"/>
            <a:ext cx="10007308" cy="5428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3"/>
              </a:lnSpc>
            </a:pPr>
            <a:r>
              <a:rPr lang="en-US" sz="300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Background: Residents of San Carlos City (Different Barangays</a:t>
            </a:r>
            <a:r>
              <a:rPr lang="en-US" sz="3002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816530" y="1425774"/>
            <a:ext cx="14690300" cy="5791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84041" lvl="1" indent="-442020" algn="l">
              <a:lnSpc>
                <a:spcPts val="5732"/>
              </a:lnSpc>
              <a:buFont typeface="Arial"/>
              <a:buChar char="•"/>
            </a:pPr>
            <a:r>
              <a:rPr lang="en-US" sz="409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San Carlos City is a component city in Pangasinan with </a:t>
            </a:r>
            <a:r>
              <a:rPr lang="en-US" sz="4094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86 barangays </a:t>
            </a:r>
            <a:r>
              <a:rPr lang="en-US" sz="409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(30 urban, 56 rural). </a:t>
            </a:r>
          </a:p>
          <a:p>
            <a:pPr marL="884041" lvl="1" indent="-442020" algn="l">
              <a:lnSpc>
                <a:spcPts val="5732"/>
              </a:lnSpc>
              <a:buFont typeface="Arial"/>
              <a:buChar char="•"/>
            </a:pPr>
            <a:r>
              <a:rPr lang="en-US" sz="4094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Population is 205,424 (2020 Census)</a:t>
            </a:r>
            <a:r>
              <a:rPr lang="en-US" sz="409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showing a large community that can benefit from accessible local heritage and tourism information. </a:t>
            </a:r>
          </a:p>
          <a:p>
            <a:pPr marL="884041" lvl="1" indent="-442020" algn="l">
              <a:lnSpc>
                <a:spcPts val="5732"/>
              </a:lnSpc>
              <a:buFont typeface="Arial"/>
              <a:buChar char="•"/>
            </a:pPr>
            <a:r>
              <a:rPr lang="en-US" sz="409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Residents are key partners because many cultural stories, locations, and community events are </a:t>
            </a:r>
            <a:r>
              <a:rPr lang="en-US" sz="4094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locally held/known</a:t>
            </a:r>
            <a:r>
              <a:rPr lang="en-US" sz="409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can be documented and promoted responsibly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98541"/>
            <a:ext cx="18288000" cy="10385541"/>
          </a:xfrm>
          <a:custGeom>
            <a:avLst/>
            <a:gdLst/>
            <a:ahLst/>
            <a:cxnLst/>
            <a:rect l="l" t="t" r="r" b="b"/>
            <a:pathLst>
              <a:path w="18288000" h="10385541">
                <a:moveTo>
                  <a:pt x="0" y="0"/>
                </a:moveTo>
                <a:lnTo>
                  <a:pt x="18288000" y="0"/>
                </a:lnTo>
                <a:lnTo>
                  <a:pt x="18288000" y="10385541"/>
                </a:lnTo>
                <a:lnTo>
                  <a:pt x="0" y="103855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696" b="-8696"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" name="TextBox 3"/>
          <p:cNvSpPr txBox="1"/>
          <p:nvPr/>
        </p:nvSpPr>
        <p:spPr>
          <a:xfrm>
            <a:off x="837505" y="340916"/>
            <a:ext cx="11493469" cy="12803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31"/>
              </a:lnSpc>
            </a:pPr>
            <a:r>
              <a:rPr lang="en-US" sz="359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Background: San Carlos City Local Tourism Office</a:t>
            </a:r>
          </a:p>
          <a:p>
            <a:pPr algn="ctr">
              <a:lnSpc>
                <a:spcPts val="5031"/>
              </a:lnSpc>
            </a:pPr>
            <a:endParaRPr lang="en-US" sz="3593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2107034" y="1028030"/>
            <a:ext cx="13634364" cy="8110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99791" lvl="1" indent="-499896" algn="just">
              <a:lnSpc>
                <a:spcPts val="6483"/>
              </a:lnSpc>
              <a:buFont typeface="Arial"/>
              <a:buChar char="•"/>
            </a:pPr>
            <a:r>
              <a:rPr lang="en-US" sz="463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City Tourism Office is part of the city government structure and is responsible for local tourism promotion, coordination, and information support. </a:t>
            </a:r>
          </a:p>
          <a:p>
            <a:pPr marL="1189809" lvl="1" indent="-594904" algn="just">
              <a:lnSpc>
                <a:spcPts val="7715"/>
              </a:lnSpc>
              <a:buFont typeface="Arial"/>
              <a:buChar char="•"/>
            </a:pPr>
            <a:r>
              <a:rPr lang="en-US" sz="551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city positions itself toward being an </a:t>
            </a:r>
            <a:r>
              <a:rPr lang="en-US" sz="551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Agro-Industrial, Education and Tourism Center</a:t>
            </a:r>
            <a:r>
              <a:rPr lang="en-US" sz="551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strengthening the need for organized tourism information systems</a:t>
            </a:r>
            <a:r>
              <a:rPr lang="en-US" sz="551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. </a:t>
            </a:r>
          </a:p>
          <a:p>
            <a:pPr algn="ctr">
              <a:lnSpc>
                <a:spcPts val="7715"/>
              </a:lnSpc>
            </a:pPr>
            <a:endParaRPr lang="en-US" sz="5510" b="1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98541"/>
            <a:ext cx="18288000" cy="10385541"/>
          </a:xfrm>
          <a:custGeom>
            <a:avLst/>
            <a:gdLst/>
            <a:ahLst/>
            <a:cxnLst/>
            <a:rect l="l" t="t" r="r" b="b"/>
            <a:pathLst>
              <a:path w="18288000" h="10385541">
                <a:moveTo>
                  <a:pt x="0" y="0"/>
                </a:moveTo>
                <a:lnTo>
                  <a:pt x="18288000" y="0"/>
                </a:lnTo>
                <a:lnTo>
                  <a:pt x="18288000" y="10385541"/>
                </a:lnTo>
                <a:lnTo>
                  <a:pt x="0" y="103855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696" b="-8696"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" name="TextBox 3"/>
          <p:cNvSpPr txBox="1"/>
          <p:nvPr/>
        </p:nvSpPr>
        <p:spPr>
          <a:xfrm>
            <a:off x="1577145" y="594083"/>
            <a:ext cx="7981205" cy="1227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33"/>
              </a:lnSpc>
            </a:pPr>
            <a:r>
              <a:rPr lang="en-US" sz="380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Contact Person (Tourism Office Head)</a:t>
            </a:r>
          </a:p>
          <a:p>
            <a:pPr algn="ctr">
              <a:lnSpc>
                <a:spcPts val="4213"/>
              </a:lnSpc>
            </a:pPr>
            <a:endParaRPr lang="en-US" sz="380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933777" y="1707637"/>
            <a:ext cx="13794203" cy="5895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44100" lvl="1" indent="-522050" algn="just">
              <a:lnSpc>
                <a:spcPts val="6770"/>
              </a:lnSpc>
              <a:buFont typeface="Arial"/>
              <a:buChar char="•"/>
            </a:pPr>
            <a:r>
              <a:rPr lang="en-US" sz="4836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Ms. Ruby DG. Ballesteros</a:t>
            </a:r>
          </a:p>
          <a:p>
            <a:pPr marL="2088201" lvl="2" indent="-696067" algn="just">
              <a:lnSpc>
                <a:spcPts val="6770"/>
              </a:lnSpc>
              <a:buFont typeface="Arial"/>
              <a:buChar char="⚬"/>
            </a:pPr>
            <a:r>
              <a:rPr lang="en-US" sz="4836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Tourism Officer Designate</a:t>
            </a:r>
            <a:r>
              <a:rPr lang="en-US" sz="483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San Carlos City, Pangasinan </a:t>
            </a:r>
          </a:p>
          <a:p>
            <a:pPr marL="1044100" lvl="1" indent="-522050" algn="just">
              <a:lnSpc>
                <a:spcPts val="6770"/>
              </a:lnSpc>
              <a:buFont typeface="Arial"/>
              <a:buChar char="•"/>
            </a:pPr>
            <a:r>
              <a:rPr lang="en-US" sz="483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Office coordination point for validation, approvals, and official publishing of tourism/cultural information.</a:t>
            </a:r>
          </a:p>
          <a:p>
            <a:pPr algn="ctr">
              <a:lnSpc>
                <a:spcPts val="5930"/>
              </a:lnSpc>
            </a:pPr>
            <a:endParaRPr lang="en-US" sz="4836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98541"/>
            <a:ext cx="18288000" cy="10385541"/>
          </a:xfrm>
          <a:custGeom>
            <a:avLst/>
            <a:gdLst/>
            <a:ahLst/>
            <a:cxnLst/>
            <a:rect l="l" t="t" r="r" b="b"/>
            <a:pathLst>
              <a:path w="18288000" h="10385541">
                <a:moveTo>
                  <a:pt x="0" y="0"/>
                </a:moveTo>
                <a:lnTo>
                  <a:pt x="18288000" y="0"/>
                </a:lnTo>
                <a:lnTo>
                  <a:pt x="18288000" y="10385541"/>
                </a:lnTo>
                <a:lnTo>
                  <a:pt x="0" y="103855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696" b="-8696"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" name="TextBox 3"/>
          <p:cNvSpPr txBox="1"/>
          <p:nvPr/>
        </p:nvSpPr>
        <p:spPr>
          <a:xfrm>
            <a:off x="1940862" y="647700"/>
            <a:ext cx="7050737" cy="6588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Background: Tourists / Visitors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497823" y="1528114"/>
            <a:ext cx="15292355" cy="7008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69458" lvl="1" indent="-534729" algn="l">
              <a:lnSpc>
                <a:spcPts val="6934"/>
              </a:lnSpc>
              <a:buFont typeface="Arial"/>
              <a:buChar char="•"/>
            </a:pPr>
            <a:r>
              <a:rPr lang="en-US" sz="495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Tourists need </a:t>
            </a:r>
            <a:r>
              <a:rPr lang="en-US" sz="4953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reliable, complete, and official</a:t>
            </a:r>
            <a:r>
              <a:rPr lang="en-US" sz="495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information on:</a:t>
            </a:r>
          </a:p>
          <a:p>
            <a:pPr marL="2138916" lvl="2" indent="-712972" algn="l">
              <a:lnSpc>
                <a:spcPts val="6934"/>
              </a:lnSpc>
              <a:buFont typeface="Arial"/>
              <a:buChar char="⚬"/>
            </a:pPr>
            <a:r>
              <a:rPr lang="en-US" sz="495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attractions, routes, operating hours, contacts</a:t>
            </a:r>
          </a:p>
          <a:p>
            <a:pPr marL="2138916" lvl="2" indent="-712972" algn="l">
              <a:lnSpc>
                <a:spcPts val="6934"/>
              </a:lnSpc>
              <a:buFont typeface="Arial"/>
              <a:buChar char="⚬"/>
            </a:pPr>
            <a:r>
              <a:rPr lang="en-US" sz="495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cultural heritage narratives and site locations</a:t>
            </a:r>
          </a:p>
          <a:p>
            <a:pPr marL="1069458" lvl="1" indent="-534729" algn="l">
              <a:lnSpc>
                <a:spcPts val="6934"/>
              </a:lnSpc>
              <a:buFont typeface="Arial"/>
              <a:buChar char="•"/>
            </a:pPr>
            <a:r>
              <a:rPr lang="en-US" sz="495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curated city-managed platform reduces confusion from inconsistent online posts and incomplete map entries.</a:t>
            </a:r>
          </a:p>
          <a:p>
            <a:pPr algn="l">
              <a:lnSpc>
                <a:spcPts val="6934"/>
              </a:lnSpc>
            </a:pPr>
            <a:endParaRPr lang="en-US" sz="4953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98541"/>
            <a:ext cx="18288000" cy="10385541"/>
          </a:xfrm>
          <a:custGeom>
            <a:avLst/>
            <a:gdLst/>
            <a:ahLst/>
            <a:cxnLst/>
            <a:rect l="l" t="t" r="r" b="b"/>
            <a:pathLst>
              <a:path w="18288000" h="10385541">
                <a:moveTo>
                  <a:pt x="0" y="0"/>
                </a:moveTo>
                <a:lnTo>
                  <a:pt x="18288000" y="0"/>
                </a:lnTo>
                <a:lnTo>
                  <a:pt x="18288000" y="10385541"/>
                </a:lnTo>
                <a:lnTo>
                  <a:pt x="0" y="103855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696" b="-8696"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" name="TextBox 3"/>
          <p:cNvSpPr txBox="1"/>
          <p:nvPr/>
        </p:nvSpPr>
        <p:spPr>
          <a:xfrm>
            <a:off x="2322761" y="2848610"/>
            <a:ext cx="13642479" cy="2294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639"/>
              </a:lnSpc>
            </a:pPr>
            <a:r>
              <a:rPr lang="en-US" sz="75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II. Issues and Challenges Identified</a:t>
            </a:r>
          </a:p>
          <a:p>
            <a:pPr algn="ctr">
              <a:lnSpc>
                <a:spcPts val="7279"/>
              </a:lnSpc>
            </a:pPr>
            <a:endParaRPr lang="en-US" sz="759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98541"/>
            <a:ext cx="18288000" cy="10385541"/>
          </a:xfrm>
          <a:custGeom>
            <a:avLst/>
            <a:gdLst/>
            <a:ahLst/>
            <a:cxnLst/>
            <a:rect l="l" t="t" r="r" b="b"/>
            <a:pathLst>
              <a:path w="18288000" h="10385541">
                <a:moveTo>
                  <a:pt x="0" y="0"/>
                </a:moveTo>
                <a:lnTo>
                  <a:pt x="18288000" y="0"/>
                </a:lnTo>
                <a:lnTo>
                  <a:pt x="18288000" y="10385541"/>
                </a:lnTo>
                <a:lnTo>
                  <a:pt x="0" y="103855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696" b="-8696"/>
            </a:stretch>
          </a:blipFill>
        </p:spPr>
        <p:txBody>
          <a:bodyPr/>
          <a:lstStyle/>
          <a:p>
            <a:endParaRPr lang="en-PH" dirty="0"/>
          </a:p>
        </p:txBody>
      </p:sp>
      <p:sp>
        <p:nvSpPr>
          <p:cNvPr id="3" name="TextBox 3"/>
          <p:cNvSpPr txBox="1"/>
          <p:nvPr/>
        </p:nvSpPr>
        <p:spPr>
          <a:xfrm>
            <a:off x="1599489" y="278524"/>
            <a:ext cx="5639511" cy="13955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03"/>
              </a:lnSpc>
            </a:pPr>
            <a:r>
              <a:rPr lang="en-US" sz="3931" dirty="0">
                <a:solidFill>
                  <a:srgbClr val="0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imes New Roman"/>
              </a:rPr>
              <a:t>Current Issues </a:t>
            </a:r>
            <a:endParaRPr lang="en-US" sz="3931" b="1" dirty="0">
              <a:solidFill>
                <a:srgbClr val="00000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  <a:sym typeface="Times New Roman Bold"/>
            </a:endParaRPr>
          </a:p>
          <a:p>
            <a:pPr algn="ctr">
              <a:lnSpc>
                <a:spcPts val="5503"/>
              </a:lnSpc>
            </a:pPr>
            <a:endParaRPr lang="en-US" sz="3931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636661" y="1180963"/>
            <a:ext cx="15014677" cy="71883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73349" lvl="1" indent="-336674" algn="l">
              <a:lnSpc>
                <a:spcPts val="4366"/>
              </a:lnSpc>
              <a:buFont typeface="Arial"/>
              <a:buChar char="•"/>
            </a:pPr>
            <a:r>
              <a:rPr lang="en-US" sz="3118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Tourism info not readily available</a:t>
            </a:r>
            <a:r>
              <a:rPr lang="en-US" sz="311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hotels, resorts, restaurants, attractions are scattered across posts/pages; difficult to verify/update.</a:t>
            </a:r>
          </a:p>
          <a:p>
            <a:pPr marL="673349" lvl="1" indent="-336674" algn="l">
              <a:lnSpc>
                <a:spcPts val="4366"/>
              </a:lnSpc>
              <a:buFont typeface="Arial"/>
              <a:buChar char="•"/>
            </a:pPr>
            <a:r>
              <a:rPr lang="en-US" sz="3118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Cultural heritage info not readily available</a:t>
            </a:r>
            <a:r>
              <a:rPr lang="en-US" sz="311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residents and visitors have limited access to consolidated local history and cultural site context. </a:t>
            </a:r>
          </a:p>
          <a:p>
            <a:pPr marL="673349" lvl="1" indent="-336674" algn="l">
              <a:lnSpc>
                <a:spcPts val="4366"/>
              </a:lnSpc>
              <a:buFont typeface="Arial"/>
              <a:buChar char="•"/>
            </a:pPr>
            <a:r>
              <a:rPr lang="en-US" sz="3118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Google Map entries are incomplete/inconsistent</a:t>
            </a:r>
            <a:r>
              <a:rPr lang="en-US" sz="311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user-generated pins may be missing, duplicated, or outdated; no centralized local management.</a:t>
            </a:r>
          </a:p>
          <a:p>
            <a:pPr marL="673349" lvl="1" indent="-336674" algn="l">
              <a:lnSpc>
                <a:spcPts val="4366"/>
              </a:lnSpc>
              <a:buFont typeface="Arial"/>
              <a:buChar char="•"/>
            </a:pPr>
            <a:r>
              <a:rPr lang="en-US" sz="3118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Tourism and culture are not formally promoted in one official hub</a:t>
            </a:r>
            <a:r>
              <a:rPr lang="en-US" sz="311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promotion is fragmented across different channels. </a:t>
            </a:r>
          </a:p>
          <a:p>
            <a:pPr marL="673349" lvl="1" indent="-336674" algn="l">
              <a:lnSpc>
                <a:spcPts val="4366"/>
              </a:lnSpc>
              <a:buFont typeface="Arial"/>
              <a:buChar char="•"/>
            </a:pPr>
            <a:r>
              <a:rPr lang="en-US" sz="3118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Manual data collection and reporting</a:t>
            </a:r>
            <a:r>
              <a:rPr lang="en-US" sz="311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registrations and summaries are often manual, limiting analytics and timely decisions.</a:t>
            </a:r>
          </a:p>
          <a:p>
            <a:pPr marL="673349" lvl="1" indent="-336674" algn="l">
              <a:lnSpc>
                <a:spcPts val="4366"/>
              </a:lnSpc>
              <a:buFont typeface="Arial"/>
              <a:buChar char="•"/>
            </a:pPr>
            <a:r>
              <a:rPr lang="en-US" sz="3118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No standard process for validation:</a:t>
            </a:r>
            <a:r>
              <a:rPr lang="en-US" sz="311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difficulty confirming legitimacy/accuracy of destination details and cultural narratives before publication.</a:t>
            </a:r>
          </a:p>
          <a:p>
            <a:pPr algn="ctr">
              <a:lnSpc>
                <a:spcPts val="4366"/>
              </a:lnSpc>
            </a:pPr>
            <a:endParaRPr lang="en-US" sz="3118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98541"/>
            <a:ext cx="18288000" cy="10385541"/>
          </a:xfrm>
          <a:custGeom>
            <a:avLst/>
            <a:gdLst/>
            <a:ahLst/>
            <a:cxnLst/>
            <a:rect l="l" t="t" r="r" b="b"/>
            <a:pathLst>
              <a:path w="18288000" h="10385541">
                <a:moveTo>
                  <a:pt x="0" y="0"/>
                </a:moveTo>
                <a:lnTo>
                  <a:pt x="18288000" y="0"/>
                </a:lnTo>
                <a:lnTo>
                  <a:pt x="18288000" y="10385541"/>
                </a:lnTo>
                <a:lnTo>
                  <a:pt x="0" y="103855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696" b="-8696"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" name="TextBox 3"/>
          <p:cNvSpPr txBox="1"/>
          <p:nvPr/>
        </p:nvSpPr>
        <p:spPr>
          <a:xfrm>
            <a:off x="2078636" y="2126475"/>
            <a:ext cx="14130728" cy="41367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039"/>
              </a:lnSpc>
            </a:pPr>
            <a:r>
              <a:rPr lang="en-US" sz="7885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III. Main Objective / Purpose of the Computing Solution</a:t>
            </a:r>
          </a:p>
          <a:p>
            <a:pPr algn="ctr">
              <a:lnSpc>
                <a:spcPts val="9639"/>
              </a:lnSpc>
            </a:pPr>
            <a:endParaRPr lang="en-US" sz="7885">
              <a:solidFill>
                <a:srgbClr val="00000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98541"/>
            <a:ext cx="18288000" cy="10385541"/>
          </a:xfrm>
          <a:custGeom>
            <a:avLst/>
            <a:gdLst/>
            <a:ahLst/>
            <a:cxnLst/>
            <a:rect l="l" t="t" r="r" b="b"/>
            <a:pathLst>
              <a:path w="18288000" h="10385541">
                <a:moveTo>
                  <a:pt x="0" y="0"/>
                </a:moveTo>
                <a:lnTo>
                  <a:pt x="18288000" y="0"/>
                </a:lnTo>
                <a:lnTo>
                  <a:pt x="18288000" y="10385541"/>
                </a:lnTo>
                <a:lnTo>
                  <a:pt x="0" y="103855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696" b="-8696"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" name="TextBox 3"/>
          <p:cNvSpPr txBox="1"/>
          <p:nvPr/>
        </p:nvSpPr>
        <p:spPr>
          <a:xfrm>
            <a:off x="1837126" y="515938"/>
            <a:ext cx="5554273" cy="8235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General Objective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1334252"/>
            <a:ext cx="15336431" cy="73468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269035" lvl="1" indent="-634518" algn="just">
              <a:lnSpc>
                <a:spcPts val="8229"/>
              </a:lnSpc>
              <a:buFont typeface="Arial"/>
              <a:buChar char="•"/>
            </a:pPr>
            <a:r>
              <a:rPr lang="en-US" sz="5877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To develop a </a:t>
            </a:r>
            <a:r>
              <a:rPr lang="en-US" sz="5877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web-based interactive digital cultural map and tourism information system </a:t>
            </a:r>
            <a:r>
              <a:rPr lang="en-US" sz="5877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for San Carlos City that centralizes, verifies, and publishes tourism and cultural heritage information for residents, tourists, and the City Tourism Office.</a:t>
            </a:r>
          </a:p>
          <a:p>
            <a:pPr algn="ctr">
              <a:lnSpc>
                <a:spcPts val="8229"/>
              </a:lnSpc>
            </a:pPr>
            <a:endParaRPr lang="en-US" sz="5877">
              <a:solidFill>
                <a:srgbClr val="00000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98541"/>
            <a:ext cx="18288000" cy="10385541"/>
          </a:xfrm>
          <a:custGeom>
            <a:avLst/>
            <a:gdLst/>
            <a:ahLst/>
            <a:cxnLst/>
            <a:rect l="l" t="t" r="r" b="b"/>
            <a:pathLst>
              <a:path w="18288000" h="10385541">
                <a:moveTo>
                  <a:pt x="0" y="0"/>
                </a:moveTo>
                <a:lnTo>
                  <a:pt x="18288000" y="0"/>
                </a:lnTo>
                <a:lnTo>
                  <a:pt x="18288000" y="10385541"/>
                </a:lnTo>
                <a:lnTo>
                  <a:pt x="0" y="103855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696" b="-8696"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" name="TextBox 3"/>
          <p:cNvSpPr txBox="1"/>
          <p:nvPr/>
        </p:nvSpPr>
        <p:spPr>
          <a:xfrm>
            <a:off x="1769836" y="475304"/>
            <a:ext cx="5773963" cy="8186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720"/>
              </a:lnSpc>
            </a:pPr>
            <a:r>
              <a:rPr lang="en-US" sz="4800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Specific Objectives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399269" y="1680094"/>
            <a:ext cx="15059197" cy="69201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67267" lvl="1" indent="-383634" algn="just">
              <a:lnSpc>
                <a:spcPts val="4975"/>
              </a:lnSpc>
              <a:buFont typeface="Arial"/>
              <a:buChar char="•"/>
            </a:pPr>
            <a:r>
              <a:rPr lang="en-US" sz="3553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Support tourism and cultural promotion</a:t>
            </a:r>
            <a:r>
              <a:rPr lang="en-US" sz="3553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through an official, accessible platform aligned with the city’s tourism direction. </a:t>
            </a:r>
          </a:p>
          <a:p>
            <a:pPr marL="767267" lvl="1" indent="-383634" algn="just">
              <a:lnSpc>
                <a:spcPts val="4975"/>
              </a:lnSpc>
              <a:buFont typeface="Arial"/>
              <a:buChar char="•"/>
            </a:pPr>
            <a:r>
              <a:rPr lang="en-US" sz="3553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Help tourists and residents </a:t>
            </a:r>
            <a:r>
              <a:rPr lang="en-US" sz="3553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search and contact</a:t>
            </a:r>
            <a:r>
              <a:rPr lang="en-US" sz="3553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local establishments (hotels, resorts, restaurants, attractions) using verified details.</a:t>
            </a:r>
          </a:p>
          <a:p>
            <a:pPr marL="767267" lvl="1" indent="-383634" algn="just">
              <a:lnSpc>
                <a:spcPts val="4975"/>
              </a:lnSpc>
              <a:buFont typeface="Arial"/>
              <a:buChar char="•"/>
            </a:pPr>
            <a:r>
              <a:rPr lang="en-US" sz="3553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 a</a:t>
            </a:r>
            <a:r>
              <a:rPr lang="en-US" sz="3553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managed interactive map</a:t>
            </a:r>
            <a:r>
              <a:rPr lang="en-US" sz="3553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featuring tourist destinations and cultural sites (with categories, filters, and accurate pins).</a:t>
            </a:r>
          </a:p>
          <a:p>
            <a:pPr marL="767267" lvl="1" indent="-383634" algn="just">
              <a:lnSpc>
                <a:spcPts val="4975"/>
              </a:lnSpc>
              <a:buFont typeface="Arial"/>
              <a:buChar char="•"/>
            </a:pPr>
            <a:r>
              <a:rPr lang="en-US" sz="3553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Increase awareness of the city’s culture and identity (e.g., local heritage narratives and festivals such as the</a:t>
            </a:r>
            <a:r>
              <a:rPr lang="en-US" sz="3553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Mango-Bamboo Festiva</a:t>
            </a:r>
            <a:r>
              <a:rPr lang="en-US" sz="3553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l). </a:t>
            </a:r>
          </a:p>
          <a:p>
            <a:pPr marL="767267" lvl="1" indent="-383634" algn="just">
              <a:lnSpc>
                <a:spcPts val="4975"/>
              </a:lnSpc>
              <a:buFont typeface="Arial"/>
              <a:buChar char="•"/>
            </a:pPr>
            <a:r>
              <a:rPr lang="en-US" sz="3553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Enable the Tourism Office to</a:t>
            </a:r>
            <a:r>
              <a:rPr lang="en-US" sz="3553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publish articles/announcements</a:t>
            </a:r>
            <a:r>
              <a:rPr lang="en-US" sz="3553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generate </a:t>
            </a:r>
            <a:r>
              <a:rPr lang="en-US" sz="3553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reports</a:t>
            </a:r>
            <a:r>
              <a:rPr lang="en-US" sz="3553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(registrations, listings, trends).</a:t>
            </a:r>
          </a:p>
          <a:p>
            <a:pPr algn="ctr">
              <a:lnSpc>
                <a:spcPts val="4975"/>
              </a:lnSpc>
            </a:pPr>
            <a:endParaRPr lang="en-US" sz="3553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98541"/>
            <a:ext cx="18288000" cy="10385541"/>
          </a:xfrm>
          <a:custGeom>
            <a:avLst/>
            <a:gdLst/>
            <a:ahLst/>
            <a:cxnLst/>
            <a:rect l="l" t="t" r="r" b="b"/>
            <a:pathLst>
              <a:path w="18288000" h="10385541">
                <a:moveTo>
                  <a:pt x="0" y="0"/>
                </a:moveTo>
                <a:lnTo>
                  <a:pt x="18288000" y="0"/>
                </a:lnTo>
                <a:lnTo>
                  <a:pt x="18288000" y="10385541"/>
                </a:lnTo>
                <a:lnTo>
                  <a:pt x="0" y="103855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696" b="-8696"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" name="TextBox 3"/>
          <p:cNvSpPr txBox="1"/>
          <p:nvPr/>
        </p:nvSpPr>
        <p:spPr>
          <a:xfrm>
            <a:off x="1366333" y="2804155"/>
            <a:ext cx="15555335" cy="2548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94"/>
              </a:lnSpc>
            </a:pPr>
            <a:r>
              <a:rPr lang="en-US" sz="6924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IV. Scope of the System / Computing Solution</a:t>
            </a:r>
          </a:p>
          <a:p>
            <a:pPr algn="ctr">
              <a:lnSpc>
                <a:spcPts val="9694"/>
              </a:lnSpc>
            </a:pPr>
            <a:endParaRPr lang="en-US" sz="6924">
              <a:solidFill>
                <a:srgbClr val="000000"/>
              </a:solidFill>
              <a:latin typeface="Times New Roman MT Condensed"/>
              <a:ea typeface="Times New Roman MT Condensed"/>
              <a:cs typeface="Times New Roman MT Condensed"/>
              <a:sym typeface="Times New Roman MT Condense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385541"/>
          </a:xfrm>
          <a:custGeom>
            <a:avLst/>
            <a:gdLst/>
            <a:ahLst/>
            <a:cxnLst/>
            <a:rect l="l" t="t" r="r" b="b"/>
            <a:pathLst>
              <a:path w="18288000" h="10385541">
                <a:moveTo>
                  <a:pt x="0" y="0"/>
                </a:moveTo>
                <a:lnTo>
                  <a:pt x="18288000" y="0"/>
                </a:lnTo>
                <a:lnTo>
                  <a:pt x="18288000" y="10385541"/>
                </a:lnTo>
                <a:lnTo>
                  <a:pt x="0" y="103855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696" b="-8696"/>
            </a:stretch>
          </a:blipFill>
        </p:spPr>
        <p:txBody>
          <a:bodyPr/>
          <a:lstStyle/>
          <a:p>
            <a:endParaRPr lang="en-PH" dirty="0"/>
          </a:p>
        </p:txBody>
      </p:sp>
      <p:sp>
        <p:nvSpPr>
          <p:cNvPr id="3" name="TextBox 3"/>
          <p:cNvSpPr txBox="1"/>
          <p:nvPr/>
        </p:nvSpPr>
        <p:spPr>
          <a:xfrm>
            <a:off x="1750744" y="178821"/>
            <a:ext cx="3811856" cy="7883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706"/>
              </a:lnSpc>
            </a:pPr>
            <a:r>
              <a:rPr lang="en-US" sz="479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Scope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750744" y="1091796"/>
            <a:ext cx="15966985" cy="80272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2425" lvl="1" indent="-331213" algn="l">
              <a:lnSpc>
                <a:spcPts val="4295"/>
              </a:lnSpc>
              <a:buFont typeface="Arial"/>
              <a:buChar char="•"/>
            </a:pPr>
            <a:r>
              <a:rPr lang="en-US" sz="3068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Tourism Destinations &amp; Establishments Management</a:t>
            </a:r>
          </a:p>
          <a:p>
            <a:pPr marL="1324851" lvl="2" indent="-441617" algn="l">
              <a:lnSpc>
                <a:spcPts val="4295"/>
              </a:lnSpc>
              <a:buFont typeface="Arial"/>
              <a:buChar char="⚬"/>
            </a:pPr>
            <a:r>
              <a:rPr lang="en-US" sz="306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details, contacts, images, categories, status, map coordinates</a:t>
            </a:r>
          </a:p>
          <a:p>
            <a:pPr marL="662425" lvl="1" indent="-331213" algn="l">
              <a:lnSpc>
                <a:spcPts val="4295"/>
              </a:lnSpc>
              <a:buFont typeface="Arial"/>
              <a:buChar char="•"/>
            </a:pPr>
            <a:r>
              <a:rPr lang="en-US" sz="3068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Cultural Sites Management</a:t>
            </a:r>
          </a:p>
          <a:p>
            <a:pPr marL="1324851" lvl="2" indent="-441617" algn="l">
              <a:lnSpc>
                <a:spcPts val="4295"/>
              </a:lnSpc>
              <a:buFont typeface="Arial"/>
              <a:buChar char="⚬"/>
            </a:pPr>
            <a:r>
              <a:rPr lang="en-US" sz="306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history/description, images, coordinates, cultural tags</a:t>
            </a:r>
          </a:p>
          <a:p>
            <a:pPr marL="662425" lvl="1" indent="-331213" algn="l">
              <a:lnSpc>
                <a:spcPts val="4295"/>
              </a:lnSpc>
              <a:buFont typeface="Arial"/>
              <a:buChar char="•"/>
            </a:pPr>
            <a:r>
              <a:rPr lang="en-US" sz="3068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Interactive Map Module (Manageable)</a:t>
            </a:r>
          </a:p>
          <a:p>
            <a:pPr marL="1324851" lvl="2" indent="-441617" algn="l">
              <a:lnSpc>
                <a:spcPts val="4295"/>
              </a:lnSpc>
              <a:buFont typeface="Arial"/>
              <a:buChar char="⚬"/>
            </a:pPr>
            <a:r>
              <a:rPr lang="en-US" sz="306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view layers (tourism vs culture), filters, pinned locations, link to details</a:t>
            </a:r>
          </a:p>
          <a:p>
            <a:pPr marL="662425" lvl="1" indent="-331213" algn="l">
              <a:lnSpc>
                <a:spcPts val="4295"/>
              </a:lnSpc>
              <a:buFont typeface="Arial"/>
              <a:buChar char="•"/>
            </a:pPr>
            <a:r>
              <a:rPr lang="en-US" sz="3068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Search &amp; Discovery (Tourist/Resident)</a:t>
            </a:r>
          </a:p>
          <a:p>
            <a:pPr marL="1324851" lvl="2" indent="-441617" algn="l">
              <a:lnSpc>
                <a:spcPts val="4295"/>
              </a:lnSpc>
              <a:buFont typeface="Arial"/>
              <a:buChar char="⚬"/>
            </a:pPr>
            <a:r>
              <a:rPr lang="en-US" sz="306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keyword search, category filters, “near me” (optional), map-based search</a:t>
            </a:r>
          </a:p>
          <a:p>
            <a:pPr marL="662425" lvl="1" indent="-331213" algn="l">
              <a:lnSpc>
                <a:spcPts val="4295"/>
              </a:lnSpc>
              <a:buFont typeface="Arial"/>
              <a:buChar char="•"/>
            </a:pPr>
            <a:r>
              <a:rPr lang="en-US" sz="3068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Articles / Tourism &amp; Culture Publishing</a:t>
            </a:r>
          </a:p>
          <a:p>
            <a:pPr marL="1324851" lvl="2" indent="-441617" algn="l">
              <a:lnSpc>
                <a:spcPts val="4295"/>
              </a:lnSpc>
              <a:buFont typeface="Arial"/>
              <a:buChar char="⚬"/>
            </a:pPr>
            <a:r>
              <a:rPr lang="en-US" sz="306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facts, activities, programs, events (office-approved publishing)</a:t>
            </a:r>
          </a:p>
          <a:p>
            <a:pPr marL="662425" lvl="1" indent="-331213" algn="l">
              <a:lnSpc>
                <a:spcPts val="4295"/>
              </a:lnSpc>
              <a:buFont typeface="Arial"/>
              <a:buChar char="•"/>
            </a:pPr>
            <a:r>
              <a:rPr lang="en-US" sz="3068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Tourist Registration</a:t>
            </a:r>
          </a:p>
          <a:p>
            <a:pPr marL="1324851" lvl="2" indent="-441617" algn="l">
              <a:lnSpc>
                <a:spcPts val="4295"/>
              </a:lnSpc>
              <a:buFont typeface="Arial"/>
              <a:buChar char="⚬"/>
            </a:pPr>
            <a:r>
              <a:rPr lang="en-US" sz="306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online registration, visit details, purpose; viewable for tourism assistance</a:t>
            </a:r>
          </a:p>
          <a:p>
            <a:pPr marL="662425" lvl="1" indent="-331213" algn="l">
              <a:lnSpc>
                <a:spcPts val="4295"/>
              </a:lnSpc>
              <a:buFont typeface="Arial"/>
              <a:buChar char="•"/>
            </a:pPr>
            <a:r>
              <a:rPr lang="en-US" sz="3068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Reports (Admin/Staff)</a:t>
            </a:r>
          </a:p>
          <a:p>
            <a:pPr marL="1324851" lvl="2" indent="-441617" algn="l">
              <a:lnSpc>
                <a:spcPts val="4295"/>
              </a:lnSpc>
              <a:buFont typeface="Arial"/>
              <a:buChar char="⚬"/>
            </a:pPr>
            <a:r>
              <a:rPr lang="en-US" sz="306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printable lists/summary reports for destinations, sites, and registrations</a:t>
            </a:r>
          </a:p>
          <a:p>
            <a:pPr algn="ctr">
              <a:lnSpc>
                <a:spcPts val="3315"/>
              </a:lnSpc>
            </a:pPr>
            <a:endParaRPr lang="en-US" sz="3068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98541"/>
            <a:ext cx="18288000" cy="10385541"/>
          </a:xfrm>
          <a:custGeom>
            <a:avLst/>
            <a:gdLst/>
            <a:ahLst/>
            <a:cxnLst/>
            <a:rect l="l" t="t" r="r" b="b"/>
            <a:pathLst>
              <a:path w="18288000" h="10385541">
                <a:moveTo>
                  <a:pt x="0" y="0"/>
                </a:moveTo>
                <a:lnTo>
                  <a:pt x="18288000" y="0"/>
                </a:lnTo>
                <a:lnTo>
                  <a:pt x="18288000" y="10385541"/>
                </a:lnTo>
                <a:lnTo>
                  <a:pt x="0" y="103855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696" b="-8696"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" name="TextBox 3"/>
          <p:cNvSpPr txBox="1"/>
          <p:nvPr/>
        </p:nvSpPr>
        <p:spPr>
          <a:xfrm>
            <a:off x="1716855" y="586935"/>
            <a:ext cx="5445945" cy="7467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495"/>
              </a:lnSpc>
            </a:pPr>
            <a:r>
              <a:rPr lang="en-US" sz="6000" b="1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Out of Scope </a:t>
            </a:r>
            <a:endParaRPr lang="en-US" sz="6000" b="1" dirty="0">
              <a:solidFill>
                <a:srgbClr val="000000"/>
              </a:solidFill>
              <a:latin typeface="Times New Roman MT Bold"/>
              <a:ea typeface="Times New Roman MT Bold"/>
              <a:cs typeface="Times New Roman MT Bold"/>
              <a:sym typeface="Times New Roman MT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066800" y="2004849"/>
            <a:ext cx="15357032" cy="43700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337802" lvl="1" indent="-668901" algn="just">
              <a:lnSpc>
                <a:spcPts val="8674"/>
              </a:lnSpc>
              <a:buFont typeface="Arial"/>
              <a:buChar char="•"/>
            </a:pPr>
            <a:r>
              <a:rPr lang="en-US" sz="4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Online booking and payment processing (future enhancement)</a:t>
            </a:r>
          </a:p>
          <a:p>
            <a:pPr marL="1337802" lvl="1" indent="-668901" algn="just">
              <a:lnSpc>
                <a:spcPts val="8674"/>
              </a:lnSpc>
              <a:buFont typeface="Arial"/>
              <a:buChar char="•"/>
            </a:pPr>
            <a:r>
              <a:rPr lang="en-US" sz="4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Full travel itinerary automation (future enhancement)</a:t>
            </a:r>
          </a:p>
          <a:p>
            <a:pPr marL="1337802" lvl="1" indent="-668901" algn="just">
              <a:lnSpc>
                <a:spcPts val="8674"/>
              </a:lnSpc>
              <a:buFont typeface="Arial"/>
              <a:buChar char="•"/>
            </a:pPr>
            <a:r>
              <a:rPr lang="en-US" sz="4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Mobile native app (optional future; system is web-based first)</a:t>
            </a:r>
            <a:endParaRPr lang="en-US" sz="6196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just">
              <a:lnSpc>
                <a:spcPts val="8674"/>
              </a:lnSpc>
            </a:pPr>
            <a:endParaRPr lang="en-US" sz="6196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98541"/>
            <a:ext cx="18288000" cy="10385541"/>
          </a:xfrm>
          <a:custGeom>
            <a:avLst/>
            <a:gdLst/>
            <a:ahLst/>
            <a:cxnLst/>
            <a:rect l="l" t="t" r="r" b="b"/>
            <a:pathLst>
              <a:path w="18288000" h="10385541">
                <a:moveTo>
                  <a:pt x="0" y="0"/>
                </a:moveTo>
                <a:lnTo>
                  <a:pt x="18288000" y="0"/>
                </a:lnTo>
                <a:lnTo>
                  <a:pt x="18288000" y="10385541"/>
                </a:lnTo>
                <a:lnTo>
                  <a:pt x="0" y="103855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696" b="-8696"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" name="TextBox 3"/>
          <p:cNvSpPr txBox="1"/>
          <p:nvPr/>
        </p:nvSpPr>
        <p:spPr>
          <a:xfrm>
            <a:off x="2526342" y="2415482"/>
            <a:ext cx="13235315" cy="50050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V. Users of the Computing Solution</a:t>
            </a:r>
          </a:p>
          <a:p>
            <a:pPr algn="ctr">
              <a:lnSpc>
                <a:spcPts val="12880"/>
              </a:lnSpc>
            </a:pPr>
            <a:endParaRPr lang="en-US" sz="9200">
              <a:solidFill>
                <a:srgbClr val="000000"/>
              </a:solidFill>
              <a:latin typeface="Times New Roman MT Condensed"/>
              <a:ea typeface="Times New Roman MT Condensed"/>
              <a:cs typeface="Times New Roman MT Condensed"/>
              <a:sym typeface="Times New Roman MT Condensed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98541"/>
            <a:ext cx="18288000" cy="10385541"/>
          </a:xfrm>
          <a:custGeom>
            <a:avLst/>
            <a:gdLst/>
            <a:ahLst/>
            <a:cxnLst/>
            <a:rect l="l" t="t" r="r" b="b"/>
            <a:pathLst>
              <a:path w="18288000" h="10385541">
                <a:moveTo>
                  <a:pt x="0" y="0"/>
                </a:moveTo>
                <a:lnTo>
                  <a:pt x="18288000" y="0"/>
                </a:lnTo>
                <a:lnTo>
                  <a:pt x="18288000" y="10385541"/>
                </a:lnTo>
                <a:lnTo>
                  <a:pt x="0" y="103855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696" b="-8696"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" name="TextBox 3"/>
          <p:cNvSpPr txBox="1"/>
          <p:nvPr/>
        </p:nvSpPr>
        <p:spPr>
          <a:xfrm>
            <a:off x="1962192" y="528002"/>
            <a:ext cx="2467421" cy="774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60"/>
              </a:lnSpc>
            </a:pPr>
            <a:r>
              <a:rPr lang="en-US" sz="4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 Roles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316511" y="1197292"/>
            <a:ext cx="14683112" cy="8178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99335" lvl="1" indent="-499667" algn="just">
              <a:lnSpc>
                <a:spcPts val="6480"/>
              </a:lnSpc>
              <a:buFont typeface="Arial"/>
              <a:buChar char="•"/>
            </a:pPr>
            <a:r>
              <a:rPr lang="en-US" sz="4628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Tourist / Residents (Web Users)</a:t>
            </a:r>
          </a:p>
          <a:p>
            <a:pPr marL="1998669" lvl="2" indent="-666223" algn="just">
              <a:lnSpc>
                <a:spcPts val="6480"/>
              </a:lnSpc>
              <a:buFont typeface="Arial"/>
              <a:buChar char="⚬"/>
            </a:pPr>
            <a:r>
              <a:rPr lang="en-US" sz="462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view map, search destinations, read articles, register as tourist</a:t>
            </a:r>
          </a:p>
          <a:p>
            <a:pPr marL="999335" lvl="1" indent="-499667" algn="just">
              <a:lnSpc>
                <a:spcPts val="6480"/>
              </a:lnSpc>
              <a:buFont typeface="Arial"/>
              <a:buChar char="•"/>
            </a:pPr>
            <a:r>
              <a:rPr lang="en-US" sz="4628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City Tourism Office Staff</a:t>
            </a:r>
          </a:p>
          <a:p>
            <a:pPr marL="1998669" lvl="2" indent="-666223" algn="just">
              <a:lnSpc>
                <a:spcPts val="6480"/>
              </a:lnSpc>
              <a:buFont typeface="Arial"/>
              <a:buChar char="⚬"/>
            </a:pPr>
            <a:r>
              <a:rPr lang="en-US" sz="462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encode/update tourism and cultural records, upload gallery, publish posts (with approval flow)</a:t>
            </a:r>
          </a:p>
          <a:p>
            <a:pPr marL="999335" lvl="1" indent="-499667" algn="just">
              <a:lnSpc>
                <a:spcPts val="6480"/>
              </a:lnSpc>
              <a:buFont typeface="Arial"/>
              <a:buChar char="•"/>
            </a:pPr>
            <a:r>
              <a:rPr lang="en-US" sz="4628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City Tourism Office System Administrator</a:t>
            </a:r>
          </a:p>
          <a:p>
            <a:pPr marL="1998669" lvl="2" indent="-666223" algn="just">
              <a:lnSpc>
                <a:spcPts val="6480"/>
              </a:lnSpc>
              <a:buFont typeface="Arial"/>
              <a:buChar char="⚬"/>
            </a:pPr>
            <a:r>
              <a:rPr lang="en-US" sz="462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manage staff accounts/roles, web settings, full access to reports and content moderation</a:t>
            </a:r>
          </a:p>
          <a:p>
            <a:pPr algn="ctr">
              <a:lnSpc>
                <a:spcPts val="6480"/>
              </a:lnSpc>
            </a:pPr>
            <a:endParaRPr lang="en-US" sz="4628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98541"/>
            <a:ext cx="18288000" cy="10385541"/>
          </a:xfrm>
          <a:custGeom>
            <a:avLst/>
            <a:gdLst/>
            <a:ahLst/>
            <a:cxnLst/>
            <a:rect l="l" t="t" r="r" b="b"/>
            <a:pathLst>
              <a:path w="18288000" h="10385541">
                <a:moveTo>
                  <a:pt x="0" y="0"/>
                </a:moveTo>
                <a:lnTo>
                  <a:pt x="18288000" y="0"/>
                </a:lnTo>
                <a:lnTo>
                  <a:pt x="18288000" y="10385541"/>
                </a:lnTo>
                <a:lnTo>
                  <a:pt x="0" y="103855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696" b="-8696"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" name="TextBox 3"/>
          <p:cNvSpPr txBox="1"/>
          <p:nvPr/>
        </p:nvSpPr>
        <p:spPr>
          <a:xfrm>
            <a:off x="3785894" y="3162300"/>
            <a:ext cx="10716212" cy="64931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7565"/>
              </a:lnSpc>
            </a:pPr>
            <a:r>
              <a:rPr lang="en-US" sz="12547" dirty="0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VI. Stakeholders</a:t>
            </a:r>
          </a:p>
          <a:p>
            <a:pPr algn="ctr">
              <a:lnSpc>
                <a:spcPts val="17565"/>
              </a:lnSpc>
            </a:pPr>
            <a:endParaRPr lang="en-US" sz="12547" dirty="0">
              <a:solidFill>
                <a:srgbClr val="000000"/>
              </a:solidFill>
              <a:latin typeface="Times New Roman MT Condensed"/>
              <a:ea typeface="Times New Roman MT Condensed"/>
              <a:cs typeface="Times New Roman MT Condensed"/>
              <a:sym typeface="Times New Roman MT Condensed"/>
            </a:endParaRPr>
          </a:p>
          <a:p>
            <a:pPr algn="ctr">
              <a:lnSpc>
                <a:spcPts val="14559"/>
              </a:lnSpc>
            </a:pPr>
            <a:endParaRPr lang="en-US" sz="12547" dirty="0">
              <a:solidFill>
                <a:srgbClr val="000000"/>
              </a:solidFill>
              <a:latin typeface="Times New Roman MT Condensed"/>
              <a:ea typeface="Times New Roman MT Condensed"/>
              <a:cs typeface="Times New Roman MT Condensed"/>
              <a:sym typeface="Times New Roman MT Condensed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98541"/>
            <a:ext cx="18288000" cy="10385541"/>
          </a:xfrm>
          <a:custGeom>
            <a:avLst/>
            <a:gdLst/>
            <a:ahLst/>
            <a:cxnLst/>
            <a:rect l="l" t="t" r="r" b="b"/>
            <a:pathLst>
              <a:path w="18288000" h="10385541">
                <a:moveTo>
                  <a:pt x="0" y="0"/>
                </a:moveTo>
                <a:lnTo>
                  <a:pt x="18288000" y="0"/>
                </a:lnTo>
                <a:lnTo>
                  <a:pt x="18288000" y="10385541"/>
                </a:lnTo>
                <a:lnTo>
                  <a:pt x="0" y="103855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696" b="-8696"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" name="TextBox 3"/>
          <p:cNvSpPr txBox="1"/>
          <p:nvPr/>
        </p:nvSpPr>
        <p:spPr>
          <a:xfrm>
            <a:off x="1669020" y="466480"/>
            <a:ext cx="8490198" cy="162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40"/>
              </a:lnSpc>
            </a:pPr>
            <a:r>
              <a:rPr lang="en-US" sz="4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Stakeholders and How They Benefit</a:t>
            </a:r>
          </a:p>
          <a:p>
            <a:pPr algn="ctr">
              <a:lnSpc>
                <a:spcPts val="6440"/>
              </a:lnSpc>
            </a:pPr>
            <a:endParaRPr lang="en-US" sz="4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2116727" y="1265306"/>
            <a:ext cx="11639916" cy="76611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83803" lvl="1" indent="-391901" algn="just">
              <a:lnSpc>
                <a:spcPts val="5082"/>
              </a:lnSpc>
              <a:buFont typeface="Arial"/>
              <a:buChar char="•"/>
            </a:pPr>
            <a:r>
              <a:rPr lang="en-US" sz="363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City Tourism Office</a:t>
            </a:r>
          </a:p>
          <a:p>
            <a:pPr marL="1567606" lvl="2" indent="-522535" algn="just">
              <a:lnSpc>
                <a:spcPts val="5082"/>
              </a:lnSpc>
              <a:buFont typeface="Arial"/>
              <a:buChar char="⚬"/>
            </a:pPr>
            <a:r>
              <a:rPr lang="en-US" sz="363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centralized data, formal publishing, reporting, improved visitor support</a:t>
            </a:r>
          </a:p>
          <a:p>
            <a:pPr marL="783803" lvl="1" indent="-391901" algn="just">
              <a:lnSpc>
                <a:spcPts val="5082"/>
              </a:lnSpc>
              <a:buFont typeface="Arial"/>
              <a:buChar char="•"/>
            </a:pPr>
            <a:r>
              <a:rPr lang="en-US" sz="363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Tourists</a:t>
            </a:r>
          </a:p>
          <a:p>
            <a:pPr marL="1567606" lvl="2" indent="-522535" algn="just">
              <a:lnSpc>
                <a:spcPts val="5082"/>
              </a:lnSpc>
              <a:buFont typeface="Arial"/>
              <a:buChar char="⚬"/>
            </a:pPr>
            <a:r>
              <a:rPr lang="en-US" sz="363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trusted info source, easier discovery and navigation</a:t>
            </a:r>
          </a:p>
          <a:p>
            <a:pPr marL="783803" lvl="1" indent="-391901" algn="just">
              <a:lnSpc>
                <a:spcPts val="5082"/>
              </a:lnSpc>
              <a:buFont typeface="Arial"/>
              <a:buChar char="•"/>
            </a:pPr>
            <a:r>
              <a:rPr lang="en-US" sz="363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Residents of San Carlos City</a:t>
            </a:r>
          </a:p>
          <a:p>
            <a:pPr marL="1567606" lvl="2" indent="-522535" algn="just">
              <a:lnSpc>
                <a:spcPts val="5082"/>
              </a:lnSpc>
              <a:buFont typeface="Arial"/>
              <a:buChar char="⚬"/>
            </a:pPr>
            <a:r>
              <a:rPr lang="en-US" sz="363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greater awareness of local heritage and city identity; community pride</a:t>
            </a:r>
          </a:p>
          <a:p>
            <a:pPr marL="783803" lvl="1" indent="-391901" algn="just">
              <a:lnSpc>
                <a:spcPts val="5082"/>
              </a:lnSpc>
              <a:buFont typeface="Arial"/>
              <a:buChar char="•"/>
            </a:pPr>
            <a:r>
              <a:rPr lang="en-US" sz="363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Developers / Researchers</a:t>
            </a:r>
          </a:p>
          <a:p>
            <a:pPr marL="1567606" lvl="2" indent="-522535" algn="just">
              <a:lnSpc>
                <a:spcPts val="5082"/>
              </a:lnSpc>
              <a:buFont typeface="Arial"/>
              <a:buChar char="⚬"/>
            </a:pPr>
            <a:r>
              <a:rPr lang="en-US" sz="363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applied experience in GIS/map systems, content management, and information systems deployment</a:t>
            </a:r>
          </a:p>
          <a:p>
            <a:pPr algn="ctr">
              <a:lnSpc>
                <a:spcPts val="5082"/>
              </a:lnSpc>
            </a:pPr>
            <a:endParaRPr lang="en-US" sz="363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98541"/>
            <a:ext cx="18288000" cy="10385541"/>
          </a:xfrm>
          <a:custGeom>
            <a:avLst/>
            <a:gdLst/>
            <a:ahLst/>
            <a:cxnLst/>
            <a:rect l="l" t="t" r="r" b="b"/>
            <a:pathLst>
              <a:path w="18288000" h="10385541">
                <a:moveTo>
                  <a:pt x="0" y="0"/>
                </a:moveTo>
                <a:lnTo>
                  <a:pt x="18288000" y="0"/>
                </a:lnTo>
                <a:lnTo>
                  <a:pt x="18288000" y="10385541"/>
                </a:lnTo>
                <a:lnTo>
                  <a:pt x="0" y="103855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696" b="-8696"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" name="TextBox 3"/>
          <p:cNvSpPr txBox="1"/>
          <p:nvPr/>
        </p:nvSpPr>
        <p:spPr>
          <a:xfrm>
            <a:off x="5444430" y="3279140"/>
            <a:ext cx="7399139" cy="33762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VII. Use Cases</a:t>
            </a:r>
          </a:p>
          <a:p>
            <a:pPr algn="ctr">
              <a:lnSpc>
                <a:spcPts val="12880"/>
              </a:lnSpc>
            </a:pPr>
            <a:endParaRPr lang="en-US" sz="9200">
              <a:solidFill>
                <a:srgbClr val="00000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98541"/>
            <a:ext cx="18288000" cy="10385541"/>
          </a:xfrm>
          <a:custGeom>
            <a:avLst/>
            <a:gdLst/>
            <a:ahLst/>
            <a:cxnLst/>
            <a:rect l="l" t="t" r="r" b="b"/>
            <a:pathLst>
              <a:path w="18288000" h="10385541">
                <a:moveTo>
                  <a:pt x="0" y="0"/>
                </a:moveTo>
                <a:lnTo>
                  <a:pt x="18288000" y="0"/>
                </a:lnTo>
                <a:lnTo>
                  <a:pt x="18288000" y="10385541"/>
                </a:lnTo>
                <a:lnTo>
                  <a:pt x="0" y="103855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696" b="-8696"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" name="TextBox 3"/>
          <p:cNvSpPr txBox="1"/>
          <p:nvPr/>
        </p:nvSpPr>
        <p:spPr>
          <a:xfrm>
            <a:off x="2242912" y="1230530"/>
            <a:ext cx="12932291" cy="8057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99003" lvl="1" indent="-449501" algn="just">
              <a:lnSpc>
                <a:spcPts val="5829"/>
              </a:lnSpc>
              <a:buFont typeface="Arial"/>
              <a:buChar char="•"/>
            </a:pPr>
            <a:r>
              <a:rPr lang="en-US" sz="416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Tourist </a:t>
            </a:r>
            <a:r>
              <a:rPr lang="en-US" sz="4163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registers</a:t>
            </a:r>
            <a:r>
              <a:rPr lang="en-US" sz="416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help the Tourism Office understand visitor needs and possible assistance.</a:t>
            </a:r>
          </a:p>
          <a:p>
            <a:pPr marL="899003" lvl="1" indent="-449501" algn="just">
              <a:lnSpc>
                <a:spcPts val="5829"/>
              </a:lnSpc>
              <a:buFont typeface="Arial"/>
              <a:buChar char="•"/>
            </a:pPr>
            <a:r>
              <a:rPr lang="en-US" sz="416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Tourist/resident </a:t>
            </a:r>
            <a:r>
              <a:rPr lang="en-US" sz="4163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searches</a:t>
            </a:r>
            <a:r>
              <a:rPr lang="en-US" sz="416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hotels, resorts, restaurants, and attractions within San Carlos City.</a:t>
            </a:r>
          </a:p>
          <a:p>
            <a:pPr marL="899003" lvl="1" indent="-449501" algn="just">
              <a:lnSpc>
                <a:spcPts val="5829"/>
              </a:lnSpc>
              <a:buFont typeface="Arial"/>
              <a:buChar char="•"/>
            </a:pPr>
            <a:r>
              <a:rPr lang="en-US" sz="416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Tourist/resident</a:t>
            </a:r>
            <a:r>
              <a:rPr lang="en-US" sz="4163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views the tourism and cultural map</a:t>
            </a:r>
            <a:r>
              <a:rPr lang="en-US" sz="416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locate sites and learn history/cultural context.</a:t>
            </a:r>
          </a:p>
          <a:p>
            <a:pPr marL="899003" lvl="1" indent="-449501" algn="just">
              <a:lnSpc>
                <a:spcPts val="5829"/>
              </a:lnSpc>
              <a:buFont typeface="Arial"/>
              <a:buChar char="•"/>
            </a:pPr>
            <a:r>
              <a:rPr lang="en-US" sz="416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Tourism staff </a:t>
            </a:r>
            <a:r>
              <a:rPr lang="en-US" sz="4163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updates destination/site details</a:t>
            </a:r>
            <a:r>
              <a:rPr lang="en-US" sz="416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publishes official announcements/articles.</a:t>
            </a:r>
          </a:p>
          <a:p>
            <a:pPr marL="899003" lvl="1" indent="-449501" algn="just">
              <a:lnSpc>
                <a:spcPts val="5829"/>
              </a:lnSpc>
              <a:buFont typeface="Arial"/>
              <a:buChar char="•"/>
            </a:pPr>
            <a:r>
              <a:rPr lang="en-US" sz="416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Administrator </a:t>
            </a:r>
            <a:r>
              <a:rPr lang="en-US" sz="4163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creates staff accounts, </a:t>
            </a:r>
            <a:r>
              <a:rPr lang="en-US" sz="416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manages access roles, and generates printable reports.</a:t>
            </a:r>
          </a:p>
          <a:p>
            <a:pPr algn="just">
              <a:lnSpc>
                <a:spcPts val="5829"/>
              </a:lnSpc>
            </a:pPr>
            <a:endParaRPr lang="en-US" sz="4163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690851" y="279233"/>
            <a:ext cx="7005349" cy="14036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81"/>
              </a:lnSpc>
            </a:pPr>
            <a:r>
              <a:rPr lang="en-US" sz="3986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Use Cases </a:t>
            </a:r>
          </a:p>
          <a:p>
            <a:pPr algn="ctr">
              <a:lnSpc>
                <a:spcPts val="5581"/>
              </a:lnSpc>
            </a:pPr>
            <a:endParaRPr lang="en-US" sz="3986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98541"/>
            <a:ext cx="18288000" cy="10385541"/>
          </a:xfrm>
          <a:custGeom>
            <a:avLst/>
            <a:gdLst/>
            <a:ahLst/>
            <a:cxnLst/>
            <a:rect l="l" t="t" r="r" b="b"/>
            <a:pathLst>
              <a:path w="18288000" h="10385541">
                <a:moveTo>
                  <a:pt x="0" y="0"/>
                </a:moveTo>
                <a:lnTo>
                  <a:pt x="18288000" y="0"/>
                </a:lnTo>
                <a:lnTo>
                  <a:pt x="18288000" y="10385541"/>
                </a:lnTo>
                <a:lnTo>
                  <a:pt x="0" y="103855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696" b="-8696"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" name="TextBox 3"/>
          <p:cNvSpPr txBox="1"/>
          <p:nvPr/>
        </p:nvSpPr>
        <p:spPr>
          <a:xfrm>
            <a:off x="534316" y="2666773"/>
            <a:ext cx="16098112" cy="35144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34"/>
              </a:lnSpc>
            </a:pPr>
            <a:r>
              <a:rPr lang="en-US" sz="6453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VIII. Hardware, Software, and Service Requirements (Bullets Only)</a:t>
            </a:r>
          </a:p>
          <a:p>
            <a:pPr algn="ctr">
              <a:lnSpc>
                <a:spcPts val="9034"/>
              </a:lnSpc>
            </a:pPr>
            <a:endParaRPr lang="en-US" sz="6453">
              <a:solidFill>
                <a:srgbClr val="00000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98541"/>
            <a:ext cx="18288000" cy="10385541"/>
          </a:xfrm>
          <a:custGeom>
            <a:avLst/>
            <a:gdLst/>
            <a:ahLst/>
            <a:cxnLst/>
            <a:rect l="l" t="t" r="r" b="b"/>
            <a:pathLst>
              <a:path w="18288000" h="10385541">
                <a:moveTo>
                  <a:pt x="0" y="0"/>
                </a:moveTo>
                <a:lnTo>
                  <a:pt x="18288000" y="0"/>
                </a:lnTo>
                <a:lnTo>
                  <a:pt x="18288000" y="10385541"/>
                </a:lnTo>
                <a:lnTo>
                  <a:pt x="0" y="103855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696" b="-8696"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" name="TextBox 3"/>
          <p:cNvSpPr txBox="1"/>
          <p:nvPr/>
        </p:nvSpPr>
        <p:spPr>
          <a:xfrm>
            <a:off x="1609679" y="287656"/>
            <a:ext cx="5934122" cy="6714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740"/>
              </a:lnSpc>
            </a:pPr>
            <a:r>
              <a:rPr lang="en-US" sz="41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HSS Requirements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09679" y="1197411"/>
            <a:ext cx="7534321" cy="5906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678"/>
              </a:lnSpc>
            </a:pPr>
            <a:r>
              <a:rPr lang="en-US" sz="3341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Development</a:t>
            </a:r>
          </a:p>
          <a:p>
            <a:pPr marL="721437" lvl="1" indent="-360719" algn="just">
              <a:lnSpc>
                <a:spcPts val="4678"/>
              </a:lnSpc>
              <a:buFont typeface="Arial"/>
              <a:buChar char="•"/>
            </a:pPr>
            <a:r>
              <a:rPr lang="en-US" sz="334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Code Editor: Sublime Text / VS Code</a:t>
            </a:r>
          </a:p>
          <a:p>
            <a:pPr marL="721437" lvl="1" indent="-360719" algn="just">
              <a:lnSpc>
                <a:spcPts val="4678"/>
              </a:lnSpc>
              <a:buFont typeface="Arial"/>
              <a:buChar char="•"/>
            </a:pPr>
            <a:r>
              <a:rPr lang="en-US" sz="334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Database: MySQL / MariaDB</a:t>
            </a:r>
          </a:p>
          <a:p>
            <a:pPr marL="721437" lvl="1" indent="-360719" algn="just">
              <a:lnSpc>
                <a:spcPts val="4678"/>
              </a:lnSpc>
              <a:buFont typeface="Arial"/>
              <a:buChar char="•"/>
            </a:pPr>
            <a:r>
              <a:rPr lang="en-US" sz="334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Languages: PHP, HTML, CSS, JavaScript, SQL</a:t>
            </a:r>
          </a:p>
          <a:p>
            <a:pPr marL="721437" lvl="1" indent="-360719" algn="just">
              <a:lnSpc>
                <a:spcPts val="4678"/>
              </a:lnSpc>
              <a:buFont typeface="Arial"/>
              <a:buChar char="•"/>
            </a:pPr>
            <a:r>
              <a:rPr lang="en-US" sz="334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Local Server: WAMP/XAMPP</a:t>
            </a:r>
          </a:p>
          <a:p>
            <a:pPr marL="721437" lvl="1" indent="-360719" algn="just">
              <a:lnSpc>
                <a:spcPts val="4678"/>
              </a:lnSpc>
              <a:buFont typeface="Arial"/>
              <a:buChar char="•"/>
            </a:pPr>
            <a:r>
              <a:rPr lang="en-US" sz="334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Browser: Google Chrome</a:t>
            </a:r>
          </a:p>
          <a:p>
            <a:pPr marL="721437" lvl="1" indent="-360719" algn="just">
              <a:lnSpc>
                <a:spcPts val="4678"/>
              </a:lnSpc>
              <a:buFont typeface="Arial"/>
              <a:buChar char="•"/>
            </a:pPr>
            <a:r>
              <a:rPr lang="en-US" sz="334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OS/Hardware: Windows 10/11, Core i5 laptop (or equivalent)</a:t>
            </a:r>
          </a:p>
          <a:p>
            <a:pPr algn="ctr">
              <a:lnSpc>
                <a:spcPts val="4678"/>
              </a:lnSpc>
            </a:pPr>
            <a:endParaRPr lang="en-US" sz="3341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9628933" y="1283136"/>
            <a:ext cx="0" cy="649224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6" name="TextBox 6"/>
          <p:cNvSpPr txBox="1"/>
          <p:nvPr/>
        </p:nvSpPr>
        <p:spPr>
          <a:xfrm>
            <a:off x="10113867" y="1206936"/>
            <a:ext cx="6372564" cy="58353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65"/>
              </a:lnSpc>
            </a:pPr>
            <a:r>
              <a:rPr lang="en-US" sz="276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Deployment (Online)</a:t>
            </a:r>
          </a:p>
          <a:p>
            <a:pPr marL="596070" lvl="1" indent="-298035" algn="l">
              <a:lnSpc>
                <a:spcPts val="3865"/>
              </a:lnSpc>
              <a:buFont typeface="Arial"/>
              <a:buChar char="•"/>
            </a:pPr>
            <a:r>
              <a:rPr lang="en-US" sz="276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Web hosting (LAMP stack / PHP + MySQL support)</a:t>
            </a:r>
          </a:p>
          <a:p>
            <a:pPr marL="596070" lvl="1" indent="-298035" algn="l">
              <a:lnSpc>
                <a:spcPts val="3865"/>
              </a:lnSpc>
              <a:buFont typeface="Arial"/>
              <a:buChar char="•"/>
            </a:pPr>
            <a:r>
              <a:rPr lang="en-US" sz="276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Domain name registration</a:t>
            </a:r>
          </a:p>
          <a:p>
            <a:pPr marL="596070" lvl="1" indent="-298035" algn="l">
              <a:lnSpc>
                <a:spcPts val="3865"/>
              </a:lnSpc>
              <a:buFont typeface="Arial"/>
              <a:buChar char="•"/>
            </a:pPr>
            <a:r>
              <a:rPr lang="en-US" sz="276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SSL certificate (HTTPS)</a:t>
            </a:r>
          </a:p>
          <a:p>
            <a:pPr marL="596070" lvl="1" indent="-298035" algn="l">
              <a:lnSpc>
                <a:spcPts val="3865"/>
              </a:lnSpc>
              <a:buFont typeface="Arial"/>
              <a:buChar char="•"/>
            </a:pPr>
            <a:r>
              <a:rPr lang="en-US" sz="276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Optional: Google Maps API key or OpenStreetMap + Leaflet integration</a:t>
            </a:r>
          </a:p>
          <a:p>
            <a:pPr algn="l">
              <a:lnSpc>
                <a:spcPts val="3865"/>
              </a:lnSpc>
            </a:pPr>
            <a:r>
              <a:rPr lang="en-US" sz="276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User Access</a:t>
            </a:r>
          </a:p>
          <a:p>
            <a:pPr marL="596070" lvl="1" indent="-298035" algn="l">
              <a:lnSpc>
                <a:spcPts val="3865"/>
              </a:lnSpc>
              <a:buFont typeface="Arial"/>
              <a:buChar char="•"/>
            </a:pPr>
            <a:r>
              <a:rPr lang="en-US" sz="276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Mobile phone / tablet / laptop / desktop</a:t>
            </a:r>
          </a:p>
          <a:p>
            <a:pPr marL="596070" lvl="1" indent="-298035" algn="l">
              <a:lnSpc>
                <a:spcPts val="3865"/>
              </a:lnSpc>
              <a:buFont typeface="Arial"/>
              <a:buChar char="•"/>
            </a:pPr>
            <a:r>
              <a:rPr lang="en-US" sz="276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Mobile/desktop browsers</a:t>
            </a:r>
          </a:p>
          <a:p>
            <a:pPr marL="596070" lvl="1" indent="-298035" algn="l">
              <a:lnSpc>
                <a:spcPts val="3865"/>
              </a:lnSpc>
              <a:buFont typeface="Arial"/>
              <a:buChar char="•"/>
            </a:pPr>
            <a:r>
              <a:rPr lang="en-US" sz="276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Stable internet connection / mobile data</a:t>
            </a:r>
          </a:p>
          <a:p>
            <a:pPr algn="ctr">
              <a:lnSpc>
                <a:spcPts val="3865"/>
              </a:lnSpc>
            </a:pPr>
            <a:endParaRPr lang="en-US" sz="276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98541"/>
            <a:ext cx="18288000" cy="10385541"/>
          </a:xfrm>
          <a:custGeom>
            <a:avLst/>
            <a:gdLst/>
            <a:ahLst/>
            <a:cxnLst/>
            <a:rect l="l" t="t" r="r" b="b"/>
            <a:pathLst>
              <a:path w="18288000" h="10385541">
                <a:moveTo>
                  <a:pt x="0" y="0"/>
                </a:moveTo>
                <a:lnTo>
                  <a:pt x="18288000" y="0"/>
                </a:lnTo>
                <a:lnTo>
                  <a:pt x="18288000" y="10385541"/>
                </a:lnTo>
                <a:lnTo>
                  <a:pt x="0" y="103855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696" b="-8696"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" name="TextBox 3"/>
          <p:cNvSpPr txBox="1"/>
          <p:nvPr/>
        </p:nvSpPr>
        <p:spPr>
          <a:xfrm>
            <a:off x="2504399" y="2352665"/>
            <a:ext cx="13279203" cy="2790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629"/>
              </a:lnSpc>
            </a:pPr>
            <a:r>
              <a:rPr lang="en-US" sz="7592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IX. Methodology (Simple Agile)</a:t>
            </a:r>
          </a:p>
          <a:p>
            <a:pPr algn="ctr">
              <a:lnSpc>
                <a:spcPts val="10629"/>
              </a:lnSpc>
            </a:pPr>
            <a:endParaRPr lang="en-US" sz="7592">
              <a:solidFill>
                <a:srgbClr val="00000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98541"/>
            <a:ext cx="18288000" cy="10385541"/>
          </a:xfrm>
          <a:custGeom>
            <a:avLst/>
            <a:gdLst/>
            <a:ahLst/>
            <a:cxnLst/>
            <a:rect l="l" t="t" r="r" b="b"/>
            <a:pathLst>
              <a:path w="18288000" h="10385541">
                <a:moveTo>
                  <a:pt x="0" y="0"/>
                </a:moveTo>
                <a:lnTo>
                  <a:pt x="18288000" y="0"/>
                </a:lnTo>
                <a:lnTo>
                  <a:pt x="18288000" y="10385541"/>
                </a:lnTo>
                <a:lnTo>
                  <a:pt x="0" y="103855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696" b="-8696"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" name="TextBox 3"/>
          <p:cNvSpPr txBox="1"/>
          <p:nvPr/>
        </p:nvSpPr>
        <p:spPr>
          <a:xfrm>
            <a:off x="536842" y="321972"/>
            <a:ext cx="13196750" cy="7067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71"/>
              </a:lnSpc>
            </a:pPr>
            <a:r>
              <a:rPr lang="en-US" sz="405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Suggested Methodology: Scrum (Lightweight Agile)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503700" y="1512260"/>
            <a:ext cx="5232824" cy="4546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18281" lvl="1" indent="-309141" algn="l">
              <a:lnSpc>
                <a:spcPts val="4009"/>
              </a:lnSpc>
              <a:buFont typeface="Arial"/>
              <a:buChar char="•"/>
            </a:pPr>
            <a:r>
              <a:rPr lang="en-US" sz="2863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Why Scrum fits</a:t>
            </a:r>
          </a:p>
          <a:p>
            <a:pPr marL="1236563" lvl="2" indent="-412188" algn="l">
              <a:lnSpc>
                <a:spcPts val="4009"/>
              </a:lnSpc>
              <a:buFont typeface="Arial"/>
              <a:buChar char="⚬"/>
            </a:pPr>
            <a:r>
              <a:rPr lang="en-US" sz="286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Best for capstone projects where requirements evolve during stakeholder feedback</a:t>
            </a:r>
          </a:p>
          <a:p>
            <a:pPr marL="1236563" lvl="2" indent="-412188" algn="l">
              <a:lnSpc>
                <a:spcPts val="4009"/>
              </a:lnSpc>
              <a:buFont typeface="Arial"/>
              <a:buChar char="⚬"/>
            </a:pPr>
            <a:r>
              <a:rPr lang="en-US" sz="286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Delivers usable outputs in short cycles (sprints) for panel and client review</a:t>
            </a:r>
          </a:p>
          <a:p>
            <a:pPr algn="ctr">
              <a:lnSpc>
                <a:spcPts val="4009"/>
              </a:lnSpc>
            </a:pPr>
            <a:endParaRPr lang="en-US" sz="2863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7660415" y="1424272"/>
            <a:ext cx="0" cy="649224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6" name="TextBox 6"/>
          <p:cNvSpPr txBox="1"/>
          <p:nvPr/>
        </p:nvSpPr>
        <p:spPr>
          <a:xfrm>
            <a:off x="7969477" y="1367122"/>
            <a:ext cx="8913015" cy="5451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098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Phases mapped to this project</a:t>
            </a:r>
          </a:p>
          <a:p>
            <a:pPr algn="l">
              <a:lnSpc>
                <a:spcPts val="2937"/>
              </a:lnSpc>
            </a:pPr>
            <a:endParaRPr lang="en-US" sz="2098" b="1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marL="453045" lvl="1" indent="-226523" algn="l">
              <a:lnSpc>
                <a:spcPts val="2937"/>
              </a:lnSpc>
              <a:buFont typeface="Arial"/>
              <a:buChar char="•"/>
            </a:pPr>
            <a:r>
              <a:rPr lang="en-US" sz="2098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Product Backlog</a:t>
            </a:r>
          </a:p>
          <a:p>
            <a:pPr marL="906090" lvl="2" indent="-302030" algn="l">
              <a:lnSpc>
                <a:spcPts val="2937"/>
              </a:lnSpc>
              <a:buFont typeface="Arial"/>
              <a:buChar char="⚬"/>
            </a:pPr>
            <a:r>
              <a:rPr lang="en-US" sz="209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list features: destinations, cultural sites, map, articles, registration, reports</a:t>
            </a:r>
          </a:p>
          <a:p>
            <a:pPr marL="453045" lvl="1" indent="-226523" algn="l">
              <a:lnSpc>
                <a:spcPts val="2937"/>
              </a:lnSpc>
              <a:buFont typeface="Arial"/>
              <a:buChar char="•"/>
            </a:pPr>
            <a:r>
              <a:rPr lang="en-US" sz="2098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Sprint Planning (1–2 weeks/sprint)</a:t>
            </a:r>
          </a:p>
          <a:p>
            <a:pPr marL="906090" lvl="2" indent="-302030" algn="l">
              <a:lnSpc>
                <a:spcPts val="2937"/>
              </a:lnSpc>
              <a:buFont typeface="Arial"/>
              <a:buChar char="⚬"/>
            </a:pPr>
            <a:r>
              <a:rPr lang="en-US" sz="209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choose what to build next (e.g., Sprint 1: login + destinations CRUD)</a:t>
            </a:r>
          </a:p>
          <a:p>
            <a:pPr marL="453045" lvl="1" indent="-226523" algn="l">
              <a:lnSpc>
                <a:spcPts val="2937"/>
              </a:lnSpc>
              <a:buFont typeface="Arial"/>
              <a:buChar char="•"/>
            </a:pPr>
            <a:r>
              <a:rPr lang="en-US" sz="2098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Sprint Development</a:t>
            </a:r>
          </a:p>
          <a:p>
            <a:pPr marL="906090" lvl="2" indent="-302030" algn="l">
              <a:lnSpc>
                <a:spcPts val="2937"/>
              </a:lnSpc>
              <a:buFont typeface="Arial"/>
              <a:buChar char="⚬"/>
            </a:pPr>
            <a:r>
              <a:rPr lang="en-US" sz="209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build + test modules incrementally (map integration can be Sprint 2/3)</a:t>
            </a:r>
          </a:p>
          <a:p>
            <a:pPr marL="453045" lvl="1" indent="-226523" algn="l">
              <a:lnSpc>
                <a:spcPts val="2937"/>
              </a:lnSpc>
              <a:buFont typeface="Arial"/>
              <a:buChar char="•"/>
            </a:pPr>
            <a:r>
              <a:rPr lang="en-US" sz="2098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Sprint Review</a:t>
            </a:r>
          </a:p>
          <a:p>
            <a:pPr marL="906090" lvl="2" indent="-302030" algn="l">
              <a:lnSpc>
                <a:spcPts val="2937"/>
              </a:lnSpc>
              <a:buFont typeface="Arial"/>
              <a:buChar char="⚬"/>
            </a:pPr>
            <a:r>
              <a:rPr lang="en-US" sz="209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demo to Tourism Office representative; collect revisions</a:t>
            </a:r>
          </a:p>
          <a:p>
            <a:pPr marL="453045" lvl="1" indent="-226523" algn="l">
              <a:lnSpc>
                <a:spcPts val="2937"/>
              </a:lnSpc>
              <a:buFont typeface="Arial"/>
              <a:buChar char="•"/>
            </a:pPr>
            <a:r>
              <a:rPr lang="en-US" sz="2098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Sprint Retrospective</a:t>
            </a:r>
          </a:p>
          <a:p>
            <a:pPr marL="906090" lvl="2" indent="-302030" algn="l">
              <a:lnSpc>
                <a:spcPts val="2937"/>
              </a:lnSpc>
              <a:buFont typeface="Arial"/>
              <a:buChar char="⚬"/>
            </a:pPr>
            <a:r>
              <a:rPr lang="en-US" sz="209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improve workflow, fix blockers, refine coding standards</a:t>
            </a:r>
          </a:p>
          <a:p>
            <a:pPr marL="453045" lvl="1" indent="-226523" algn="l">
              <a:lnSpc>
                <a:spcPts val="2937"/>
              </a:lnSpc>
              <a:buFont typeface="Arial"/>
              <a:buChar char="•"/>
            </a:pPr>
            <a:r>
              <a:rPr lang="en-US" sz="2098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Release / Deployment</a:t>
            </a:r>
          </a:p>
          <a:p>
            <a:pPr marL="906090" lvl="2" indent="-302030" algn="l">
              <a:lnSpc>
                <a:spcPts val="2937"/>
              </a:lnSpc>
              <a:buFont typeface="Arial"/>
              <a:buChar char="⚬"/>
            </a:pPr>
            <a:r>
              <a:rPr lang="en-US" sz="209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final hosting + data seeding + user orientation</a:t>
            </a:r>
          </a:p>
          <a:p>
            <a:pPr algn="ctr">
              <a:lnSpc>
                <a:spcPts val="1919"/>
              </a:lnSpc>
            </a:pPr>
            <a:endParaRPr lang="en-US" sz="2098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973CF3-13FB-1061-F162-AE2993E1C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7B3C567-ED20-53B9-64D0-66403494DA8E}"/>
              </a:ext>
            </a:extLst>
          </p:cNvPr>
          <p:cNvSpPr/>
          <p:nvPr/>
        </p:nvSpPr>
        <p:spPr>
          <a:xfrm>
            <a:off x="0" y="-98541"/>
            <a:ext cx="18288000" cy="10385541"/>
          </a:xfrm>
          <a:custGeom>
            <a:avLst/>
            <a:gdLst/>
            <a:ahLst/>
            <a:cxnLst/>
            <a:rect l="l" t="t" r="r" b="b"/>
            <a:pathLst>
              <a:path w="18288000" h="10385541">
                <a:moveTo>
                  <a:pt x="0" y="0"/>
                </a:moveTo>
                <a:lnTo>
                  <a:pt x="18288000" y="0"/>
                </a:lnTo>
                <a:lnTo>
                  <a:pt x="18288000" y="10385541"/>
                </a:lnTo>
                <a:lnTo>
                  <a:pt x="0" y="103855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696" b="-8696"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02D19E1F-F404-33C8-2AC5-8849F782FF4F}"/>
              </a:ext>
            </a:extLst>
          </p:cNvPr>
          <p:cNvSpPr txBox="1"/>
          <p:nvPr/>
        </p:nvSpPr>
        <p:spPr>
          <a:xfrm>
            <a:off x="536842" y="321972"/>
            <a:ext cx="13196750" cy="7067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71"/>
              </a:lnSpc>
            </a:pPr>
            <a:r>
              <a:rPr lang="en-US" sz="405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Suggested Methodology: Scrum (Lightweight Agile)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27D71D5-F4F9-D3CB-5365-866B5B71783F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828800" y="1638300"/>
            <a:ext cx="14554200" cy="70866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40354666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98541"/>
            <a:ext cx="18288000" cy="10385541"/>
          </a:xfrm>
          <a:custGeom>
            <a:avLst/>
            <a:gdLst/>
            <a:ahLst/>
            <a:cxnLst/>
            <a:rect l="l" t="t" r="r" b="b"/>
            <a:pathLst>
              <a:path w="18288000" h="10385541">
                <a:moveTo>
                  <a:pt x="0" y="0"/>
                </a:moveTo>
                <a:lnTo>
                  <a:pt x="18288000" y="0"/>
                </a:lnTo>
                <a:lnTo>
                  <a:pt x="18288000" y="10385541"/>
                </a:lnTo>
                <a:lnTo>
                  <a:pt x="0" y="103855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696" b="-8696"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" name="TextBox 3"/>
          <p:cNvSpPr txBox="1"/>
          <p:nvPr/>
        </p:nvSpPr>
        <p:spPr>
          <a:xfrm>
            <a:off x="2512273" y="3213473"/>
            <a:ext cx="13568778" cy="1930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28"/>
              </a:lnSpc>
            </a:pPr>
            <a:r>
              <a:rPr lang="en-US" sz="5234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X. Flowcharts (Text Layout + Mermaid Code)</a:t>
            </a:r>
          </a:p>
          <a:p>
            <a:pPr algn="ctr">
              <a:lnSpc>
                <a:spcPts val="7328"/>
              </a:lnSpc>
            </a:pPr>
            <a:endParaRPr lang="en-US" sz="5234">
              <a:solidFill>
                <a:srgbClr val="00000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98541"/>
            <a:ext cx="18288000" cy="10385541"/>
          </a:xfrm>
          <a:custGeom>
            <a:avLst/>
            <a:gdLst/>
            <a:ahLst/>
            <a:cxnLst/>
            <a:rect l="l" t="t" r="r" b="b"/>
            <a:pathLst>
              <a:path w="18288000" h="10385541">
                <a:moveTo>
                  <a:pt x="0" y="0"/>
                </a:moveTo>
                <a:lnTo>
                  <a:pt x="18288000" y="0"/>
                </a:lnTo>
                <a:lnTo>
                  <a:pt x="18288000" y="10385541"/>
                </a:lnTo>
                <a:lnTo>
                  <a:pt x="0" y="103855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696" b="-8696"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" name="Freeform 3"/>
          <p:cNvSpPr/>
          <p:nvPr/>
        </p:nvSpPr>
        <p:spPr>
          <a:xfrm>
            <a:off x="6566759" y="1028700"/>
            <a:ext cx="5154483" cy="8229600"/>
          </a:xfrm>
          <a:custGeom>
            <a:avLst/>
            <a:gdLst/>
            <a:ahLst/>
            <a:cxnLst/>
            <a:rect l="l" t="t" r="r" b="b"/>
            <a:pathLst>
              <a:path w="5154483" h="8229600">
                <a:moveTo>
                  <a:pt x="0" y="0"/>
                </a:moveTo>
                <a:lnTo>
                  <a:pt x="5154482" y="0"/>
                </a:lnTo>
                <a:lnTo>
                  <a:pt x="515448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4" name="TextBox 4"/>
          <p:cNvSpPr txBox="1"/>
          <p:nvPr/>
        </p:nvSpPr>
        <p:spPr>
          <a:xfrm>
            <a:off x="1551324" y="370206"/>
            <a:ext cx="12539216" cy="6584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80"/>
              </a:lnSpc>
            </a:pPr>
            <a:r>
              <a:rPr lang="en-US" sz="3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Flowchart: Process of Promoting Local Tourism and Cultural Sites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98541"/>
            <a:ext cx="18288000" cy="10385541"/>
          </a:xfrm>
          <a:custGeom>
            <a:avLst/>
            <a:gdLst/>
            <a:ahLst/>
            <a:cxnLst/>
            <a:rect l="l" t="t" r="r" b="b"/>
            <a:pathLst>
              <a:path w="18288000" h="10385541">
                <a:moveTo>
                  <a:pt x="0" y="0"/>
                </a:moveTo>
                <a:lnTo>
                  <a:pt x="18288000" y="0"/>
                </a:lnTo>
                <a:lnTo>
                  <a:pt x="18288000" y="10385541"/>
                </a:lnTo>
                <a:lnTo>
                  <a:pt x="0" y="103855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696" b="-8696"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" name="Freeform 3"/>
          <p:cNvSpPr/>
          <p:nvPr/>
        </p:nvSpPr>
        <p:spPr>
          <a:xfrm>
            <a:off x="5200775" y="1080072"/>
            <a:ext cx="7257774" cy="8044456"/>
          </a:xfrm>
          <a:custGeom>
            <a:avLst/>
            <a:gdLst/>
            <a:ahLst/>
            <a:cxnLst/>
            <a:rect l="l" t="t" r="r" b="b"/>
            <a:pathLst>
              <a:path w="7257774" h="8044456">
                <a:moveTo>
                  <a:pt x="0" y="0"/>
                </a:moveTo>
                <a:lnTo>
                  <a:pt x="7257774" y="0"/>
                </a:lnTo>
                <a:lnTo>
                  <a:pt x="7257774" y="8044456"/>
                </a:lnTo>
                <a:lnTo>
                  <a:pt x="0" y="80444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4" name="TextBox 4"/>
          <p:cNvSpPr txBox="1"/>
          <p:nvPr/>
        </p:nvSpPr>
        <p:spPr>
          <a:xfrm>
            <a:off x="1255775" y="472289"/>
            <a:ext cx="13173689" cy="1129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30"/>
              </a:lnSpc>
            </a:pPr>
            <a:r>
              <a:rPr lang="en-US" sz="316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Flowchart: Process of Gathering Info (Tourist Destinations &amp; Cultural Sites)</a:t>
            </a:r>
          </a:p>
          <a:p>
            <a:pPr algn="ctr">
              <a:lnSpc>
                <a:spcPts val="4430"/>
              </a:lnSpc>
            </a:pPr>
            <a:endParaRPr lang="en-US" sz="3164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98541"/>
            <a:ext cx="18288000" cy="10385541"/>
          </a:xfrm>
          <a:custGeom>
            <a:avLst/>
            <a:gdLst/>
            <a:ahLst/>
            <a:cxnLst/>
            <a:rect l="l" t="t" r="r" b="b"/>
            <a:pathLst>
              <a:path w="18288000" h="10385541">
                <a:moveTo>
                  <a:pt x="0" y="0"/>
                </a:moveTo>
                <a:lnTo>
                  <a:pt x="18288000" y="0"/>
                </a:lnTo>
                <a:lnTo>
                  <a:pt x="18288000" y="10385541"/>
                </a:lnTo>
                <a:lnTo>
                  <a:pt x="0" y="103855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696" b="-8696"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" name="TextBox 3"/>
          <p:cNvSpPr txBox="1"/>
          <p:nvPr/>
        </p:nvSpPr>
        <p:spPr>
          <a:xfrm>
            <a:off x="2617911" y="3166431"/>
            <a:ext cx="13582196" cy="28482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833"/>
              </a:lnSpc>
            </a:pPr>
            <a:r>
              <a:rPr lang="en-US" sz="7738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X. Entity Relationship Diagram</a:t>
            </a:r>
            <a:r>
              <a:rPr lang="en-US" sz="7738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</a:t>
            </a:r>
          </a:p>
          <a:p>
            <a:pPr algn="ctr">
              <a:lnSpc>
                <a:spcPts val="10833"/>
              </a:lnSpc>
            </a:pPr>
            <a:endParaRPr lang="en-US" sz="7738" b="1">
              <a:solidFill>
                <a:srgbClr val="000000"/>
              </a:solidFill>
              <a:latin typeface="Times New Roman MT Bold"/>
              <a:ea typeface="Times New Roman MT Bold"/>
              <a:cs typeface="Times New Roman MT Bold"/>
              <a:sym typeface="Times New Roman MT Bold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98541"/>
            <a:ext cx="18288000" cy="10385541"/>
          </a:xfrm>
          <a:custGeom>
            <a:avLst/>
            <a:gdLst/>
            <a:ahLst/>
            <a:cxnLst/>
            <a:rect l="l" t="t" r="r" b="b"/>
            <a:pathLst>
              <a:path w="18288000" h="10385541">
                <a:moveTo>
                  <a:pt x="0" y="0"/>
                </a:moveTo>
                <a:lnTo>
                  <a:pt x="18288000" y="0"/>
                </a:lnTo>
                <a:lnTo>
                  <a:pt x="18288000" y="10385541"/>
                </a:lnTo>
                <a:lnTo>
                  <a:pt x="0" y="103855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696" b="-8696"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" name="Freeform 3"/>
          <p:cNvSpPr/>
          <p:nvPr/>
        </p:nvSpPr>
        <p:spPr>
          <a:xfrm>
            <a:off x="5216466" y="1375092"/>
            <a:ext cx="6486210" cy="8057404"/>
          </a:xfrm>
          <a:custGeom>
            <a:avLst/>
            <a:gdLst/>
            <a:ahLst/>
            <a:cxnLst/>
            <a:rect l="l" t="t" r="r" b="b"/>
            <a:pathLst>
              <a:path w="6486210" h="8057404">
                <a:moveTo>
                  <a:pt x="0" y="0"/>
                </a:moveTo>
                <a:lnTo>
                  <a:pt x="6486210" y="0"/>
                </a:lnTo>
                <a:lnTo>
                  <a:pt x="6486210" y="8057404"/>
                </a:lnTo>
                <a:lnTo>
                  <a:pt x="0" y="8057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4" name="TextBox 4"/>
          <p:cNvSpPr txBox="1"/>
          <p:nvPr/>
        </p:nvSpPr>
        <p:spPr>
          <a:xfrm>
            <a:off x="1962264" y="508952"/>
            <a:ext cx="9467736" cy="8109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860"/>
              </a:lnSpc>
            </a:pPr>
            <a:r>
              <a:rPr lang="en-US" sz="49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Entity Relationship Diagram (ERD)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98541"/>
            <a:ext cx="18288000" cy="10385541"/>
          </a:xfrm>
          <a:custGeom>
            <a:avLst/>
            <a:gdLst/>
            <a:ahLst/>
            <a:cxnLst/>
            <a:rect l="l" t="t" r="r" b="b"/>
            <a:pathLst>
              <a:path w="18288000" h="10385541">
                <a:moveTo>
                  <a:pt x="0" y="0"/>
                </a:moveTo>
                <a:lnTo>
                  <a:pt x="18288000" y="0"/>
                </a:lnTo>
                <a:lnTo>
                  <a:pt x="18288000" y="10385541"/>
                </a:lnTo>
                <a:lnTo>
                  <a:pt x="0" y="103855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696" b="-8696"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" name="TextBox 3"/>
          <p:cNvSpPr txBox="1"/>
          <p:nvPr/>
        </p:nvSpPr>
        <p:spPr>
          <a:xfrm>
            <a:off x="4740101" y="3686232"/>
            <a:ext cx="8807797" cy="2414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239"/>
              </a:lnSpc>
            </a:pPr>
            <a:r>
              <a:rPr lang="en-US" sz="65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XI. Data Flow Diagram </a:t>
            </a:r>
          </a:p>
          <a:p>
            <a:pPr algn="ctr">
              <a:lnSpc>
                <a:spcPts val="9099"/>
              </a:lnSpc>
            </a:pPr>
            <a:endParaRPr lang="en-US" sz="6599">
              <a:solidFill>
                <a:srgbClr val="00000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84702A-889D-5059-8404-3E06D6AED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9A6CACA-92D0-CCF8-5889-E6804ECA17BC}"/>
              </a:ext>
            </a:extLst>
          </p:cNvPr>
          <p:cNvSpPr/>
          <p:nvPr/>
        </p:nvSpPr>
        <p:spPr>
          <a:xfrm>
            <a:off x="0" y="-98541"/>
            <a:ext cx="18288000" cy="10385541"/>
          </a:xfrm>
          <a:custGeom>
            <a:avLst/>
            <a:gdLst/>
            <a:ahLst/>
            <a:cxnLst/>
            <a:rect l="l" t="t" r="r" b="b"/>
            <a:pathLst>
              <a:path w="18288000" h="10385541">
                <a:moveTo>
                  <a:pt x="0" y="0"/>
                </a:moveTo>
                <a:lnTo>
                  <a:pt x="18288000" y="0"/>
                </a:lnTo>
                <a:lnTo>
                  <a:pt x="18288000" y="10385541"/>
                </a:lnTo>
                <a:lnTo>
                  <a:pt x="0" y="103855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696" b="-8696"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7F98DD99-CD73-17CC-65A3-9C6396F0A43F}"/>
              </a:ext>
            </a:extLst>
          </p:cNvPr>
          <p:cNvSpPr txBox="1"/>
          <p:nvPr/>
        </p:nvSpPr>
        <p:spPr>
          <a:xfrm>
            <a:off x="1616634" y="342831"/>
            <a:ext cx="6104923" cy="6462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460"/>
              </a:lnSpc>
            </a:pPr>
            <a:r>
              <a:rPr lang="en-US" sz="39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Flow Diagram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7A9B132-26A5-4CEB-C6AB-90617F84B3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1166812"/>
            <a:ext cx="14706600" cy="8548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44327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96553CF-FAE6-EC50-596E-4C344F796333}"/>
              </a:ext>
            </a:extLst>
          </p:cNvPr>
          <p:cNvSpPr/>
          <p:nvPr/>
        </p:nvSpPr>
        <p:spPr>
          <a:xfrm>
            <a:off x="0" y="-98541"/>
            <a:ext cx="18288000" cy="10385541"/>
          </a:xfrm>
          <a:custGeom>
            <a:avLst/>
            <a:gdLst/>
            <a:ahLst/>
            <a:cxnLst/>
            <a:rect l="l" t="t" r="r" b="b"/>
            <a:pathLst>
              <a:path w="18288000" h="10385541">
                <a:moveTo>
                  <a:pt x="0" y="0"/>
                </a:moveTo>
                <a:lnTo>
                  <a:pt x="18288000" y="0"/>
                </a:lnTo>
                <a:lnTo>
                  <a:pt x="18288000" y="10385541"/>
                </a:lnTo>
                <a:lnTo>
                  <a:pt x="0" y="103855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696" b="-8696"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8DE516-7537-F849-0C08-14E1D4FBA86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574" t="23959" r="11933" b="13541"/>
          <a:stretch>
            <a:fillRect/>
          </a:stretch>
        </p:blipFill>
        <p:spPr>
          <a:xfrm>
            <a:off x="1600200" y="571500"/>
            <a:ext cx="15201900" cy="868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877960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5808" y="199211"/>
            <a:ext cx="16689410" cy="1988345"/>
          </a:xfrm>
        </p:spPr>
        <p:txBody>
          <a:bodyPr/>
          <a:lstStyle/>
          <a:p>
            <a:r>
              <a:rPr lang="en-PH" dirty="0"/>
              <a:t>System Architecture Design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6344184" y="3493239"/>
            <a:ext cx="4127679" cy="1652520"/>
            <a:chOff x="4756597" y="2311222"/>
            <a:chExt cx="2751786" cy="1101680"/>
          </a:xfrm>
        </p:grpSpPr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56597" y="2311222"/>
              <a:ext cx="2751786" cy="1101680"/>
            </a:xfrm>
            <a:prstGeom prst="rect">
              <a:avLst/>
            </a:prstGeom>
          </p:spPr>
        </p:pic>
        <p:sp>
          <p:nvSpPr>
            <p:cNvPr id="3" name="Rectangle 2"/>
            <p:cNvSpPr/>
            <p:nvPr/>
          </p:nvSpPr>
          <p:spPr>
            <a:xfrm>
              <a:off x="4906439" y="2658241"/>
              <a:ext cx="2452101" cy="646330"/>
            </a:xfrm>
            <a:prstGeom prst="rect">
              <a:avLst/>
            </a:prstGeom>
            <a:noFill/>
          </p:spPr>
          <p:txBody>
            <a:bodyPr wrap="square" lIns="137160" tIns="68580" rIns="137160" bIns="68580">
              <a:spAutoFit/>
            </a:bodyPr>
            <a:lstStyle/>
            <a:p>
              <a:pPr algn="ctr"/>
              <a:r>
                <a:rPr lang="en-US" sz="54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Internet</a:t>
              </a: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5447750" y="6516295"/>
            <a:ext cx="5177148" cy="2067059"/>
            <a:chOff x="3245582" y="4241666"/>
            <a:chExt cx="3451432" cy="1378039"/>
          </a:xfrm>
        </p:grpSpPr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45582" y="4241666"/>
              <a:ext cx="1947758" cy="1378039"/>
            </a:xfrm>
            <a:prstGeom prst="rect">
              <a:avLst/>
            </a:prstGeom>
          </p:spPr>
        </p:pic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81540" y="4241666"/>
              <a:ext cx="1915474" cy="1277980"/>
            </a:xfrm>
            <a:prstGeom prst="rect">
              <a:avLst/>
            </a:prstGeom>
          </p:spPr>
        </p:pic>
      </p:grpSp>
      <p:cxnSp>
        <p:nvCxnSpPr>
          <p:cNvPr id="11" name="Straight Arrow Connector 10"/>
          <p:cNvCxnSpPr/>
          <p:nvPr/>
        </p:nvCxnSpPr>
        <p:spPr>
          <a:xfrm flipH="1">
            <a:off x="8616317" y="5275607"/>
            <a:ext cx="9287" cy="1196859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V="1">
            <a:off x="8237157" y="5177881"/>
            <a:ext cx="1731" cy="1196858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337541" y="5503793"/>
            <a:ext cx="18575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b="1" dirty="0"/>
              <a:t>Request/input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40646" y="5503793"/>
            <a:ext cx="18842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b="1" dirty="0"/>
              <a:t>Respond/Output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6400" y="5371330"/>
            <a:ext cx="1897787" cy="167717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1771" y="7124700"/>
            <a:ext cx="70216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City Tourism Office System Administrator</a:t>
            </a:r>
            <a:endParaRPr lang="en-PH" sz="2000" b="1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1035" y="7501676"/>
            <a:ext cx="2926254" cy="173299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185447" y="9029700"/>
            <a:ext cx="33129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Tourist/Residents</a:t>
            </a:r>
            <a:endParaRPr lang="en-PH" sz="2000" b="1" dirty="0"/>
          </a:p>
        </p:txBody>
      </p:sp>
      <p:cxnSp>
        <p:nvCxnSpPr>
          <p:cNvPr id="22" name="Straight Arrow Connector 21"/>
          <p:cNvCxnSpPr>
            <a:cxnSpLocks/>
          </p:cNvCxnSpPr>
          <p:nvPr/>
        </p:nvCxnSpPr>
        <p:spPr>
          <a:xfrm>
            <a:off x="4038600" y="6515049"/>
            <a:ext cx="2429693" cy="612647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V="1">
            <a:off x="4535392" y="7549823"/>
            <a:ext cx="1932902" cy="1033532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03326" y="2717442"/>
            <a:ext cx="2426058" cy="2426058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56600" y="6394193"/>
            <a:ext cx="2326299" cy="1308543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93763" y="5835302"/>
            <a:ext cx="2208077" cy="2208077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1165435" y="3198134"/>
            <a:ext cx="10544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b="1" dirty="0"/>
              <a:t>Request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65434" y="4024850"/>
            <a:ext cx="18842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b="1" dirty="0"/>
              <a:t>Respond</a:t>
            </a:r>
          </a:p>
        </p:txBody>
      </p:sp>
      <p:cxnSp>
        <p:nvCxnSpPr>
          <p:cNvPr id="35" name="Straight Arrow Connector 34"/>
          <p:cNvCxnSpPr/>
          <p:nvPr/>
        </p:nvCxnSpPr>
        <p:spPr>
          <a:xfrm>
            <a:off x="10624896" y="3632951"/>
            <a:ext cx="2240925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 flipH="1">
            <a:off x="10566941" y="4013768"/>
            <a:ext cx="2240925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13235246" y="5177881"/>
            <a:ext cx="331291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2100" b="1" dirty="0"/>
              <a:t>Web Server</a:t>
            </a:r>
          </a:p>
          <a:p>
            <a:pPr algn="ctr"/>
            <a:r>
              <a:rPr lang="en-PH" sz="2100" dirty="0"/>
              <a:t>Php, JavaScript, SQL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380013" y="1978496"/>
            <a:ext cx="670327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100" b="1" dirty="0"/>
              <a:t>Interactive Digital Cultural Map and Local Tourism Information System for San Carlos City</a:t>
            </a:r>
            <a:endParaRPr lang="en-PH" sz="2100" b="1" dirty="0"/>
          </a:p>
        </p:txBody>
      </p:sp>
      <p:sp>
        <p:nvSpPr>
          <p:cNvPr id="41" name="TextBox 40"/>
          <p:cNvSpPr txBox="1"/>
          <p:nvPr/>
        </p:nvSpPr>
        <p:spPr>
          <a:xfrm>
            <a:off x="11745359" y="7674173"/>
            <a:ext cx="331291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2100" b="1" dirty="0"/>
              <a:t>File System</a:t>
            </a:r>
          </a:p>
          <a:p>
            <a:pPr algn="ctr"/>
            <a:r>
              <a:rPr lang="en-PH" sz="2100" dirty="0"/>
              <a:t>HTML, CSS, Images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731649" y="7785012"/>
            <a:ext cx="331291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2100" b="1" dirty="0"/>
              <a:t>Database</a:t>
            </a:r>
          </a:p>
          <a:p>
            <a:pPr algn="ctr"/>
            <a:r>
              <a:rPr lang="en-PH" sz="2100" dirty="0"/>
              <a:t>MySQL</a:t>
            </a:r>
          </a:p>
        </p:txBody>
      </p:sp>
      <p:sp>
        <p:nvSpPr>
          <p:cNvPr id="43" name="Bent-Up Arrow 42"/>
          <p:cNvSpPr/>
          <p:nvPr/>
        </p:nvSpPr>
        <p:spPr>
          <a:xfrm rot="5400000" flipH="1" flipV="1">
            <a:off x="16022087" y="5506717"/>
            <a:ext cx="597633" cy="591785"/>
          </a:xfrm>
          <a:prstGeom prst="bentUp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2700"/>
          </a:p>
        </p:txBody>
      </p:sp>
      <p:sp>
        <p:nvSpPr>
          <p:cNvPr id="44" name="Bent-Up Arrow 43"/>
          <p:cNvSpPr/>
          <p:nvPr/>
        </p:nvSpPr>
        <p:spPr>
          <a:xfrm rot="5400000" flipV="1">
            <a:off x="14219519" y="6453320"/>
            <a:ext cx="764639" cy="602837"/>
          </a:xfrm>
          <a:prstGeom prst="bentUp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2700"/>
          </a:p>
        </p:txBody>
      </p:sp>
      <p:sp>
        <p:nvSpPr>
          <p:cNvPr id="45" name="Bent-Up Arrow 44"/>
          <p:cNvSpPr/>
          <p:nvPr/>
        </p:nvSpPr>
        <p:spPr>
          <a:xfrm rot="16200000" flipV="1">
            <a:off x="13021956" y="5509566"/>
            <a:ext cx="615723" cy="584175"/>
          </a:xfrm>
          <a:prstGeom prst="bentUpArrow">
            <a:avLst>
              <a:gd name="adj1" fmla="val 25000"/>
              <a:gd name="adj2" fmla="val 26227"/>
              <a:gd name="adj3" fmla="val 25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2700"/>
          </a:p>
        </p:txBody>
      </p:sp>
      <p:sp>
        <p:nvSpPr>
          <p:cNvPr id="46" name="Bent-Up Arrow 45"/>
          <p:cNvSpPr/>
          <p:nvPr/>
        </p:nvSpPr>
        <p:spPr>
          <a:xfrm rot="16200000" flipH="1" flipV="1">
            <a:off x="14955092" y="6460122"/>
            <a:ext cx="759582" cy="584175"/>
          </a:xfrm>
          <a:prstGeom prst="bentUpArrow">
            <a:avLst>
              <a:gd name="adj1" fmla="val 25000"/>
              <a:gd name="adj2" fmla="val 26227"/>
              <a:gd name="adj3" fmla="val 25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2700"/>
          </a:p>
        </p:txBody>
      </p:sp>
      <p:sp>
        <p:nvSpPr>
          <p:cNvPr id="47" name="Oval 46"/>
          <p:cNvSpPr/>
          <p:nvPr/>
        </p:nvSpPr>
        <p:spPr>
          <a:xfrm>
            <a:off x="10566941" y="3531131"/>
            <a:ext cx="165719" cy="18786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2700"/>
          </a:p>
        </p:txBody>
      </p:sp>
      <p:sp>
        <p:nvSpPr>
          <p:cNvPr id="48" name="Oval 47"/>
          <p:cNvSpPr/>
          <p:nvPr/>
        </p:nvSpPr>
        <p:spPr>
          <a:xfrm>
            <a:off x="12695893" y="3930919"/>
            <a:ext cx="165719" cy="18786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2700"/>
          </a:p>
        </p:txBody>
      </p:sp>
      <p:sp>
        <p:nvSpPr>
          <p:cNvPr id="49" name="Oval 48"/>
          <p:cNvSpPr/>
          <p:nvPr/>
        </p:nvSpPr>
        <p:spPr>
          <a:xfrm>
            <a:off x="13007414" y="5966611"/>
            <a:ext cx="216401" cy="185201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2700"/>
          </a:p>
        </p:txBody>
      </p:sp>
      <p:sp>
        <p:nvSpPr>
          <p:cNvPr id="50" name="Oval 49"/>
          <p:cNvSpPr/>
          <p:nvPr/>
        </p:nvSpPr>
        <p:spPr>
          <a:xfrm>
            <a:off x="16439959" y="6017540"/>
            <a:ext cx="216401" cy="185201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2700"/>
          </a:p>
        </p:txBody>
      </p:sp>
      <p:sp>
        <p:nvSpPr>
          <p:cNvPr id="51" name="Oval 50"/>
          <p:cNvSpPr/>
          <p:nvPr/>
        </p:nvSpPr>
        <p:spPr>
          <a:xfrm>
            <a:off x="14716022" y="6299641"/>
            <a:ext cx="216401" cy="185201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2700"/>
          </a:p>
        </p:txBody>
      </p:sp>
      <p:sp>
        <p:nvSpPr>
          <p:cNvPr id="52" name="Oval 51"/>
          <p:cNvSpPr/>
          <p:nvPr/>
        </p:nvSpPr>
        <p:spPr>
          <a:xfrm>
            <a:off x="15009788" y="6301546"/>
            <a:ext cx="216401" cy="185201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270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007B10C-4CB8-5DEE-FCEC-7A6652611BAF}"/>
              </a:ext>
            </a:extLst>
          </p:cNvPr>
          <p:cNvCxnSpPr>
            <a:cxnSpLocks/>
          </p:cNvCxnSpPr>
          <p:nvPr/>
        </p:nvCxnSpPr>
        <p:spPr>
          <a:xfrm>
            <a:off x="3851491" y="4024848"/>
            <a:ext cx="2602415" cy="2490201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Picture 22">
            <a:extLst>
              <a:ext uri="{FF2B5EF4-FFF2-40B4-BE49-F238E27FC236}">
                <a16:creationId xmlns:a16="http://schemas.microsoft.com/office/drawing/2014/main" id="{3BB52515-BF68-B31D-5286-5671B991AF50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5771" y="2689940"/>
            <a:ext cx="1463229" cy="1570952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F65167E2-634C-0037-8711-8E1C15083510}"/>
              </a:ext>
            </a:extLst>
          </p:cNvPr>
          <p:cNvSpPr txBox="1"/>
          <p:nvPr/>
        </p:nvSpPr>
        <p:spPr>
          <a:xfrm>
            <a:off x="685800" y="4305300"/>
            <a:ext cx="38080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City Tourism Office  Staff</a:t>
            </a:r>
            <a:endParaRPr lang="en-PH" sz="2000" b="1" dirty="0"/>
          </a:p>
        </p:txBody>
      </p:sp>
    </p:spTree>
    <p:extLst>
      <p:ext uri="{BB962C8B-B14F-4D97-AF65-F5344CB8AC3E}">
        <p14:creationId xmlns:p14="http://schemas.microsoft.com/office/powerpoint/2010/main" val="408671367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98541"/>
            <a:ext cx="18288000" cy="10385541"/>
          </a:xfrm>
          <a:custGeom>
            <a:avLst/>
            <a:gdLst/>
            <a:ahLst/>
            <a:cxnLst/>
            <a:rect l="l" t="t" r="r" b="b"/>
            <a:pathLst>
              <a:path w="18288000" h="10385541">
                <a:moveTo>
                  <a:pt x="0" y="0"/>
                </a:moveTo>
                <a:lnTo>
                  <a:pt x="18288000" y="0"/>
                </a:lnTo>
                <a:lnTo>
                  <a:pt x="18288000" y="10385541"/>
                </a:lnTo>
                <a:lnTo>
                  <a:pt x="0" y="103855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696" b="-8696"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" name="Freeform 3"/>
          <p:cNvSpPr/>
          <p:nvPr/>
        </p:nvSpPr>
        <p:spPr>
          <a:xfrm>
            <a:off x="4279026" y="2816628"/>
            <a:ext cx="9994700" cy="2816688"/>
          </a:xfrm>
          <a:custGeom>
            <a:avLst/>
            <a:gdLst/>
            <a:ahLst/>
            <a:cxnLst/>
            <a:rect l="l" t="t" r="r" b="b"/>
            <a:pathLst>
              <a:path w="9994700" h="2816688">
                <a:moveTo>
                  <a:pt x="0" y="0"/>
                </a:moveTo>
                <a:lnTo>
                  <a:pt x="9994700" y="0"/>
                </a:lnTo>
                <a:lnTo>
                  <a:pt x="9994700" y="2816688"/>
                </a:lnTo>
                <a:lnTo>
                  <a:pt x="0" y="281668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1345</Words>
  <Application>Microsoft Office PowerPoint</Application>
  <PresentationFormat>Custom</PresentationFormat>
  <Paragraphs>151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8" baseType="lpstr">
      <vt:lpstr>Times New Roman Bold</vt:lpstr>
      <vt:lpstr>Times New Roman MT Condensed</vt:lpstr>
      <vt:lpstr>Calibri</vt:lpstr>
      <vt:lpstr>Arial</vt:lpstr>
      <vt:lpstr>ADLaM Display</vt:lpstr>
      <vt:lpstr>Glacial Indifference</vt:lpstr>
      <vt:lpstr>Bebas Neue</vt:lpstr>
      <vt:lpstr>Calibri (MS) Bold</vt:lpstr>
      <vt:lpstr>Times New Roman</vt:lpstr>
      <vt:lpstr>Times New Roman MT Bold</vt:lpstr>
      <vt:lpstr>Times New Roman MT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System Architecture Design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BSIT Capstone Project 1 </dc:title>
  <cp:lastModifiedBy>Windows User</cp:lastModifiedBy>
  <cp:revision>5</cp:revision>
  <dcterms:created xsi:type="dcterms:W3CDTF">2006-08-16T00:00:00Z</dcterms:created>
  <dcterms:modified xsi:type="dcterms:W3CDTF">2026-03-18T06:33:40Z</dcterms:modified>
  <dc:identifier>DAHB12-g-LU</dc:identifier>
</cp:coreProperties>
</file>