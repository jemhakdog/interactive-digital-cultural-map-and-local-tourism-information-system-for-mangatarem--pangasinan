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3" r:id="rId7"/>
    <p:sldId id="261" r:id="rId8"/>
    <p:sldId id="262" r:id="rId9"/>
    <p:sldId id="263" r:id="rId10"/>
    <p:sldId id="264" r:id="rId11"/>
    <p:sldId id="270" r:id="rId12"/>
    <p:sldId id="271" r:id="rId13"/>
    <p:sldId id="265" r:id="rId14"/>
    <p:sldId id="269" r:id="rId15"/>
    <p:sldId id="277" r:id="rId16"/>
    <p:sldId id="280" r:id="rId17"/>
    <p:sldId id="276" r:id="rId18"/>
    <p:sldId id="281" r:id="rId19"/>
    <p:sldId id="283" r:id="rId20"/>
    <p:sldId id="284" r:id="rId21"/>
    <p:sldId id="285" r:id="rId22"/>
    <p:sldId id="286" r:id="rId23"/>
    <p:sldId id="289"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97B"/>
    <a:srgbClr val="26A69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9127" autoAdjust="0"/>
  </p:normalViewPr>
  <p:slideViewPr>
    <p:cSldViewPr snapToGrid="0" snapToObjects="1">
      <p:cViewPr>
        <p:scale>
          <a:sx n="50" d="100"/>
          <a:sy n="50" d="100"/>
        </p:scale>
        <p:origin x="588" y="4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jpg"/></Relationships>
</file>

<file path=ppt/slides/_rels/slide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7.jpg"/><Relationship Id="rId4" Type="http://schemas.openxmlformats.org/officeDocument/2006/relationships/image" Target="../media/image21.png"/><Relationship Id="rId9" Type="http://schemas.openxmlformats.org/officeDocument/2006/relationships/image" Target="../media/image26.png"/></Relationships>
</file>

<file path=ppt/slides/_rels/slide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s>
</file>

<file path=ppt/slides/_rels/slide5.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46.png"/></Relationships>
</file>

<file path=ppt/slides/_rels/slide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7.xml.rels><?xml version="1.0" encoding="UTF-8" standalone="yes"?>
<Relationships xmlns="http://schemas.openxmlformats.org/package/2006/relationships"><Relationship Id="rId8" Type="http://schemas.openxmlformats.org/officeDocument/2006/relationships/image" Target="../media/image54.png"/><Relationship Id="rId13" Type="http://schemas.openxmlformats.org/officeDocument/2006/relationships/image" Target="../media/image59.png"/><Relationship Id="rId3" Type="http://schemas.openxmlformats.org/officeDocument/2006/relationships/image" Target="../media/image49.png"/><Relationship Id="rId7" Type="http://schemas.openxmlformats.org/officeDocument/2006/relationships/image" Target="../media/image53.png"/><Relationship Id="rId12" Type="http://schemas.openxmlformats.org/officeDocument/2006/relationships/image" Target="../media/image58.png"/><Relationship Id="rId17" Type="http://schemas.openxmlformats.org/officeDocument/2006/relationships/image" Target="../media/image63.png"/><Relationship Id="rId2" Type="http://schemas.openxmlformats.org/officeDocument/2006/relationships/image" Target="../media/image48.png"/><Relationship Id="rId16" Type="http://schemas.openxmlformats.org/officeDocument/2006/relationships/image" Target="../media/image62.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5" Type="http://schemas.openxmlformats.org/officeDocument/2006/relationships/image" Target="../media/image6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 Id="rId14" Type="http://schemas.openxmlformats.org/officeDocument/2006/relationships/image" Target="../media/image60.png"/></Relationships>
</file>

<file path=ppt/slides/_rels/slide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5" Type="http://schemas.openxmlformats.org/officeDocument/2006/relationships/image" Target="../media/image67.png"/><Relationship Id="rId4" Type="http://schemas.openxmlformats.org/officeDocument/2006/relationships/image" Target="../media/image66.png"/></Relationships>
</file>

<file path=ppt/slides/_rels/slide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68.png"/></Relationships>
</file>

<file path=ppt/slides/_rels/slide10.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69.png"/><Relationship Id="rId7" Type="http://schemas.openxmlformats.org/officeDocument/2006/relationships/image" Target="../media/image73.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1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7.xml"/><Relationship Id="rId5" Type="http://schemas.openxmlformats.org/officeDocument/2006/relationships/image" Target="../media/image78.png"/><Relationship Id="rId4" Type="http://schemas.openxmlformats.org/officeDocument/2006/relationships/image" Target="../media/image77.png"/></Relationships>
</file>

<file path=ppt/slides/_rels/slide1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65.png"/><Relationship Id="rId1" Type="http://schemas.openxmlformats.org/officeDocument/2006/relationships/slideLayout" Target="../slideLayouts/slideLayout7.xml"/><Relationship Id="rId5" Type="http://schemas.openxmlformats.org/officeDocument/2006/relationships/image" Target="../media/image81.png"/><Relationship Id="rId4" Type="http://schemas.openxmlformats.org/officeDocument/2006/relationships/image" Target="../media/image80.png"/></Relationships>
</file>

<file path=ppt/slides/_rels/slide13.xml.rels><?xml version="1.0" encoding="UTF-8" standalone="yes"?>
<Relationships xmlns="http://schemas.openxmlformats.org/package/2006/relationships"><Relationship Id="rId8" Type="http://schemas.openxmlformats.org/officeDocument/2006/relationships/image" Target="../media/image88.jp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82.png"/><Relationship Id="rId1" Type="http://schemas.openxmlformats.org/officeDocument/2006/relationships/slideLayout" Target="../slideLayouts/slideLayout7.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s>
</file>

<file path=ppt/slides/_rels/slide1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Rectangle 1"/>
          <p:cNvSpPr/>
          <p:nvPr/>
        </p:nvSpPr>
        <p:spPr>
          <a:xfrm>
            <a:off x="305" y="13447"/>
            <a:ext cx="12191695" cy="6858000"/>
          </a:xfrm>
          <a:prstGeom prst="rect">
            <a:avLst/>
          </a:prstGeom>
          <a:gradFill rotWithShape="1">
            <a:gsLst>
              <a:gs pos="0">
                <a:srgbClr val="000000">
                  <a:alpha val="60000"/>
                </a:srgbClr>
              </a:gs>
              <a:gs pos="100000">
                <a:srgbClr val="000000">
                  <a:alpha val="60000"/>
                </a:srgbClr>
              </a:gs>
            </a:gsLst>
            <a:lin ang="162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 name="TextBox 2"/>
          <p:cNvSpPr txBox="1"/>
          <p:nvPr/>
        </p:nvSpPr>
        <p:spPr>
          <a:xfrm>
            <a:off x="666733" y="1650440"/>
            <a:ext cx="6240234" cy="2223622"/>
          </a:xfrm>
          <a:prstGeom prst="rect">
            <a:avLst/>
          </a:prstGeom>
          <a:noFill/>
        </p:spPr>
        <p:txBody>
          <a:bodyPr wrap="none" lIns="73152" tIns="54864" rIns="73152" bIns="54864" anchor="ctr">
            <a:spAutoFit/>
          </a:bodyPr>
          <a:lstStyle/>
          <a:p>
            <a:pPr algn="l">
              <a:lnSpc>
                <a:spcPts val="4680"/>
              </a:lnSpc>
              <a:spcBef>
                <a:spcPts val="0"/>
              </a:spcBef>
              <a:spcAft>
                <a:spcPts val="1300"/>
              </a:spcAft>
            </a:pPr>
            <a:r>
              <a:rPr sz="3600" b="1" dirty="0">
                <a:solidFill>
                  <a:srgbClr val="FFFFFF"/>
                </a:solidFill>
              </a:rPr>
              <a:t>Interactive Digital Cultural Map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and Local Tourism Information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System</a:t>
            </a:r>
          </a:p>
        </p:txBody>
      </p:sp>
      <p:sp>
        <p:nvSpPr>
          <p:cNvPr id="4" name="TextBox 3"/>
          <p:cNvSpPr txBox="1"/>
          <p:nvPr/>
        </p:nvSpPr>
        <p:spPr>
          <a:xfrm>
            <a:off x="666733" y="4264901"/>
            <a:ext cx="5434693" cy="357021"/>
          </a:xfrm>
          <a:prstGeom prst="rect">
            <a:avLst/>
          </a:prstGeom>
          <a:noFill/>
        </p:spPr>
        <p:txBody>
          <a:bodyPr wrap="none" lIns="73152" tIns="54864" rIns="73152" bIns="54864" anchor="ctr">
            <a:spAutoFit/>
          </a:bodyPr>
          <a:lstStyle/>
          <a:p>
            <a:pPr algn="l">
              <a:spcBef>
                <a:spcPts val="0"/>
              </a:spcBef>
              <a:spcAft>
                <a:spcPts val="2600"/>
              </a:spcAft>
            </a:pPr>
            <a:r>
              <a:rPr sz="1600" b="0" dirty="0">
                <a:solidFill>
                  <a:srgbClr val="E0F2F1"/>
                </a:solidFill>
              </a:rPr>
              <a:t>A comprehensive solution for </a:t>
            </a:r>
            <a:r>
              <a:rPr sz="1600" b="0" dirty="0" err="1">
                <a:solidFill>
                  <a:srgbClr val="E0F2F1"/>
                </a:solidFill>
              </a:rPr>
              <a:t>Mangatarem</a:t>
            </a:r>
            <a:r>
              <a:rPr sz="1600" b="0" dirty="0">
                <a:solidFill>
                  <a:srgbClr val="E0F2F1"/>
                </a:solidFill>
              </a:rPr>
              <a:t>, Pangasinan tourism</a:t>
            </a:r>
          </a:p>
        </p:txBody>
      </p:sp>
      <p:sp>
        <p:nvSpPr>
          <p:cNvPr id="5" name="TextBox 4"/>
          <p:cNvSpPr txBox="1"/>
          <p:nvPr/>
        </p:nvSpPr>
        <p:spPr>
          <a:xfrm>
            <a:off x="666733" y="4864978"/>
            <a:ext cx="6535251" cy="357021"/>
          </a:xfrm>
          <a:prstGeom prst="rect">
            <a:avLst/>
          </a:prstGeom>
          <a:noFill/>
        </p:spPr>
        <p:txBody>
          <a:bodyPr wrap="none" lIns="73152" tIns="54864" rIns="73152" bIns="54864" anchor="ctr">
            <a:spAutoFit/>
          </a:bodyPr>
          <a:lstStyle/>
          <a:p>
            <a:pPr algn="l">
              <a:spcBef>
                <a:spcPts val="0"/>
              </a:spcBef>
              <a:spcAft>
                <a:spcPts val="650"/>
              </a:spcAft>
            </a:pPr>
            <a:r>
              <a:rPr sz="1600" b="0" dirty="0">
                <a:solidFill>
                  <a:srgbClr val="E0F2F1"/>
                </a:solidFill>
              </a:rPr>
              <a:t>Team </a:t>
            </a:r>
            <a:r>
              <a:rPr sz="1600" b="0" dirty="0" err="1">
                <a:solidFill>
                  <a:srgbClr val="E0F2F1"/>
                </a:solidFill>
              </a:rPr>
              <a:t>Members:</a:t>
            </a:r>
            <a:r>
              <a:rPr lang="en-US" sz="1600" b="0" dirty="0" err="1">
                <a:solidFill>
                  <a:srgbClr val="E0F2F1"/>
                </a:solidFill>
              </a:rPr>
              <a:t>Jem</a:t>
            </a:r>
            <a:r>
              <a:rPr lang="en-US" sz="1600" b="0" dirty="0">
                <a:solidFill>
                  <a:srgbClr val="E0F2F1"/>
                </a:solidFill>
              </a:rPr>
              <a:t> Carlo Austria, Maryjane </a:t>
            </a:r>
            <a:r>
              <a:rPr lang="en-US" sz="1600" b="0" dirty="0" err="1">
                <a:solidFill>
                  <a:srgbClr val="E0F2F1"/>
                </a:solidFill>
              </a:rPr>
              <a:t>Dalas,Rea</a:t>
            </a:r>
            <a:r>
              <a:rPr lang="en-US" sz="1600" b="0" dirty="0">
                <a:solidFill>
                  <a:srgbClr val="E0F2F1"/>
                </a:solidFill>
              </a:rPr>
              <a:t> Solis , Joy De Guzman</a:t>
            </a:r>
            <a:endParaRPr sz="1600" b="0" dirty="0">
              <a:solidFill>
                <a:srgbClr val="E0F2F1"/>
              </a:solidFill>
            </a:endParaRPr>
          </a:p>
        </p:txBody>
      </p:sp>
      <p:sp>
        <p:nvSpPr>
          <p:cNvPr id="6" name="TextBox 5"/>
          <p:cNvSpPr txBox="1"/>
          <p:nvPr/>
        </p:nvSpPr>
        <p:spPr>
          <a:xfrm>
            <a:off x="666733" y="5188828"/>
            <a:ext cx="910186" cy="357021"/>
          </a:xfrm>
          <a:prstGeom prst="rect">
            <a:avLst/>
          </a:prstGeom>
          <a:noFill/>
        </p:spPr>
        <p:txBody>
          <a:bodyPr wrap="none" lIns="73152" tIns="54864" rIns="73152" bIns="54864" anchor="ctr">
            <a:spAutoFit/>
          </a:bodyPr>
          <a:lstStyle/>
          <a:p>
            <a:pPr algn="l">
              <a:spcBef>
                <a:spcPts val="0"/>
              </a:spcBef>
              <a:spcAft>
                <a:spcPts val="0"/>
              </a:spcAft>
            </a:pPr>
            <a:r>
              <a:rPr lang="en-US" sz="1600" b="0" dirty="0">
                <a:solidFill>
                  <a:srgbClr val="B2DFDB"/>
                </a:solidFill>
              </a:rPr>
              <a:t>Team: B3</a:t>
            </a:r>
            <a:endParaRPr sz="1600" b="0" dirty="0">
              <a:solidFill>
                <a:srgbClr val="B2DFDB"/>
              </a:solidFill>
            </a:endParaRPr>
          </a:p>
        </p:txBody>
      </p:sp>
      <p:sp>
        <p:nvSpPr>
          <p:cNvPr id="7" name="Rounded Rectangle 6"/>
          <p:cNvSpPr/>
          <p:nvPr/>
        </p:nvSpPr>
        <p:spPr>
          <a:xfrm>
            <a:off x="7505512" y="2238375"/>
            <a:ext cx="4019449" cy="2381250"/>
          </a:xfrm>
          <a:prstGeom prst="roundRect">
            <a:avLst>
              <a:gd name="adj" fmla="val 8000"/>
            </a:avLst>
          </a:prstGeom>
          <a:solidFill>
            <a:srgbClr val="26A69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pic>
        <p:nvPicPr>
          <p:cNvPr id="8" name="Picture 7" descr="image.png"/>
          <p:cNvPicPr>
            <a:picLocks noChangeAspect="1"/>
          </p:cNvPicPr>
          <p:nvPr/>
        </p:nvPicPr>
        <p:blipFill>
          <a:blip r:embed="rId3">
            <a:alphaModFix/>
          </a:blip>
          <a:stretch>
            <a:fillRect/>
          </a:stretch>
        </p:blipFill>
        <p:spPr>
          <a:xfrm>
            <a:off x="7743631" y="2502217"/>
            <a:ext cx="228594" cy="177164"/>
          </a:xfrm>
          <a:prstGeom prst="rect">
            <a:avLst/>
          </a:prstGeom>
        </p:spPr>
      </p:pic>
      <p:sp>
        <p:nvSpPr>
          <p:cNvPr id="9" name="TextBox 8"/>
          <p:cNvSpPr txBox="1"/>
          <p:nvPr/>
        </p:nvSpPr>
        <p:spPr>
          <a:xfrm>
            <a:off x="8115097" y="2407526"/>
            <a:ext cx="2580194"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Interactive Cultural Mapping</a:t>
            </a:r>
          </a:p>
        </p:txBody>
      </p:sp>
      <p:pic>
        <p:nvPicPr>
          <p:cNvPr id="10" name="Picture 9" descr="image.png"/>
          <p:cNvPicPr>
            <a:picLocks noChangeAspect="1"/>
          </p:cNvPicPr>
          <p:nvPr/>
        </p:nvPicPr>
        <p:blipFill>
          <a:blip r:embed="rId4">
            <a:alphaModFix/>
          </a:blip>
          <a:stretch>
            <a:fillRect/>
          </a:stretch>
        </p:blipFill>
        <p:spPr>
          <a:xfrm>
            <a:off x="7743631" y="2912745"/>
            <a:ext cx="228594" cy="194309"/>
          </a:xfrm>
          <a:prstGeom prst="rect">
            <a:avLst/>
          </a:prstGeom>
        </p:spPr>
      </p:pic>
      <p:sp>
        <p:nvSpPr>
          <p:cNvPr id="11" name="TextBox 10"/>
          <p:cNvSpPr txBox="1"/>
          <p:nvPr/>
        </p:nvSpPr>
        <p:spPr>
          <a:xfrm>
            <a:off x="8115097" y="2826627"/>
            <a:ext cx="2444515"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Tourism Information Portal</a:t>
            </a:r>
          </a:p>
        </p:txBody>
      </p:sp>
      <p:pic>
        <p:nvPicPr>
          <p:cNvPr id="12" name="Picture 11" descr="image.png"/>
          <p:cNvPicPr>
            <a:picLocks noChangeAspect="1"/>
          </p:cNvPicPr>
          <p:nvPr/>
        </p:nvPicPr>
        <p:blipFill>
          <a:blip r:embed="rId5">
            <a:alphaModFix/>
          </a:blip>
          <a:stretch>
            <a:fillRect/>
          </a:stretch>
        </p:blipFill>
        <p:spPr>
          <a:xfrm>
            <a:off x="7743631" y="3330416"/>
            <a:ext cx="228594" cy="197167"/>
          </a:xfrm>
          <a:prstGeom prst="rect">
            <a:avLst/>
          </a:prstGeom>
        </p:spPr>
      </p:pic>
      <p:sp>
        <p:nvSpPr>
          <p:cNvPr id="13" name="TextBox 12"/>
          <p:cNvSpPr txBox="1"/>
          <p:nvPr/>
        </p:nvSpPr>
        <p:spPr>
          <a:xfrm>
            <a:off x="8115097" y="3245727"/>
            <a:ext cx="2415918"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Events &amp; Festival Directory</a:t>
            </a:r>
          </a:p>
        </p:txBody>
      </p:sp>
      <p:pic>
        <p:nvPicPr>
          <p:cNvPr id="14" name="Picture 13" descr="image.png"/>
          <p:cNvPicPr>
            <a:picLocks noChangeAspect="1"/>
          </p:cNvPicPr>
          <p:nvPr/>
        </p:nvPicPr>
        <p:blipFill>
          <a:blip r:embed="rId6">
            <a:alphaModFix/>
          </a:blip>
          <a:stretch>
            <a:fillRect/>
          </a:stretch>
        </p:blipFill>
        <p:spPr>
          <a:xfrm>
            <a:off x="7743631" y="3750944"/>
            <a:ext cx="228594" cy="194309"/>
          </a:xfrm>
          <a:prstGeom prst="rect">
            <a:avLst/>
          </a:prstGeom>
        </p:spPr>
      </p:pic>
      <p:sp>
        <p:nvSpPr>
          <p:cNvPr id="15" name="TextBox 14"/>
          <p:cNvSpPr txBox="1"/>
          <p:nvPr/>
        </p:nvSpPr>
        <p:spPr>
          <a:xfrm>
            <a:off x="8115097" y="3664826"/>
            <a:ext cx="1791709"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Multimedia Gallery</a:t>
            </a:r>
          </a:p>
        </p:txBody>
      </p:sp>
      <p:pic>
        <p:nvPicPr>
          <p:cNvPr id="16" name="Picture 15" descr="image.png"/>
          <p:cNvPicPr>
            <a:picLocks noChangeAspect="1"/>
          </p:cNvPicPr>
          <p:nvPr/>
        </p:nvPicPr>
        <p:blipFill>
          <a:blip r:embed="rId7">
            <a:alphaModFix/>
          </a:blip>
          <a:stretch>
            <a:fillRect/>
          </a:stretch>
        </p:blipFill>
        <p:spPr>
          <a:xfrm>
            <a:off x="7743631" y="4180046"/>
            <a:ext cx="228594" cy="174307"/>
          </a:xfrm>
          <a:prstGeom prst="rect">
            <a:avLst/>
          </a:prstGeom>
        </p:spPr>
      </p:pic>
      <p:sp>
        <p:nvSpPr>
          <p:cNvPr id="17" name="TextBox 16"/>
          <p:cNvSpPr txBox="1"/>
          <p:nvPr/>
        </p:nvSpPr>
        <p:spPr>
          <a:xfrm>
            <a:off x="8115097" y="4083927"/>
            <a:ext cx="2763321" cy="357021"/>
          </a:xfrm>
          <a:prstGeom prst="rect">
            <a:avLst/>
          </a:prstGeom>
          <a:noFill/>
        </p:spPr>
        <p:txBody>
          <a:bodyPr wrap="none" lIns="73152" tIns="54864" rIns="73152" bIns="54864" anchor="ctr">
            <a:spAutoFit/>
          </a:bodyPr>
          <a:lstStyle/>
          <a:p>
            <a:pPr algn="l">
              <a:spcBef>
                <a:spcPts val="0"/>
              </a:spcBef>
              <a:spcAft>
                <a:spcPts val="0"/>
              </a:spcAft>
            </a:pPr>
            <a:r>
              <a:rPr sz="1600" b="1" dirty="0">
                <a:solidFill>
                  <a:srgbClr val="FFFFFF"/>
                </a:solidFill>
              </a:rPr>
              <a:t>Advanced Search &amp; Filter Tools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6202724" cy="603242"/>
          </a:xfrm>
          <a:prstGeom prst="rect">
            <a:avLst/>
          </a:prstGeom>
          <a:noFill/>
        </p:spPr>
        <p:txBody>
          <a:bodyPr wrap="none" lIns="73152" tIns="54864" rIns="73152" bIns="54864" anchor="ctr">
            <a:spAutoFit/>
          </a:bodyPr>
          <a:lstStyle/>
          <a:p>
            <a:pPr algn="l">
              <a:spcBef>
                <a:spcPts val="0"/>
              </a:spcBef>
              <a:spcAft>
                <a:spcPts val="650"/>
              </a:spcAft>
            </a:pPr>
            <a:r>
              <a:rPr sz="3200" b="1">
                <a:solidFill>
                  <a:srgbClr val="FFFFFF"/>
                </a:solidFill>
              </a:rPr>
              <a:t>Company/Organization Background</a:t>
            </a:r>
          </a:p>
        </p:txBody>
      </p:sp>
      <p:sp>
        <p:nvSpPr>
          <p:cNvPr id="4" name="Rounded Rectangle 3"/>
          <p:cNvSpPr/>
          <p:nvPr/>
        </p:nvSpPr>
        <p:spPr>
          <a:xfrm>
            <a:off x="666733" y="1428750"/>
            <a:ext cx="5686282" cy="2676524"/>
          </a:xfrm>
          <a:prstGeom prst="roundRect">
            <a:avLst>
              <a:gd name="adj" fmla="val 5693"/>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5" name="Picture 4" descr="image.png"/>
          <p:cNvPicPr>
            <a:picLocks noChangeAspect="1"/>
          </p:cNvPicPr>
          <p:nvPr/>
        </p:nvPicPr>
        <p:blipFill>
          <a:blip r:embed="rId2">
            <a:alphaModFix/>
          </a:blip>
          <a:stretch>
            <a:fillRect/>
          </a:stretch>
        </p:blipFill>
        <p:spPr>
          <a:xfrm>
            <a:off x="857228" y="1659731"/>
            <a:ext cx="228594" cy="185737"/>
          </a:xfrm>
          <a:prstGeom prst="rect">
            <a:avLst/>
          </a:prstGeom>
        </p:spPr>
      </p:pic>
      <p:sp>
        <p:nvSpPr>
          <p:cNvPr id="6" name="TextBox 5"/>
          <p:cNvSpPr txBox="1"/>
          <p:nvPr/>
        </p:nvSpPr>
        <p:spPr>
          <a:xfrm>
            <a:off x="1181070" y="1558701"/>
            <a:ext cx="2501967"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Mangatarem LGU Profile</a:t>
            </a:r>
          </a:p>
        </p:txBody>
      </p:sp>
      <p:pic>
        <p:nvPicPr>
          <p:cNvPr id="7" name="Picture 6" descr="image.png"/>
          <p:cNvPicPr>
            <a:picLocks noChangeAspect="1"/>
          </p:cNvPicPr>
          <p:nvPr/>
        </p:nvPicPr>
        <p:blipFill>
          <a:blip r:embed="rId3">
            <a:alphaModFix/>
          </a:blip>
          <a:stretch>
            <a:fillRect/>
          </a:stretch>
        </p:blipFill>
        <p:spPr>
          <a:xfrm>
            <a:off x="857228" y="2061882"/>
            <a:ext cx="190495" cy="162485"/>
          </a:xfrm>
          <a:prstGeom prst="rect">
            <a:avLst/>
          </a:prstGeom>
        </p:spPr>
      </p:pic>
      <p:sp>
        <p:nvSpPr>
          <p:cNvPr id="8" name="TextBox 7"/>
          <p:cNvSpPr txBox="1"/>
          <p:nvPr/>
        </p:nvSpPr>
        <p:spPr>
          <a:xfrm>
            <a:off x="1142971" y="1975242"/>
            <a:ext cx="3588868"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1st-class</a:t>
            </a:r>
            <a:r>
              <a:rPr sz="1400" b="0">
                <a:solidFill>
                  <a:srgbClr val="333333"/>
                </a:solidFill>
              </a:rPr>
              <a:t> landlocked municipality in Pangasinan</a:t>
            </a:r>
          </a:p>
        </p:txBody>
      </p:sp>
      <p:pic>
        <p:nvPicPr>
          <p:cNvPr id="9" name="Picture 8" descr="image.png"/>
          <p:cNvPicPr>
            <a:picLocks noChangeAspect="1"/>
          </p:cNvPicPr>
          <p:nvPr/>
        </p:nvPicPr>
        <p:blipFill>
          <a:blip r:embed="rId4">
            <a:alphaModFix/>
          </a:blip>
          <a:stretch>
            <a:fillRect/>
          </a:stretch>
        </p:blipFill>
        <p:spPr>
          <a:xfrm>
            <a:off x="857228" y="2423272"/>
            <a:ext cx="190495" cy="106455"/>
          </a:xfrm>
          <a:prstGeom prst="rect">
            <a:avLst/>
          </a:prstGeom>
        </p:spPr>
      </p:pic>
      <p:sp>
        <p:nvSpPr>
          <p:cNvPr id="10" name="TextBox 9"/>
          <p:cNvSpPr txBox="1"/>
          <p:nvPr/>
        </p:nvSpPr>
        <p:spPr>
          <a:xfrm>
            <a:off x="1142971" y="2308616"/>
            <a:ext cx="4059766"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Largest town</a:t>
            </a:r>
            <a:r>
              <a:rPr sz="1400" b="0">
                <a:solidFill>
                  <a:srgbClr val="333333"/>
                </a:solidFill>
              </a:rPr>
              <a:t> in Pangasinan by land area (317.50 km²)</a:t>
            </a:r>
          </a:p>
        </p:txBody>
      </p:sp>
      <p:pic>
        <p:nvPicPr>
          <p:cNvPr id="11" name="Picture 10" descr="image.png"/>
          <p:cNvPicPr>
            <a:picLocks noChangeAspect="1"/>
          </p:cNvPicPr>
          <p:nvPr/>
        </p:nvPicPr>
        <p:blipFill>
          <a:blip r:embed="rId5">
            <a:alphaModFix/>
          </a:blip>
          <a:stretch>
            <a:fillRect/>
          </a:stretch>
        </p:blipFill>
        <p:spPr>
          <a:xfrm>
            <a:off x="857228" y="2756647"/>
            <a:ext cx="190495" cy="106455"/>
          </a:xfrm>
          <a:prstGeom prst="rect">
            <a:avLst/>
          </a:prstGeom>
        </p:spPr>
      </p:pic>
      <p:sp>
        <p:nvSpPr>
          <p:cNvPr id="12" name="TextBox 11"/>
          <p:cNvSpPr txBox="1"/>
          <p:nvPr/>
        </p:nvSpPr>
        <p:spPr>
          <a:xfrm>
            <a:off x="1142971" y="2641992"/>
            <a:ext cx="3849387"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Population: </a:t>
            </a:r>
            <a:r>
              <a:rPr sz="1400" b="1">
                <a:solidFill>
                  <a:srgbClr val="00897B"/>
                </a:solidFill>
              </a:rPr>
              <a:t>79,323-79,648</a:t>
            </a:r>
            <a:r>
              <a:rPr sz="1400" b="0">
                <a:solidFill>
                  <a:srgbClr val="333333"/>
                </a:solidFill>
              </a:rPr>
              <a:t> residents (2020 census)</a:t>
            </a:r>
          </a:p>
        </p:txBody>
      </p:sp>
      <p:pic>
        <p:nvPicPr>
          <p:cNvPr id="13" name="Picture 12" descr="image.png"/>
          <p:cNvPicPr>
            <a:picLocks noChangeAspect="1"/>
          </p:cNvPicPr>
          <p:nvPr/>
        </p:nvPicPr>
        <p:blipFill>
          <a:blip r:embed="rId6">
            <a:alphaModFix/>
          </a:blip>
          <a:stretch>
            <a:fillRect/>
          </a:stretch>
        </p:blipFill>
        <p:spPr>
          <a:xfrm>
            <a:off x="857228" y="3062007"/>
            <a:ext cx="190495" cy="162485"/>
          </a:xfrm>
          <a:prstGeom prst="rect">
            <a:avLst/>
          </a:prstGeom>
        </p:spPr>
      </p:pic>
      <p:sp>
        <p:nvSpPr>
          <p:cNvPr id="14" name="TextBox 13"/>
          <p:cNvSpPr txBox="1"/>
          <p:nvPr/>
        </p:nvSpPr>
        <p:spPr>
          <a:xfrm>
            <a:off x="1142971" y="2975367"/>
            <a:ext cx="2842445"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82 barangays</a:t>
            </a:r>
            <a:r>
              <a:rPr sz="1400" b="0">
                <a:solidFill>
                  <a:srgbClr val="333333"/>
                </a:solidFill>
              </a:rPr>
              <a:t> across the municipality</a:t>
            </a:r>
          </a:p>
        </p:txBody>
      </p:sp>
      <p:pic>
        <p:nvPicPr>
          <p:cNvPr id="15" name="Picture 14" descr="image.png"/>
          <p:cNvPicPr>
            <a:picLocks noChangeAspect="1"/>
          </p:cNvPicPr>
          <p:nvPr/>
        </p:nvPicPr>
        <p:blipFill>
          <a:blip r:embed="rId7">
            <a:alphaModFix/>
          </a:blip>
          <a:stretch>
            <a:fillRect/>
          </a:stretch>
        </p:blipFill>
        <p:spPr>
          <a:xfrm>
            <a:off x="857228" y="3395382"/>
            <a:ext cx="190495" cy="162485"/>
          </a:xfrm>
          <a:prstGeom prst="rect">
            <a:avLst/>
          </a:prstGeom>
        </p:spPr>
      </p:pic>
      <p:sp>
        <p:nvSpPr>
          <p:cNvPr id="16" name="TextBox 15"/>
          <p:cNvSpPr txBox="1"/>
          <p:nvPr/>
        </p:nvSpPr>
        <p:spPr>
          <a:xfrm>
            <a:off x="1142971" y="3310556"/>
            <a:ext cx="5019549" cy="541687"/>
          </a:xfrm>
          <a:prstGeom prst="rect">
            <a:avLst/>
          </a:prstGeom>
          <a:noFill/>
        </p:spPr>
        <p:txBody>
          <a:bodyPr wrap="square" lIns="73152" tIns="54864" rIns="73152" bIns="54864" anchor="ctr">
            <a:spAutoFit/>
          </a:bodyPr>
          <a:lstStyle/>
          <a:p>
            <a:pPr algn="l">
              <a:spcBef>
                <a:spcPts val="0"/>
              </a:spcBef>
              <a:spcAft>
                <a:spcPts val="0"/>
              </a:spcAft>
            </a:pPr>
            <a:r>
              <a:rPr sz="1400" b="0">
                <a:solidFill>
                  <a:srgbClr val="333333"/>
                </a:solidFill>
              </a:rPr>
              <a:t>Promotes </a:t>
            </a:r>
            <a:r>
              <a:rPr sz="1400" b="1">
                <a:solidFill>
                  <a:srgbClr val="00897B"/>
                </a:solidFill>
              </a:rPr>
              <a:t>eco-tourism initiatives</a:t>
            </a:r>
            <a:r>
              <a:rPr sz="1400" b="0">
                <a:solidFill>
                  <a:srgbClr val="333333"/>
                </a:solidFill>
              </a:rPr>
              <a:t> and hosts festivals like the Tupig Festival</a:t>
            </a:r>
          </a:p>
        </p:txBody>
      </p:sp>
      <p:sp>
        <p:nvSpPr>
          <p:cNvPr id="17" name="Rounded Rectangle 16"/>
          <p:cNvSpPr/>
          <p:nvPr/>
        </p:nvSpPr>
        <p:spPr>
          <a:xfrm>
            <a:off x="666733" y="4295774"/>
            <a:ext cx="5686282"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8" name="Rounded Rectangle 17"/>
          <p:cNvSpPr/>
          <p:nvPr/>
        </p:nvSpPr>
        <p:spPr>
          <a:xfrm>
            <a:off x="857228" y="4495799"/>
            <a:ext cx="761980" cy="76199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8">
            <a:alphaModFix/>
          </a:blip>
          <a:stretch>
            <a:fillRect/>
          </a:stretch>
        </p:blipFill>
        <p:spPr>
          <a:xfrm>
            <a:off x="1047723" y="4742854"/>
            <a:ext cx="380990" cy="267890"/>
          </a:xfrm>
          <a:prstGeom prst="rect">
            <a:avLst/>
          </a:prstGeom>
        </p:spPr>
      </p:pic>
      <p:sp>
        <p:nvSpPr>
          <p:cNvPr id="20" name="TextBox 19"/>
          <p:cNvSpPr txBox="1"/>
          <p:nvPr/>
        </p:nvSpPr>
        <p:spPr>
          <a:xfrm>
            <a:off x="1809704" y="4425726"/>
            <a:ext cx="2121606" cy="387798"/>
          </a:xfrm>
          <a:prstGeom prst="rect">
            <a:avLst/>
          </a:prstGeom>
          <a:noFill/>
        </p:spPr>
        <p:txBody>
          <a:bodyPr wrap="none" lIns="73152" tIns="54864" rIns="73152" bIns="54864" anchor="ctr">
            <a:spAutoFit/>
          </a:bodyPr>
          <a:lstStyle/>
          <a:p>
            <a:pPr algn="l">
              <a:spcBef>
                <a:spcPts val="0"/>
              </a:spcBef>
              <a:spcAft>
                <a:spcPts val="325"/>
              </a:spcAft>
            </a:pPr>
            <a:r>
              <a:rPr b="1">
                <a:solidFill>
                  <a:srgbClr val="00897B"/>
                </a:solidFill>
              </a:rPr>
              <a:t>Rachelle T. Cabornay</a:t>
            </a:r>
          </a:p>
        </p:txBody>
      </p:sp>
      <p:sp>
        <p:nvSpPr>
          <p:cNvPr id="21" name="TextBox 20"/>
          <p:cNvSpPr txBox="1"/>
          <p:nvPr/>
        </p:nvSpPr>
        <p:spPr>
          <a:xfrm>
            <a:off x="1809704" y="4747017"/>
            <a:ext cx="2615781" cy="326243"/>
          </a:xfrm>
          <a:prstGeom prst="rect">
            <a:avLst/>
          </a:prstGeom>
          <a:noFill/>
        </p:spPr>
        <p:txBody>
          <a:bodyPr wrap="none" lIns="73152" tIns="54864" rIns="73152" bIns="54864" anchor="ctr">
            <a:spAutoFit/>
          </a:bodyPr>
          <a:lstStyle/>
          <a:p>
            <a:pPr algn="l">
              <a:spcBef>
                <a:spcPts val="0"/>
              </a:spcBef>
              <a:spcAft>
                <a:spcPts val="325"/>
              </a:spcAft>
            </a:pPr>
            <a:r>
              <a:rPr sz="1400" b="0">
                <a:solidFill>
                  <a:srgbClr val="333333"/>
                </a:solidFill>
              </a:rPr>
              <a:t>Senior Tourism Operations Officer</a:t>
            </a:r>
          </a:p>
        </p:txBody>
      </p:sp>
      <p:sp>
        <p:nvSpPr>
          <p:cNvPr id="22" name="TextBox 21"/>
          <p:cNvSpPr txBox="1"/>
          <p:nvPr/>
        </p:nvSpPr>
        <p:spPr>
          <a:xfrm>
            <a:off x="1809704" y="5022511"/>
            <a:ext cx="2799100" cy="280077"/>
          </a:xfrm>
          <a:prstGeom prst="rect">
            <a:avLst/>
          </a:prstGeom>
          <a:noFill/>
        </p:spPr>
        <p:txBody>
          <a:bodyPr wrap="none" lIns="73152" tIns="54864" rIns="73152" bIns="54864" anchor="ctr">
            <a:spAutoFit/>
          </a:bodyPr>
          <a:lstStyle/>
          <a:p>
            <a:pPr algn="l">
              <a:spcBef>
                <a:spcPts val="0"/>
              </a:spcBef>
              <a:spcAft>
                <a:spcPts val="0"/>
              </a:spcAft>
            </a:pPr>
            <a:r>
              <a:rPr sz="1100" b="0">
                <a:solidFill>
                  <a:srgbClr val="666666"/>
                </a:solidFill>
              </a:rPr>
              <a:t>Municipal Economic Enterprise Office (M.E.O.)</a:t>
            </a:r>
          </a:p>
        </p:txBody>
      </p:sp>
      <p:sp>
        <p:nvSpPr>
          <p:cNvPr id="23" name="Rectangle 22"/>
          <p:cNvSpPr/>
          <p:nvPr/>
        </p:nvSpPr>
        <p:spPr>
          <a:xfrm>
            <a:off x="6638759" y="1428750"/>
            <a:ext cx="4886202" cy="3047999"/>
          </a:xfrm>
          <a:prstGeom prst="rect">
            <a:avLst/>
          </a:prstGeom>
          <a:blipFill>
            <a:blip r:embed="rId9"/>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4" name="Rounded Rectangle 23"/>
          <p:cNvSpPr/>
          <p:nvPr/>
        </p:nvSpPr>
        <p:spPr>
          <a:xfrm>
            <a:off x="6638759" y="4667249"/>
            <a:ext cx="4886202" cy="2124075"/>
          </a:xfrm>
          <a:prstGeom prst="roundRect">
            <a:avLst>
              <a:gd name="adj" fmla="val 7174"/>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5" name="Picture 24" descr="image.png"/>
          <p:cNvPicPr>
            <a:picLocks noChangeAspect="1"/>
          </p:cNvPicPr>
          <p:nvPr/>
        </p:nvPicPr>
        <p:blipFill>
          <a:blip r:embed="rId10">
            <a:alphaModFix/>
          </a:blip>
          <a:stretch>
            <a:fillRect/>
          </a:stretch>
        </p:blipFill>
        <p:spPr>
          <a:xfrm>
            <a:off x="6829254" y="4893945"/>
            <a:ext cx="228594" cy="194309"/>
          </a:xfrm>
          <a:prstGeom prst="rect">
            <a:avLst/>
          </a:prstGeom>
        </p:spPr>
      </p:pic>
      <p:sp>
        <p:nvSpPr>
          <p:cNvPr id="26" name="TextBox 25"/>
          <p:cNvSpPr txBox="1"/>
          <p:nvPr/>
        </p:nvSpPr>
        <p:spPr>
          <a:xfrm>
            <a:off x="7153096" y="4797201"/>
            <a:ext cx="1924822"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Tourism Relevance</a:t>
            </a:r>
          </a:p>
        </p:txBody>
      </p:sp>
      <p:pic>
        <p:nvPicPr>
          <p:cNvPr id="27" name="Picture 26" descr="image.png"/>
          <p:cNvPicPr>
            <a:picLocks noChangeAspect="1"/>
          </p:cNvPicPr>
          <p:nvPr/>
        </p:nvPicPr>
        <p:blipFill>
          <a:blip r:embed="rId11">
            <a:alphaModFix/>
          </a:blip>
          <a:stretch>
            <a:fillRect/>
          </a:stretch>
        </p:blipFill>
        <p:spPr>
          <a:xfrm>
            <a:off x="6829254" y="5298981"/>
            <a:ext cx="190495" cy="165286"/>
          </a:xfrm>
          <a:prstGeom prst="rect">
            <a:avLst/>
          </a:prstGeom>
        </p:spPr>
      </p:pic>
      <p:sp>
        <p:nvSpPr>
          <p:cNvPr id="28" name="TextBox 27"/>
          <p:cNvSpPr txBox="1"/>
          <p:nvPr/>
        </p:nvSpPr>
        <p:spPr>
          <a:xfrm>
            <a:off x="7114997" y="5213741"/>
            <a:ext cx="3477812"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Hosts </a:t>
            </a:r>
            <a:r>
              <a:rPr sz="1400" b="1">
                <a:solidFill>
                  <a:srgbClr val="00897B"/>
                </a:solidFill>
              </a:rPr>
              <a:t>Tupig Festival</a:t>
            </a:r>
            <a:r>
              <a:rPr sz="1400" b="0">
                <a:solidFill>
                  <a:srgbClr val="333333"/>
                </a:solidFill>
              </a:rPr>
              <a:t> highlighting local farmers</a:t>
            </a:r>
          </a:p>
        </p:txBody>
      </p:sp>
      <p:pic>
        <p:nvPicPr>
          <p:cNvPr id="29" name="Picture 28" descr="image.png"/>
          <p:cNvPicPr>
            <a:picLocks noChangeAspect="1"/>
          </p:cNvPicPr>
          <p:nvPr/>
        </p:nvPicPr>
        <p:blipFill>
          <a:blip r:embed="rId12">
            <a:alphaModFix/>
          </a:blip>
          <a:stretch>
            <a:fillRect/>
          </a:stretch>
        </p:blipFill>
        <p:spPr>
          <a:xfrm>
            <a:off x="6829254" y="5644963"/>
            <a:ext cx="190495" cy="140073"/>
          </a:xfrm>
          <a:prstGeom prst="rect">
            <a:avLst/>
          </a:prstGeom>
        </p:spPr>
      </p:pic>
      <p:sp>
        <p:nvSpPr>
          <p:cNvPr id="30" name="TextBox 29"/>
          <p:cNvSpPr txBox="1"/>
          <p:nvPr/>
        </p:nvSpPr>
        <p:spPr>
          <a:xfrm>
            <a:off x="7114997" y="5547117"/>
            <a:ext cx="3735574"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Develops </a:t>
            </a:r>
            <a:r>
              <a:rPr sz="1400" b="1">
                <a:solidFill>
                  <a:srgbClr val="00897B"/>
                </a:solidFill>
              </a:rPr>
              <a:t>eco-tourism sites</a:t>
            </a:r>
            <a:r>
              <a:rPr sz="1400" b="0">
                <a:solidFill>
                  <a:srgbClr val="333333"/>
                </a:solidFill>
              </a:rPr>
              <a:t> like Manleluag Spring</a:t>
            </a:r>
          </a:p>
        </p:txBody>
      </p:sp>
      <p:pic>
        <p:nvPicPr>
          <p:cNvPr id="31" name="Picture 30" descr="image.png"/>
          <p:cNvPicPr>
            <a:picLocks noChangeAspect="1"/>
          </p:cNvPicPr>
          <p:nvPr/>
        </p:nvPicPr>
        <p:blipFill>
          <a:blip r:embed="rId4">
            <a:alphaModFix/>
          </a:blip>
          <a:stretch>
            <a:fillRect/>
          </a:stretch>
        </p:blipFill>
        <p:spPr>
          <a:xfrm>
            <a:off x="6829254" y="5995147"/>
            <a:ext cx="190495" cy="106455"/>
          </a:xfrm>
          <a:prstGeom prst="rect">
            <a:avLst/>
          </a:prstGeom>
        </p:spPr>
      </p:pic>
      <p:sp>
        <p:nvSpPr>
          <p:cNvPr id="32" name="TextBox 31"/>
          <p:cNvSpPr txBox="1"/>
          <p:nvPr/>
        </p:nvSpPr>
        <p:spPr>
          <a:xfrm>
            <a:off x="7114997" y="5880492"/>
            <a:ext cx="4343753"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Features scenic </a:t>
            </a:r>
            <a:r>
              <a:rPr sz="1400" b="1">
                <a:solidFill>
                  <a:srgbClr val="00897B"/>
                </a:solidFill>
              </a:rPr>
              <a:t>Daang Kalikasan</a:t>
            </a:r>
            <a:r>
              <a:rPr sz="1400" b="0">
                <a:solidFill>
                  <a:srgbClr val="333333"/>
                </a:solidFill>
              </a:rPr>
              <a:t> road linking to Zambales</a:t>
            </a:r>
          </a:p>
        </p:txBody>
      </p:sp>
      <p:pic>
        <p:nvPicPr>
          <p:cNvPr id="33" name="Picture 32" descr="image.png"/>
          <p:cNvPicPr>
            <a:picLocks noChangeAspect="1"/>
          </p:cNvPicPr>
          <p:nvPr/>
        </p:nvPicPr>
        <p:blipFill>
          <a:blip r:embed="rId13">
            <a:alphaModFix/>
          </a:blip>
          <a:stretch>
            <a:fillRect/>
          </a:stretch>
        </p:blipFill>
        <p:spPr>
          <a:xfrm>
            <a:off x="6829254" y="6306110"/>
            <a:ext cx="190495" cy="151279"/>
          </a:xfrm>
          <a:prstGeom prst="rect">
            <a:avLst/>
          </a:prstGeom>
        </p:spPr>
      </p:pic>
      <p:sp>
        <p:nvSpPr>
          <p:cNvPr id="34" name="TextBox 33"/>
          <p:cNvSpPr txBox="1"/>
          <p:nvPr/>
        </p:nvSpPr>
        <p:spPr>
          <a:xfrm>
            <a:off x="7114997" y="6213866"/>
            <a:ext cx="3913828"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Participates in </a:t>
            </a:r>
            <a:r>
              <a:rPr sz="1400" b="1">
                <a:solidFill>
                  <a:srgbClr val="00897B"/>
                </a:solidFill>
              </a:rPr>
              <a:t>Pangasinan-wide agri-tourism expos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F9E4A641-8ECA-83E4-2A66-253DC0E57AA4}"/>
              </a:ext>
            </a:extLst>
          </p:cNvPr>
          <p:cNvGrpSpPr/>
          <p:nvPr/>
        </p:nvGrpSpPr>
        <p:grpSpPr>
          <a:xfrm>
            <a:off x="0" y="0"/>
            <a:ext cx="12191695" cy="1143000"/>
            <a:chOff x="0" y="0"/>
            <a:chExt cx="12191695" cy="114300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5573705" cy="603242"/>
            </a:xfrm>
            <a:prstGeom prst="rect">
              <a:avLst/>
            </a:prstGeom>
            <a:noFill/>
          </p:spPr>
          <p:txBody>
            <a:bodyPr wrap="none" lIns="73152" tIns="54864" rIns="73152" bIns="54864" anchor="ctr">
              <a:spAutoFit/>
            </a:bodyPr>
            <a:lstStyle/>
            <a:p>
              <a:pPr algn="l">
                <a:spcBef>
                  <a:spcPts val="0"/>
                </a:spcBef>
                <a:spcAft>
                  <a:spcPts val="650"/>
                </a:spcAft>
              </a:pPr>
              <a:r>
                <a:rPr sz="3200" b="1" dirty="0">
                  <a:solidFill>
                    <a:srgbClr val="FFFFFF"/>
                  </a:solidFill>
                </a:rPr>
                <a:t>Issues and Challenges Identified</a:t>
              </a:r>
            </a:p>
          </p:txBody>
        </p:sp>
      </p:grpSp>
      <p:pic>
        <p:nvPicPr>
          <p:cNvPr id="5" name="Picture 4" descr="image.png"/>
          <p:cNvPicPr>
            <a:picLocks noChangeAspect="1"/>
          </p:cNvPicPr>
          <p:nvPr/>
        </p:nvPicPr>
        <p:blipFill>
          <a:blip r:embed="rId2">
            <a:alphaModFix/>
          </a:blip>
          <a:stretch>
            <a:fillRect/>
          </a:stretch>
        </p:blipFill>
        <p:spPr>
          <a:xfrm>
            <a:off x="904852" y="1696692"/>
            <a:ext cx="266693" cy="226115"/>
          </a:xfrm>
          <a:prstGeom prst="rect">
            <a:avLst/>
          </a:prstGeom>
        </p:spPr>
      </p:pic>
      <p:pic>
        <p:nvPicPr>
          <p:cNvPr id="8" name="Picture 7" descr="image.png"/>
          <p:cNvPicPr>
            <a:picLocks noChangeAspect="1"/>
          </p:cNvPicPr>
          <p:nvPr/>
        </p:nvPicPr>
        <p:blipFill>
          <a:blip r:embed="rId3">
            <a:alphaModFix/>
          </a:blip>
          <a:stretch>
            <a:fillRect/>
          </a:stretch>
        </p:blipFill>
        <p:spPr>
          <a:xfrm>
            <a:off x="904852" y="2194354"/>
            <a:ext cx="209544" cy="164241"/>
          </a:xfrm>
          <a:prstGeom prst="rect">
            <a:avLst/>
          </a:prstGeom>
        </p:spPr>
      </p:pic>
      <p:pic>
        <p:nvPicPr>
          <p:cNvPr id="10" name="Picture 9" descr="image.png"/>
          <p:cNvPicPr>
            <a:picLocks noChangeAspect="1"/>
          </p:cNvPicPr>
          <p:nvPr/>
        </p:nvPicPr>
        <p:blipFill>
          <a:blip r:embed="rId3">
            <a:alphaModFix/>
          </a:blip>
          <a:stretch>
            <a:fillRect/>
          </a:stretch>
        </p:blipFill>
        <p:spPr>
          <a:xfrm>
            <a:off x="904852" y="2823004"/>
            <a:ext cx="209544" cy="164241"/>
          </a:xfrm>
          <a:prstGeom prst="rect">
            <a:avLst/>
          </a:prstGeom>
        </p:spPr>
      </p:pic>
      <p:pic>
        <p:nvPicPr>
          <p:cNvPr id="12" name="Picture 11" descr="image.png"/>
          <p:cNvPicPr>
            <a:picLocks noChangeAspect="1"/>
          </p:cNvPicPr>
          <p:nvPr/>
        </p:nvPicPr>
        <p:blipFill>
          <a:blip r:embed="rId3">
            <a:alphaModFix/>
          </a:blip>
          <a:stretch>
            <a:fillRect/>
          </a:stretch>
        </p:blipFill>
        <p:spPr>
          <a:xfrm>
            <a:off x="904852" y="3451654"/>
            <a:ext cx="209544" cy="164241"/>
          </a:xfrm>
          <a:prstGeom prst="rect">
            <a:avLst/>
          </a:prstGeom>
        </p:spPr>
      </p:pic>
      <p:grpSp>
        <p:nvGrpSpPr>
          <p:cNvPr id="34" name="Group 33">
            <a:extLst>
              <a:ext uri="{FF2B5EF4-FFF2-40B4-BE49-F238E27FC236}">
                <a16:creationId xmlns:a16="http://schemas.microsoft.com/office/drawing/2014/main" id="{A1A6F961-3851-7E72-7903-20776052F601}"/>
              </a:ext>
            </a:extLst>
          </p:cNvPr>
          <p:cNvGrpSpPr/>
          <p:nvPr/>
        </p:nvGrpSpPr>
        <p:grpSpPr>
          <a:xfrm>
            <a:off x="666733" y="1428750"/>
            <a:ext cx="6862780" cy="3476624"/>
            <a:chOff x="666733" y="1428750"/>
            <a:chExt cx="5924399" cy="3476624"/>
          </a:xfrm>
        </p:grpSpPr>
        <p:sp>
          <p:nvSpPr>
            <p:cNvPr id="4" name="Rounded Rectangle 3"/>
            <p:cNvSpPr/>
            <p:nvPr/>
          </p:nvSpPr>
          <p:spPr>
            <a:xfrm>
              <a:off x="666733" y="1428750"/>
              <a:ext cx="5686282" cy="3476624"/>
            </a:xfrm>
            <a:prstGeom prst="roundRect">
              <a:avLst>
                <a:gd name="adj" fmla="val 438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
          <p:nvSpPr>
            <p:cNvPr id="6" name="TextBox 5"/>
            <p:cNvSpPr txBox="1"/>
            <p:nvPr/>
          </p:nvSpPr>
          <p:spPr>
            <a:xfrm>
              <a:off x="1285842" y="1605224"/>
              <a:ext cx="4389920" cy="418576"/>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Current Tourism Information Challenges</a:t>
              </a:r>
            </a:p>
          </p:txBody>
        </p:sp>
        <p:sp>
          <p:nvSpPr>
            <p:cNvPr id="7" name="TextBox 6"/>
            <p:cNvSpPr txBox="1"/>
            <p:nvPr/>
          </p:nvSpPr>
          <p:spPr>
            <a:xfrm>
              <a:off x="904851" y="2089154"/>
              <a:ext cx="5686281" cy="603242"/>
            </a:xfrm>
            <a:prstGeom prst="rect">
              <a:avLst/>
            </a:prstGeom>
            <a:noFill/>
          </p:spPr>
          <p:txBody>
            <a:bodyPr wrap="square" lIns="182880" tIns="54864" rIns="73152" bIns="54864" anchor="ctr">
              <a:spAutoFit/>
            </a:bodyPr>
            <a:lstStyle/>
            <a:p>
              <a:pPr>
                <a:spcAft>
                  <a:spcPts val="1040"/>
                </a:spcAft>
              </a:pPr>
              <a:r>
                <a:rPr lang="en-GB" sz="1600" dirty="0"/>
                <a:t>Information management is currently </a:t>
              </a:r>
              <a:r>
                <a:rPr lang="en-GB" sz="1600" b="1" dirty="0"/>
                <a:t>fragmented and largely manual</a:t>
              </a:r>
              <a:r>
                <a:rPr lang="en-GB" sz="1600" dirty="0"/>
                <a:t>, resulting in irregularly updated online content</a:t>
              </a:r>
              <a:endParaRPr sz="1600" b="0" dirty="0">
                <a:solidFill>
                  <a:srgbClr val="333333"/>
                </a:solidFill>
              </a:endParaRPr>
            </a:p>
          </p:txBody>
        </p:sp>
        <p:sp>
          <p:nvSpPr>
            <p:cNvPr id="9" name="TextBox 8"/>
            <p:cNvSpPr txBox="1"/>
            <p:nvPr/>
          </p:nvSpPr>
          <p:spPr>
            <a:xfrm>
              <a:off x="904852" y="2717805"/>
              <a:ext cx="5210044" cy="603242"/>
            </a:xfrm>
            <a:prstGeom prst="rect">
              <a:avLst/>
            </a:prstGeom>
            <a:noFill/>
          </p:spPr>
          <p:txBody>
            <a:bodyPr wrap="square" lIns="182880" tIns="54864" rIns="73152" bIns="54864" anchor="ctr">
              <a:spAutoFit/>
            </a:bodyPr>
            <a:lstStyle/>
            <a:p>
              <a:pPr>
                <a:spcAft>
                  <a:spcPts val="1040"/>
                </a:spcAft>
              </a:pPr>
              <a:r>
                <a:rPr lang="en-GB" sz="1600" dirty="0"/>
                <a:t>Lack of standardized tourism materials leads to inconsistent data across different platforms</a:t>
              </a:r>
              <a:endParaRPr sz="1600" b="0" dirty="0">
                <a:solidFill>
                  <a:srgbClr val="333333"/>
                </a:solidFill>
              </a:endParaRPr>
            </a:p>
          </p:txBody>
        </p:sp>
        <p:sp>
          <p:nvSpPr>
            <p:cNvPr id="11" name="TextBox 10"/>
            <p:cNvSpPr txBox="1"/>
            <p:nvPr/>
          </p:nvSpPr>
          <p:spPr>
            <a:xfrm>
              <a:off x="904852" y="3223344"/>
              <a:ext cx="5210044" cy="849463"/>
            </a:xfrm>
            <a:prstGeom prst="rect">
              <a:avLst/>
            </a:prstGeom>
            <a:noFill/>
          </p:spPr>
          <p:txBody>
            <a:bodyPr wrap="square" lIns="182880" tIns="54864" rIns="73152" bIns="54864" anchor="ctr">
              <a:spAutoFit/>
            </a:bodyPr>
            <a:lstStyle/>
            <a:p>
              <a:pPr>
                <a:spcAft>
                  <a:spcPts val="1040"/>
                </a:spcAft>
              </a:pPr>
              <a:r>
                <a:rPr lang="en-GB" sz="1600" dirty="0"/>
                <a:t>Slow coordination with stakeholders relying on </a:t>
              </a:r>
              <a:r>
                <a:rPr lang="en-GB" sz="1600" b="1" dirty="0"/>
                <a:t>traditional communication methods</a:t>
              </a:r>
              <a:r>
                <a:rPr lang="en-GB" sz="1600" dirty="0"/>
                <a:t> delays the sharing of accurate information</a:t>
              </a:r>
              <a:endParaRPr sz="1600" b="0" dirty="0">
                <a:solidFill>
                  <a:srgbClr val="333333"/>
                </a:solidFill>
              </a:endParaRPr>
            </a:p>
          </p:txBody>
        </p:sp>
        <p:sp>
          <p:nvSpPr>
            <p:cNvPr id="13" name="TextBox 12"/>
            <p:cNvSpPr txBox="1"/>
            <p:nvPr/>
          </p:nvSpPr>
          <p:spPr>
            <a:xfrm>
              <a:off x="904852" y="3975103"/>
              <a:ext cx="5210044" cy="603242"/>
            </a:xfrm>
            <a:prstGeom prst="rect">
              <a:avLst/>
            </a:prstGeom>
            <a:noFill/>
          </p:spPr>
          <p:txBody>
            <a:bodyPr wrap="square" lIns="182880" tIns="54864" rIns="73152" bIns="54864" anchor="ctr">
              <a:spAutoFit/>
            </a:bodyPr>
            <a:lstStyle/>
            <a:p>
              <a:pPr algn="l">
                <a:spcBef>
                  <a:spcPts val="0"/>
                </a:spcBef>
                <a:spcAft>
                  <a:spcPts val="1040"/>
                </a:spcAft>
              </a:pPr>
              <a:r>
                <a:rPr sz="1600" b="1" dirty="0"/>
                <a:t>Limited accessibility</a:t>
              </a:r>
              <a:r>
                <a:rPr sz="1600" b="0" dirty="0"/>
                <a:t> </a:t>
              </a:r>
              <a:r>
                <a:rPr sz="1600" b="0" dirty="0">
                  <a:solidFill>
                    <a:srgbClr val="333333"/>
                  </a:solidFill>
                </a:rPr>
                <a:t>for students and researchers seeking cultural information </a:t>
              </a:r>
            </a:p>
          </p:txBody>
        </p:sp>
      </p:grpSp>
      <p:grpSp>
        <p:nvGrpSpPr>
          <p:cNvPr id="35" name="Group 34">
            <a:extLst>
              <a:ext uri="{FF2B5EF4-FFF2-40B4-BE49-F238E27FC236}">
                <a16:creationId xmlns:a16="http://schemas.microsoft.com/office/drawing/2014/main" id="{3D6ED313-35E5-D842-BA01-A6DFBB8516D2}"/>
              </a:ext>
            </a:extLst>
          </p:cNvPr>
          <p:cNvGrpSpPr/>
          <p:nvPr/>
        </p:nvGrpSpPr>
        <p:grpSpPr>
          <a:xfrm>
            <a:off x="2691501" y="5045814"/>
            <a:ext cx="5686282" cy="1714500"/>
            <a:chOff x="666733" y="5286375"/>
            <a:chExt cx="5686282" cy="1714500"/>
          </a:xfrm>
        </p:grpSpPr>
        <p:sp>
          <p:nvSpPr>
            <p:cNvPr id="15" name="Rounded Rectangle 14"/>
            <p:cNvSpPr/>
            <p:nvPr/>
          </p:nvSpPr>
          <p:spPr>
            <a:xfrm>
              <a:off x="666733" y="5286375"/>
              <a:ext cx="5686282" cy="1714500"/>
            </a:xfrm>
            <a:prstGeom prst="roundRect">
              <a:avLst>
                <a:gd name="adj" fmla="val 8888"/>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6" name="Picture 15" descr="image.png"/>
            <p:cNvPicPr>
              <a:picLocks noChangeAspect="1"/>
            </p:cNvPicPr>
            <p:nvPr/>
          </p:nvPicPr>
          <p:blipFill>
            <a:blip r:embed="rId4">
              <a:alphaModFix/>
            </a:blip>
            <a:stretch>
              <a:fillRect/>
            </a:stretch>
          </p:blipFill>
          <p:spPr>
            <a:xfrm>
              <a:off x="857228" y="5537834"/>
              <a:ext cx="228594" cy="125729"/>
            </a:xfrm>
            <a:prstGeom prst="rect">
              <a:avLst/>
            </a:prstGeom>
          </p:spPr>
        </p:pic>
        <p:sp>
          <p:nvSpPr>
            <p:cNvPr id="17" name="TextBox 16"/>
            <p:cNvSpPr txBox="1"/>
            <p:nvPr/>
          </p:nvSpPr>
          <p:spPr>
            <a:xfrm>
              <a:off x="1181070" y="5417427"/>
              <a:ext cx="2396233"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00897B"/>
                  </a:solidFill>
                </a:rPr>
                <a:t>Current Inefficient Process</a:t>
              </a:r>
            </a:p>
          </p:txBody>
        </p:sp>
        <p:sp>
          <p:nvSpPr>
            <p:cNvPr id="18" name="Rounded Rectangle 17"/>
            <p:cNvSpPr/>
            <p:nvPr/>
          </p:nvSpPr>
          <p:spPr>
            <a:xfrm>
              <a:off x="1200119"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5">
              <a:alphaModFix/>
            </a:blip>
            <a:stretch>
              <a:fillRect/>
            </a:stretch>
          </p:blipFill>
          <p:spPr>
            <a:xfrm>
              <a:off x="1323941" y="6008846"/>
              <a:ext cx="228594" cy="174307"/>
            </a:xfrm>
            <a:prstGeom prst="rect">
              <a:avLst/>
            </a:prstGeom>
          </p:spPr>
        </p:pic>
        <p:sp>
          <p:nvSpPr>
            <p:cNvPr id="20" name="TextBox 19"/>
            <p:cNvSpPr txBox="1"/>
            <p:nvPr/>
          </p:nvSpPr>
          <p:spPr>
            <a:xfrm>
              <a:off x="857228"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Search Social Media</a:t>
              </a:r>
            </a:p>
          </p:txBody>
        </p:sp>
        <p:pic>
          <p:nvPicPr>
            <p:cNvPr id="21" name="Picture 20" descr="image.png"/>
            <p:cNvPicPr>
              <a:picLocks noChangeAspect="1"/>
            </p:cNvPicPr>
            <p:nvPr/>
          </p:nvPicPr>
          <p:blipFill>
            <a:blip r:embed="rId6">
              <a:alphaModFix/>
            </a:blip>
            <a:stretch>
              <a:fillRect/>
            </a:stretch>
          </p:blipFill>
          <p:spPr>
            <a:xfrm>
              <a:off x="2009724" y="6251257"/>
              <a:ext cx="228594" cy="165734"/>
            </a:xfrm>
            <a:prstGeom prst="rect">
              <a:avLst/>
            </a:prstGeom>
          </p:spPr>
        </p:pic>
        <p:sp>
          <p:nvSpPr>
            <p:cNvPr id="22" name="Rounded Rectangle 21"/>
            <p:cNvSpPr/>
            <p:nvPr/>
          </p:nvSpPr>
          <p:spPr>
            <a:xfrm>
              <a:off x="2581210"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3" name="Picture 22" descr="image.png"/>
            <p:cNvPicPr>
              <a:picLocks noChangeAspect="1"/>
            </p:cNvPicPr>
            <p:nvPr/>
          </p:nvPicPr>
          <p:blipFill>
            <a:blip r:embed="rId7">
              <a:alphaModFix/>
            </a:blip>
            <a:stretch>
              <a:fillRect/>
            </a:stretch>
          </p:blipFill>
          <p:spPr>
            <a:xfrm>
              <a:off x="2705032" y="6007417"/>
              <a:ext cx="228594" cy="177164"/>
            </a:xfrm>
            <a:prstGeom prst="rect">
              <a:avLst/>
            </a:prstGeom>
          </p:spPr>
        </p:pic>
        <p:sp>
          <p:nvSpPr>
            <p:cNvPr id="24" name="TextBox 23"/>
            <p:cNvSpPr txBox="1"/>
            <p:nvPr/>
          </p:nvSpPr>
          <p:spPr>
            <a:xfrm>
              <a:off x="2238319"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Visit Tourism Office</a:t>
              </a:r>
            </a:p>
          </p:txBody>
        </p:sp>
        <p:pic>
          <p:nvPicPr>
            <p:cNvPr id="25" name="Picture 24" descr="image.png"/>
            <p:cNvPicPr>
              <a:picLocks noChangeAspect="1"/>
            </p:cNvPicPr>
            <p:nvPr/>
          </p:nvPicPr>
          <p:blipFill>
            <a:blip r:embed="rId6">
              <a:alphaModFix/>
            </a:blip>
            <a:stretch>
              <a:fillRect/>
            </a:stretch>
          </p:blipFill>
          <p:spPr>
            <a:xfrm>
              <a:off x="3390815" y="6251257"/>
              <a:ext cx="228594" cy="165734"/>
            </a:xfrm>
            <a:prstGeom prst="rect">
              <a:avLst/>
            </a:prstGeom>
          </p:spPr>
        </p:pic>
        <p:sp>
          <p:nvSpPr>
            <p:cNvPr id="26" name="Rounded Rectangle 25"/>
            <p:cNvSpPr/>
            <p:nvPr/>
          </p:nvSpPr>
          <p:spPr>
            <a:xfrm>
              <a:off x="3962300"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7" name="Picture 26" descr="image.png"/>
            <p:cNvPicPr>
              <a:picLocks noChangeAspect="1"/>
            </p:cNvPicPr>
            <p:nvPr/>
          </p:nvPicPr>
          <p:blipFill>
            <a:blip r:embed="rId8">
              <a:alphaModFix/>
            </a:blip>
            <a:stretch>
              <a:fillRect/>
            </a:stretch>
          </p:blipFill>
          <p:spPr>
            <a:xfrm>
              <a:off x="4086122" y="6013132"/>
              <a:ext cx="228594" cy="165734"/>
            </a:xfrm>
            <a:prstGeom prst="rect">
              <a:avLst/>
            </a:prstGeom>
          </p:spPr>
        </p:pic>
        <p:sp>
          <p:nvSpPr>
            <p:cNvPr id="28" name="TextBox 27"/>
            <p:cNvSpPr txBox="1"/>
            <p:nvPr/>
          </p:nvSpPr>
          <p:spPr>
            <a:xfrm>
              <a:off x="3619409"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Search Physical Files</a:t>
              </a:r>
            </a:p>
          </p:txBody>
        </p:sp>
        <p:pic>
          <p:nvPicPr>
            <p:cNvPr id="29" name="Picture 28" descr="image.png"/>
            <p:cNvPicPr>
              <a:picLocks noChangeAspect="1"/>
            </p:cNvPicPr>
            <p:nvPr/>
          </p:nvPicPr>
          <p:blipFill>
            <a:blip r:embed="rId6">
              <a:alphaModFix/>
            </a:blip>
            <a:stretch>
              <a:fillRect/>
            </a:stretch>
          </p:blipFill>
          <p:spPr>
            <a:xfrm>
              <a:off x="4781430" y="6251257"/>
              <a:ext cx="228594" cy="165734"/>
            </a:xfrm>
            <a:prstGeom prst="rect">
              <a:avLst/>
            </a:prstGeom>
          </p:spPr>
        </p:pic>
        <p:sp>
          <p:nvSpPr>
            <p:cNvPr id="30" name="Rounded Rectangle 29"/>
            <p:cNvSpPr/>
            <p:nvPr/>
          </p:nvSpPr>
          <p:spPr>
            <a:xfrm>
              <a:off x="5343391"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31" name="Picture 30" descr="image.png"/>
            <p:cNvPicPr>
              <a:picLocks noChangeAspect="1"/>
            </p:cNvPicPr>
            <p:nvPr/>
          </p:nvPicPr>
          <p:blipFill>
            <a:blip r:embed="rId9">
              <a:alphaModFix/>
            </a:blip>
            <a:stretch>
              <a:fillRect/>
            </a:stretch>
          </p:blipFill>
          <p:spPr>
            <a:xfrm>
              <a:off x="5467213" y="5998844"/>
              <a:ext cx="228594" cy="194309"/>
            </a:xfrm>
            <a:prstGeom prst="rect">
              <a:avLst/>
            </a:prstGeom>
          </p:spPr>
        </p:pic>
        <p:sp>
          <p:nvSpPr>
            <p:cNvPr id="32" name="TextBox 31"/>
            <p:cNvSpPr txBox="1"/>
            <p:nvPr/>
          </p:nvSpPr>
          <p:spPr>
            <a:xfrm>
              <a:off x="5010024"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High Risk of Confusion</a:t>
              </a:r>
            </a:p>
          </p:txBody>
        </p:sp>
      </p:grpSp>
      <p:sp>
        <p:nvSpPr>
          <p:cNvPr id="33" name="Rectangle 32"/>
          <p:cNvSpPr/>
          <p:nvPr/>
        </p:nvSpPr>
        <p:spPr>
          <a:xfrm>
            <a:off x="7567228" y="1536705"/>
            <a:ext cx="4081092" cy="3368669"/>
          </a:xfrm>
          <a:prstGeom prst="rect">
            <a:avLst/>
          </a:prstGeom>
          <a:blipFill>
            <a:blip r:embed="rId10"/>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380999"/>
            <a:ext cx="10858228" cy="476249"/>
          </a:xfrm>
          <a:prstGeom prst="rect">
            <a:avLst/>
          </a:prstGeom>
          <a:noFill/>
        </p:spPr>
        <p:txBody>
          <a:bodyPr wrap="none" lIns="73152" tIns="54864" rIns="73152" bIns="54864" anchor="ctr">
            <a:spAutoFit/>
          </a:bodyPr>
          <a:lstStyle/>
          <a:p>
            <a:pPr algn="l">
              <a:spcBef>
                <a:spcPts val="0"/>
              </a:spcBef>
              <a:spcAft>
                <a:spcPts val="650"/>
              </a:spcAft>
            </a:pPr>
            <a:r>
              <a:rPr sz="2392" b="1" dirty="0">
                <a:solidFill>
                  <a:srgbClr val="FFFFFF"/>
                </a:solidFill>
              </a:rPr>
              <a:t>Main Objective/Purpose of the System</a:t>
            </a:r>
          </a:p>
        </p:txBody>
      </p:sp>
      <p:sp>
        <p:nvSpPr>
          <p:cNvPr id="4" name="Rounded Rectangle 3"/>
          <p:cNvSpPr/>
          <p:nvPr/>
        </p:nvSpPr>
        <p:spPr>
          <a:xfrm>
            <a:off x="673722" y="1333500"/>
            <a:ext cx="10787099" cy="5300662"/>
          </a:xfrm>
          <a:prstGeom prst="roundRect">
            <a:avLst>
              <a:gd name="adj" fmla="val 268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5" name="Picture 4" descr="image.png"/>
          <p:cNvPicPr>
            <a:picLocks noChangeAspect="1"/>
          </p:cNvPicPr>
          <p:nvPr/>
        </p:nvPicPr>
        <p:blipFill>
          <a:blip r:embed="rId2">
            <a:alphaModFix/>
          </a:blip>
          <a:stretch>
            <a:fillRect/>
          </a:stretch>
        </p:blipFill>
        <p:spPr>
          <a:xfrm>
            <a:off x="904852" y="1696692"/>
            <a:ext cx="266693" cy="226115"/>
          </a:xfrm>
          <a:prstGeom prst="rect">
            <a:avLst/>
          </a:prstGeom>
        </p:spPr>
      </p:pic>
      <p:sp>
        <p:nvSpPr>
          <p:cNvPr id="6" name="TextBox 5"/>
          <p:cNvSpPr txBox="1"/>
          <p:nvPr/>
        </p:nvSpPr>
        <p:spPr>
          <a:xfrm>
            <a:off x="1285842" y="1574447"/>
            <a:ext cx="2178032" cy="480131"/>
          </a:xfrm>
          <a:prstGeom prst="rect">
            <a:avLst/>
          </a:prstGeom>
          <a:noFill/>
        </p:spPr>
        <p:txBody>
          <a:bodyPr wrap="none" lIns="73152" tIns="54864" rIns="73152" bIns="54864" anchor="ctr">
            <a:spAutoFit/>
          </a:bodyPr>
          <a:lstStyle/>
          <a:p>
            <a:pPr algn="l">
              <a:spcBef>
                <a:spcPts val="0"/>
              </a:spcBef>
              <a:spcAft>
                <a:spcPts val="0"/>
              </a:spcAft>
            </a:pPr>
            <a:r>
              <a:rPr sz="2400" b="1" dirty="0">
                <a:solidFill>
                  <a:srgbClr val="00897B"/>
                </a:solidFill>
              </a:rPr>
              <a:t>System Purpose</a:t>
            </a:r>
          </a:p>
        </p:txBody>
      </p:sp>
      <p:sp>
        <p:nvSpPr>
          <p:cNvPr id="7" name="TextBox 6"/>
          <p:cNvSpPr txBox="1"/>
          <p:nvPr/>
        </p:nvSpPr>
        <p:spPr>
          <a:xfrm>
            <a:off x="1038198" y="1939603"/>
            <a:ext cx="10187010" cy="4433586"/>
          </a:xfrm>
          <a:prstGeom prst="rect">
            <a:avLst/>
          </a:prstGeom>
          <a:noFill/>
        </p:spPr>
        <p:txBody>
          <a:bodyPr wrap="square" lIns="73152" tIns="54864" rIns="73152" bIns="54864" anchor="ctr">
            <a:spAutoFit/>
          </a:bodyPr>
          <a:lstStyle/>
          <a:p>
            <a:pPr algn="l">
              <a:lnSpc>
                <a:spcPts val="2080"/>
              </a:lnSpc>
              <a:spcBef>
                <a:spcPts val="0"/>
              </a:spcBef>
              <a:spcAft>
                <a:spcPts val="1300"/>
              </a:spcAft>
            </a:pPr>
            <a:r>
              <a:rPr sz="2400" b="0" dirty="0">
                <a:solidFill>
                  <a:srgbClr val="333333"/>
                </a:solidFill>
              </a:rPr>
              <a:t> The primary objective of this capstone project is to design and develop the </a:t>
            </a:r>
            <a:r>
              <a:rPr sz="2400" b="1" dirty="0">
                <a:solidFill>
                  <a:srgbClr val="00897B"/>
                </a:solidFill>
              </a:rPr>
              <a:t>Interactive Digital Cultural Map and Local Tourism Information System</a:t>
            </a:r>
            <a:r>
              <a:rPr sz="2400" b="0" dirty="0">
                <a:solidFill>
                  <a:srgbClr val="333333"/>
                </a:solidFill>
              </a:rPr>
              <a:t>, a centralized web-based platform dedicated to showcasing the cultural identity and tourism assets of </a:t>
            </a:r>
            <a:r>
              <a:rPr sz="2400" b="0" dirty="0" err="1">
                <a:solidFill>
                  <a:srgbClr val="333333"/>
                </a:solidFill>
              </a:rPr>
              <a:t>Mangatarem</a:t>
            </a:r>
            <a:r>
              <a:rPr sz="2400" b="0" dirty="0">
                <a:solidFill>
                  <a:srgbClr val="333333"/>
                </a:solidFill>
              </a:rPr>
              <a:t>, Pangasinan. This system addresses the </a:t>
            </a:r>
            <a:r>
              <a:rPr sz="2400" b="1" dirty="0">
                <a:solidFill>
                  <a:srgbClr val="00897B"/>
                </a:solidFill>
              </a:rPr>
              <a:t>information gap</a:t>
            </a:r>
            <a:r>
              <a:rPr sz="2400" b="0" dirty="0">
                <a:solidFill>
                  <a:srgbClr val="333333"/>
                </a:solidFill>
              </a:rPr>
              <a:t> by integrating an interactive mapping interface with a comprehensive information portal, allowing users to easily locate and explore barangay-level cultural spots, historical landmarks, and local festivities. Built using </a:t>
            </a:r>
            <a:r>
              <a:rPr sz="2400" b="1" dirty="0">
                <a:solidFill>
                  <a:srgbClr val="00897B"/>
                </a:solidFill>
              </a:rPr>
              <a:t>cost-effective and scalable</a:t>
            </a:r>
            <a:r>
              <a:rPr sz="2400" b="0" dirty="0">
                <a:solidFill>
                  <a:srgbClr val="333333"/>
                </a:solidFill>
              </a:rPr>
              <a:t> open-source technologies like Python (Flask) and Leaflet.js</a:t>
            </a:r>
            <a:r>
              <a:rPr lang="en-US" sz="2400" b="0" dirty="0">
                <a:solidFill>
                  <a:srgbClr val="333333"/>
                </a:solidFill>
              </a:rPr>
              <a:t> or </a:t>
            </a:r>
            <a:r>
              <a:rPr lang="en-US" sz="2400" b="0" dirty="0" err="1">
                <a:solidFill>
                  <a:srgbClr val="333333"/>
                </a:solidFill>
              </a:rPr>
              <a:t>mapbox</a:t>
            </a:r>
            <a:r>
              <a:rPr sz="2400" b="0" dirty="0">
                <a:solidFill>
                  <a:srgbClr val="333333"/>
                </a:solidFill>
              </a:rPr>
              <a:t>, the system provides a viable solution for implementation by the Local Government Unit. The significance of this project lies in its ability to bridge the information gap for tourists requiring navigation and students conducting cultural research, thereby </a:t>
            </a:r>
            <a:r>
              <a:rPr sz="2400" b="1" dirty="0">
                <a:solidFill>
                  <a:srgbClr val="00897B"/>
                </a:solidFill>
              </a:rPr>
              <a:t>transforming how local heritage</a:t>
            </a:r>
            <a:r>
              <a:rPr sz="2400" b="0" dirty="0">
                <a:solidFill>
                  <a:srgbClr val="333333"/>
                </a:solidFill>
              </a:rPr>
              <a:t> is accessed and preserved. Ultimately, the system aims to stimulate local economic activity by increasing the visibility of community attractions while fostering a deeper sense of pride and cultural awareness among the residents of </a:t>
            </a:r>
            <a:r>
              <a:rPr sz="2400" b="0" dirty="0" err="1">
                <a:solidFill>
                  <a:srgbClr val="333333"/>
                </a:solidFill>
              </a:rPr>
              <a:t>Mangatarem</a:t>
            </a:r>
            <a:r>
              <a:rPr sz="2400" b="0" dirty="0">
                <a:solidFill>
                  <a:srgbClr val="333333"/>
                </a:solidFill>
              </a:rPr>
              <a:t>. </a:t>
            </a:r>
          </a:p>
        </p:txBody>
      </p:sp>
      <p:sp>
        <p:nvSpPr>
          <p:cNvPr id="8" name="Rounded Rectangle 7"/>
          <p:cNvSpPr/>
          <p:nvPr/>
        </p:nvSpPr>
        <p:spPr>
          <a:xfrm>
            <a:off x="666733" y="8753475"/>
            <a:ext cx="5686282" cy="1638299"/>
          </a:xfrm>
          <a:prstGeom prst="roundRect">
            <a:avLst>
              <a:gd name="adj" fmla="val 930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mage.png"/>
          <p:cNvPicPr>
            <a:picLocks noChangeAspect="1"/>
          </p:cNvPicPr>
          <p:nvPr/>
        </p:nvPicPr>
        <p:blipFill>
          <a:blip r:embed="rId3">
            <a:alphaModFix/>
          </a:blip>
          <a:stretch>
            <a:fillRect/>
          </a:stretch>
        </p:blipFill>
        <p:spPr>
          <a:xfrm>
            <a:off x="857228" y="9004935"/>
            <a:ext cx="228594" cy="125729"/>
          </a:xfrm>
          <a:prstGeom prst="rect">
            <a:avLst/>
          </a:prstGeom>
        </p:spPr>
      </p:pic>
      <p:sp>
        <p:nvSpPr>
          <p:cNvPr id="10" name="TextBox 9"/>
          <p:cNvSpPr txBox="1"/>
          <p:nvPr/>
        </p:nvSpPr>
        <p:spPr>
          <a:xfrm>
            <a:off x="1181070" y="8943975"/>
            <a:ext cx="2238319" cy="238124"/>
          </a:xfrm>
          <a:prstGeom prst="rect">
            <a:avLst/>
          </a:prstGeom>
          <a:noFill/>
        </p:spPr>
        <p:txBody>
          <a:bodyPr wrap="none" lIns="73152" tIns="54864" rIns="73152" bIns="54864" anchor="ctr">
            <a:spAutoFit/>
          </a:bodyPr>
          <a:lstStyle/>
          <a:p>
            <a:pPr algn="l">
              <a:spcBef>
                <a:spcPts val="0"/>
              </a:spcBef>
              <a:spcAft>
                <a:spcPts val="0"/>
              </a:spcAft>
            </a:pPr>
            <a:r>
              <a:rPr sz="1196" b="1">
                <a:solidFill>
                  <a:srgbClr val="00897B"/>
                </a:solidFill>
              </a:rPr>
              <a:t>Cost-Effective Technologies</a:t>
            </a:r>
          </a:p>
        </p:txBody>
      </p:sp>
      <p:sp>
        <p:nvSpPr>
          <p:cNvPr id="11" name="Rounded Rectangle 10"/>
          <p:cNvSpPr/>
          <p:nvPr/>
        </p:nvSpPr>
        <p:spPr>
          <a:xfrm>
            <a:off x="857228" y="9324975"/>
            <a:ext cx="147633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alphaModFix/>
          </a:blip>
          <a:stretch>
            <a:fillRect/>
          </a:stretch>
        </p:blipFill>
        <p:spPr>
          <a:xfrm>
            <a:off x="1000099" y="9432822"/>
            <a:ext cx="171445" cy="127204"/>
          </a:xfrm>
          <a:prstGeom prst="rect">
            <a:avLst/>
          </a:prstGeom>
        </p:spPr>
      </p:pic>
      <p:sp>
        <p:nvSpPr>
          <p:cNvPr id="13" name="TextBox 12"/>
          <p:cNvSpPr txBox="1"/>
          <p:nvPr/>
        </p:nvSpPr>
        <p:spPr>
          <a:xfrm>
            <a:off x="1247743" y="9401175"/>
            <a:ext cx="942951"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Python (Flask)</a:t>
            </a:r>
          </a:p>
        </p:txBody>
      </p:sp>
      <p:sp>
        <p:nvSpPr>
          <p:cNvPr id="14" name="Rounded Rectangle 13"/>
          <p:cNvSpPr/>
          <p:nvPr/>
        </p:nvSpPr>
        <p:spPr>
          <a:xfrm>
            <a:off x="2428814" y="9324975"/>
            <a:ext cx="113344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p:cNvPicPr>
            <a:picLocks noChangeAspect="1"/>
          </p:cNvPicPr>
          <p:nvPr/>
        </p:nvPicPr>
        <p:blipFill>
          <a:blip r:embed="rId5">
            <a:alphaModFix/>
          </a:blip>
          <a:stretch>
            <a:fillRect/>
          </a:stretch>
        </p:blipFill>
        <p:spPr>
          <a:xfrm>
            <a:off x="2571685" y="9427291"/>
            <a:ext cx="171445" cy="138266"/>
          </a:xfrm>
          <a:prstGeom prst="rect">
            <a:avLst/>
          </a:prstGeom>
        </p:spPr>
      </p:pic>
      <p:sp>
        <p:nvSpPr>
          <p:cNvPr id="16" name="TextBox 15"/>
          <p:cNvSpPr txBox="1"/>
          <p:nvPr/>
        </p:nvSpPr>
        <p:spPr>
          <a:xfrm>
            <a:off x="2819329" y="9401175"/>
            <a:ext cx="600059"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Leaflet.js</a:t>
            </a:r>
          </a:p>
        </p:txBody>
      </p:sp>
      <p:sp>
        <p:nvSpPr>
          <p:cNvPr id="17" name="Rounded Rectangle 16"/>
          <p:cNvSpPr/>
          <p:nvPr/>
        </p:nvSpPr>
        <p:spPr>
          <a:xfrm>
            <a:off x="3657508" y="9324975"/>
            <a:ext cx="1466813"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p:cNvPicPr>
            <a:picLocks noChangeAspect="1"/>
          </p:cNvPicPr>
          <p:nvPr/>
        </p:nvPicPr>
        <p:blipFill>
          <a:blip r:embed="rId6">
            <a:alphaModFix/>
          </a:blip>
          <a:stretch>
            <a:fillRect/>
          </a:stretch>
        </p:blipFill>
        <p:spPr>
          <a:xfrm>
            <a:off x="3800379" y="9432822"/>
            <a:ext cx="171445" cy="127204"/>
          </a:xfrm>
          <a:prstGeom prst="rect">
            <a:avLst/>
          </a:prstGeom>
        </p:spPr>
      </p:pic>
      <p:sp>
        <p:nvSpPr>
          <p:cNvPr id="19" name="TextBox 18"/>
          <p:cNvSpPr txBox="1"/>
          <p:nvPr/>
        </p:nvSpPr>
        <p:spPr>
          <a:xfrm>
            <a:off x="4048023" y="9401175"/>
            <a:ext cx="933426" cy="190499"/>
          </a:xfrm>
          <a:prstGeom prst="rect">
            <a:avLst/>
          </a:prstGeom>
          <a:noFill/>
        </p:spPr>
        <p:txBody>
          <a:bodyPr wrap="none" lIns="73152" tIns="54864" rIns="73152" bIns="54864" anchor="ctr">
            <a:spAutoFit/>
          </a:bodyPr>
          <a:lstStyle/>
          <a:p>
            <a:pPr algn="l">
              <a:spcBef>
                <a:spcPts val="0"/>
              </a:spcBef>
              <a:spcAft>
                <a:spcPts val="0"/>
              </a:spcAft>
            </a:pPr>
            <a:r>
              <a:rPr sz="956" b="1" dirty="0">
                <a:solidFill>
                  <a:srgbClr val="333333"/>
                </a:solidFill>
              </a:rPr>
              <a:t>SQLite/MySQL</a:t>
            </a:r>
          </a:p>
        </p:txBody>
      </p:sp>
      <p:sp>
        <p:nvSpPr>
          <p:cNvPr id="20" name="Rounded Rectangle 19"/>
          <p:cNvSpPr/>
          <p:nvPr/>
        </p:nvSpPr>
        <p:spPr>
          <a:xfrm>
            <a:off x="857228" y="9763124"/>
            <a:ext cx="120964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mage.png"/>
          <p:cNvPicPr>
            <a:picLocks noChangeAspect="1"/>
          </p:cNvPicPr>
          <p:nvPr/>
        </p:nvPicPr>
        <p:blipFill>
          <a:blip r:embed="rId7">
            <a:alphaModFix/>
          </a:blip>
          <a:stretch>
            <a:fillRect/>
          </a:stretch>
        </p:blipFill>
        <p:spPr>
          <a:xfrm>
            <a:off x="1000099" y="9904156"/>
            <a:ext cx="171445" cy="60837"/>
          </a:xfrm>
          <a:prstGeom prst="rect">
            <a:avLst/>
          </a:prstGeom>
        </p:spPr>
      </p:pic>
      <p:sp>
        <p:nvSpPr>
          <p:cNvPr id="22" name="TextBox 21"/>
          <p:cNvSpPr txBox="1"/>
          <p:nvPr/>
        </p:nvSpPr>
        <p:spPr>
          <a:xfrm>
            <a:off x="1247743" y="9839325"/>
            <a:ext cx="676258"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HTML/CSS</a:t>
            </a:r>
          </a:p>
        </p:txBody>
      </p:sp>
      <p:sp>
        <p:nvSpPr>
          <p:cNvPr id="23" name="Rounded Rectangle 22"/>
          <p:cNvSpPr/>
          <p:nvPr/>
        </p:nvSpPr>
        <p:spPr>
          <a:xfrm>
            <a:off x="2162120" y="9763124"/>
            <a:ext cx="122869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8">
            <a:alphaModFix/>
          </a:blip>
          <a:stretch>
            <a:fillRect/>
          </a:stretch>
        </p:blipFill>
        <p:spPr>
          <a:xfrm>
            <a:off x="2304992" y="9904156"/>
            <a:ext cx="171445" cy="60837"/>
          </a:xfrm>
          <a:prstGeom prst="rect">
            <a:avLst/>
          </a:prstGeom>
        </p:spPr>
      </p:pic>
      <p:sp>
        <p:nvSpPr>
          <p:cNvPr id="25" name="TextBox 24"/>
          <p:cNvSpPr txBox="1"/>
          <p:nvPr/>
        </p:nvSpPr>
        <p:spPr>
          <a:xfrm>
            <a:off x="2552636" y="9839325"/>
            <a:ext cx="695307"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JavaScript</a:t>
            </a:r>
          </a:p>
        </p:txBody>
      </p:sp>
      <p:sp>
        <p:nvSpPr>
          <p:cNvPr id="27" name="Rounded Rectangle 26"/>
          <p:cNvSpPr/>
          <p:nvPr/>
        </p:nvSpPr>
        <p:spPr>
          <a:xfrm>
            <a:off x="6638759" y="8762999"/>
            <a:ext cx="4886202" cy="1628775"/>
          </a:xfrm>
          <a:prstGeom prst="roundRect">
            <a:avLst>
              <a:gd name="adj" fmla="val 9356"/>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29254" y="9296400"/>
            <a:ext cx="285742" cy="571500"/>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9">
            <a:alphaModFix/>
          </a:blip>
          <a:stretch>
            <a:fillRect/>
          </a:stretch>
        </p:blipFill>
        <p:spPr>
          <a:xfrm>
            <a:off x="6829254" y="9493897"/>
            <a:ext cx="285742" cy="157454"/>
          </a:xfrm>
          <a:prstGeom prst="rect">
            <a:avLst/>
          </a:prstGeom>
        </p:spPr>
      </p:pic>
      <p:sp>
        <p:nvSpPr>
          <p:cNvPr id="30" name="TextBox 29"/>
          <p:cNvSpPr txBox="1"/>
          <p:nvPr/>
        </p:nvSpPr>
        <p:spPr>
          <a:xfrm>
            <a:off x="7305492" y="9220199"/>
            <a:ext cx="1628734" cy="723900"/>
          </a:xfrm>
          <a:prstGeom prst="rect">
            <a:avLst/>
          </a:prstGeom>
          <a:noFill/>
        </p:spPr>
        <p:txBody>
          <a:bodyPr wrap="square" lIns="73152" tIns="54864" rIns="73152" bIns="54864" anchor="ctr">
            <a:spAutoFit/>
          </a:bodyPr>
          <a:lstStyle/>
          <a:p>
            <a:pPr algn="l">
              <a:lnSpc>
                <a:spcPts val="1625"/>
              </a:lnSpc>
              <a:spcBef>
                <a:spcPts val="0"/>
              </a:spcBef>
              <a:spcAft>
                <a:spcPts val="0"/>
              </a:spcAft>
            </a:pPr>
            <a:r>
              <a:rPr sz="1076" b="1">
                <a:solidFill>
                  <a:srgbClr val="FFFFFF"/>
                </a:solidFill>
              </a:rPr>
              <a:t>Stimulates local economic activity and cultural awareness</a:t>
            </a:r>
          </a:p>
        </p:txBody>
      </p:sp>
      <p:sp>
        <p:nvSpPr>
          <p:cNvPr id="31" name="Rounded Rectangle 30"/>
          <p:cNvSpPr/>
          <p:nvPr/>
        </p:nvSpPr>
        <p:spPr>
          <a:xfrm>
            <a:off x="8934226" y="9096375"/>
            <a:ext cx="2362140"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image.png"/>
          <p:cNvPicPr>
            <a:picLocks noChangeAspect="1"/>
          </p:cNvPicPr>
          <p:nvPr/>
        </p:nvPicPr>
        <p:blipFill>
          <a:blip r:embed="rId10">
            <a:alphaModFix/>
          </a:blip>
          <a:stretch>
            <a:fillRect/>
          </a:stretch>
        </p:blipFill>
        <p:spPr>
          <a:xfrm>
            <a:off x="9048523" y="9190703"/>
            <a:ext cx="171445" cy="116143"/>
          </a:xfrm>
          <a:prstGeom prst="rect">
            <a:avLst/>
          </a:prstGeom>
        </p:spPr>
      </p:pic>
      <p:sp>
        <p:nvSpPr>
          <p:cNvPr id="33" name="TextBox 32"/>
          <p:cNvSpPr txBox="1"/>
          <p:nvPr/>
        </p:nvSpPr>
        <p:spPr>
          <a:xfrm>
            <a:off x="9277118" y="9153525"/>
            <a:ext cx="1904952"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Increased attraction visibility</a:t>
            </a:r>
          </a:p>
        </p:txBody>
      </p:sp>
      <p:sp>
        <p:nvSpPr>
          <p:cNvPr id="34" name="Rounded Rectangle 33"/>
          <p:cNvSpPr/>
          <p:nvPr/>
        </p:nvSpPr>
        <p:spPr>
          <a:xfrm>
            <a:off x="8934226" y="9496425"/>
            <a:ext cx="1838279"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image.png"/>
          <p:cNvPicPr>
            <a:picLocks noChangeAspect="1"/>
          </p:cNvPicPr>
          <p:nvPr/>
        </p:nvPicPr>
        <p:blipFill>
          <a:blip r:embed="rId11">
            <a:alphaModFix/>
          </a:blip>
          <a:stretch>
            <a:fillRect/>
          </a:stretch>
        </p:blipFill>
        <p:spPr>
          <a:xfrm>
            <a:off x="9048523" y="9579691"/>
            <a:ext cx="171445" cy="138266"/>
          </a:xfrm>
          <a:prstGeom prst="rect">
            <a:avLst/>
          </a:prstGeom>
        </p:spPr>
      </p:pic>
      <p:sp>
        <p:nvSpPr>
          <p:cNvPr id="36" name="TextBox 35"/>
          <p:cNvSpPr txBox="1"/>
          <p:nvPr/>
        </p:nvSpPr>
        <p:spPr>
          <a:xfrm>
            <a:off x="9277118" y="9553575"/>
            <a:ext cx="1381090"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Educational resource</a:t>
            </a:r>
          </a:p>
        </p:txBody>
      </p:sp>
      <p:sp>
        <p:nvSpPr>
          <p:cNvPr id="37" name="Rounded Rectangle 36"/>
          <p:cNvSpPr/>
          <p:nvPr/>
        </p:nvSpPr>
        <p:spPr>
          <a:xfrm>
            <a:off x="8934226" y="9896475"/>
            <a:ext cx="1847803"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p:cNvPicPr>
            <a:picLocks noChangeAspect="1"/>
          </p:cNvPicPr>
          <p:nvPr/>
        </p:nvPicPr>
        <p:blipFill>
          <a:blip r:embed="rId12">
            <a:alphaModFix/>
          </a:blip>
          <a:stretch>
            <a:fillRect/>
          </a:stretch>
        </p:blipFill>
        <p:spPr>
          <a:xfrm>
            <a:off x="9048523" y="9974211"/>
            <a:ext cx="171445" cy="149327"/>
          </a:xfrm>
          <a:prstGeom prst="rect">
            <a:avLst/>
          </a:prstGeom>
        </p:spPr>
      </p:pic>
      <p:sp>
        <p:nvSpPr>
          <p:cNvPr id="39" name="TextBox 38"/>
          <p:cNvSpPr txBox="1"/>
          <p:nvPr/>
        </p:nvSpPr>
        <p:spPr>
          <a:xfrm>
            <a:off x="9277118" y="9953625"/>
            <a:ext cx="1390615"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Cultural preservation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Scope of the System</a:t>
            </a:r>
          </a:p>
        </p:txBody>
      </p:sp>
      <p:sp>
        <p:nvSpPr>
          <p:cNvPr id="4" name="Rounded Rectangle 3"/>
          <p:cNvSpPr/>
          <p:nvPr/>
        </p:nvSpPr>
        <p:spPr>
          <a:xfrm>
            <a:off x="666733"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p:cNvSpPr txBox="1"/>
          <p:nvPr/>
        </p:nvSpPr>
        <p:spPr>
          <a:xfrm>
            <a:off x="1581110" y="1512535"/>
            <a:ext cx="3245760"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Interactive Cultural Map</a:t>
            </a:r>
          </a:p>
        </p:txBody>
      </p:sp>
      <p:sp>
        <p:nvSpPr>
          <p:cNvPr id="8" name="TextBox 7"/>
          <p:cNvSpPr txBox="1"/>
          <p:nvPr/>
        </p:nvSpPr>
        <p:spPr>
          <a:xfrm>
            <a:off x="1581110"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Navigable map displaying </a:t>
            </a:r>
            <a:r>
              <a:rPr sz="1400" b="1">
                <a:solidFill>
                  <a:srgbClr val="00897B"/>
                </a:solidFill>
              </a:rPr>
              <a:t>barangay-level cultural highlights</a:t>
            </a:r>
            <a:r>
              <a:rPr sz="1400" b="0">
                <a:solidFill>
                  <a:srgbClr val="555555"/>
                </a:solidFill>
              </a:rPr>
              <a:t> with zoom, pan, and location details</a:t>
            </a:r>
          </a:p>
        </p:txBody>
      </p:sp>
      <p:sp>
        <p:nvSpPr>
          <p:cNvPr id="9" name="Rounded Rectangle 8"/>
          <p:cNvSpPr/>
          <p:nvPr/>
        </p:nvSpPr>
        <p:spPr>
          <a:xfrm>
            <a:off x="6191095"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2" name="TextBox 11"/>
          <p:cNvSpPr txBox="1"/>
          <p:nvPr/>
        </p:nvSpPr>
        <p:spPr>
          <a:xfrm>
            <a:off x="7105472" y="1512535"/>
            <a:ext cx="3581493"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Cultural Information Portal</a:t>
            </a:r>
          </a:p>
        </p:txBody>
      </p:sp>
      <p:sp>
        <p:nvSpPr>
          <p:cNvPr id="13" name="TextBox 12"/>
          <p:cNvSpPr txBox="1"/>
          <p:nvPr/>
        </p:nvSpPr>
        <p:spPr>
          <a:xfrm>
            <a:off x="7105472"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Central repository for </a:t>
            </a:r>
            <a:r>
              <a:rPr sz="1400" b="1">
                <a:solidFill>
                  <a:srgbClr val="00897B"/>
                </a:solidFill>
              </a:rPr>
              <a:t>barangay profiles</a:t>
            </a:r>
            <a:r>
              <a:rPr sz="1400" b="0">
                <a:solidFill>
                  <a:srgbClr val="555555"/>
                </a:solidFill>
              </a:rPr>
              <a:t>, cultural assets, traditions, and points of interest</a:t>
            </a:r>
          </a:p>
        </p:txBody>
      </p:sp>
      <p:sp>
        <p:nvSpPr>
          <p:cNvPr id="14" name="Rounded Rectangle 13"/>
          <p:cNvSpPr/>
          <p:nvPr/>
        </p:nvSpPr>
        <p:spPr>
          <a:xfrm>
            <a:off x="666733"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7" name="TextBox 16"/>
          <p:cNvSpPr txBox="1"/>
          <p:nvPr/>
        </p:nvSpPr>
        <p:spPr>
          <a:xfrm>
            <a:off x="1581110" y="2855559"/>
            <a:ext cx="381937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Events and Festival Directory</a:t>
            </a:r>
          </a:p>
        </p:txBody>
      </p:sp>
      <p:sp>
        <p:nvSpPr>
          <p:cNvPr id="18" name="TextBox 17"/>
          <p:cNvSpPr txBox="1"/>
          <p:nvPr/>
        </p:nvSpPr>
        <p:spPr>
          <a:xfrm>
            <a:off x="1581110"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Calendar view of </a:t>
            </a:r>
            <a:r>
              <a:rPr sz="1400" b="1">
                <a:solidFill>
                  <a:srgbClr val="00897B"/>
                </a:solidFill>
              </a:rPr>
              <a:t>local festivities</a:t>
            </a:r>
            <a:r>
              <a:rPr sz="1400" b="0">
                <a:solidFill>
                  <a:srgbClr val="555555"/>
                </a:solidFill>
              </a:rPr>
              <a:t> and citywide celebrations with scheduling details</a:t>
            </a:r>
          </a:p>
        </p:txBody>
      </p:sp>
      <p:sp>
        <p:nvSpPr>
          <p:cNvPr id="19" name="Rounded Rectangle 18"/>
          <p:cNvSpPr/>
          <p:nvPr/>
        </p:nvSpPr>
        <p:spPr>
          <a:xfrm>
            <a:off x="6191095"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2" name="TextBox 21"/>
          <p:cNvSpPr txBox="1"/>
          <p:nvPr/>
        </p:nvSpPr>
        <p:spPr>
          <a:xfrm>
            <a:off x="7105472" y="2855559"/>
            <a:ext cx="261770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Multimedia Gallery</a:t>
            </a:r>
          </a:p>
        </p:txBody>
      </p:sp>
      <p:sp>
        <p:nvSpPr>
          <p:cNvPr id="23" name="TextBox 22"/>
          <p:cNvSpPr txBox="1"/>
          <p:nvPr/>
        </p:nvSpPr>
        <p:spPr>
          <a:xfrm>
            <a:off x="7105472"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Organized collection of </a:t>
            </a:r>
            <a:r>
              <a:rPr sz="1400" b="1">
                <a:solidFill>
                  <a:srgbClr val="00897B"/>
                </a:solidFill>
              </a:rPr>
              <a:t>photos and videos</a:t>
            </a:r>
            <a:r>
              <a:rPr sz="1400" b="0">
                <a:solidFill>
                  <a:srgbClr val="555555"/>
                </a:solidFill>
              </a:rPr>
              <a:t> showcasing local traditions and community activities</a:t>
            </a:r>
          </a:p>
        </p:txBody>
      </p:sp>
      <p:sp>
        <p:nvSpPr>
          <p:cNvPr id="24" name="Rounded Rectangle 23"/>
          <p:cNvSpPr/>
          <p:nvPr/>
        </p:nvSpPr>
        <p:spPr>
          <a:xfrm>
            <a:off x="666733"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TextBox 26"/>
          <p:cNvSpPr txBox="1"/>
          <p:nvPr/>
        </p:nvSpPr>
        <p:spPr>
          <a:xfrm>
            <a:off x="1581110" y="4198585"/>
            <a:ext cx="300319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Search and Filter Tools</a:t>
            </a:r>
          </a:p>
        </p:txBody>
      </p:sp>
      <p:sp>
        <p:nvSpPr>
          <p:cNvPr id="28" name="TextBox 27"/>
          <p:cNvSpPr txBox="1"/>
          <p:nvPr/>
        </p:nvSpPr>
        <p:spPr>
          <a:xfrm>
            <a:off x="1581110"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Quick retrieval of information by </a:t>
            </a:r>
            <a:r>
              <a:rPr sz="1400" b="1">
                <a:solidFill>
                  <a:srgbClr val="00897B"/>
                </a:solidFill>
              </a:rPr>
              <a:t>barangay, category</a:t>
            </a:r>
            <a:r>
              <a:rPr sz="1400" b="0">
                <a:solidFill>
                  <a:srgbClr val="555555"/>
                </a:solidFill>
              </a:rPr>
              <a:t>, or attraction type</a:t>
            </a:r>
          </a:p>
        </p:txBody>
      </p:sp>
      <p:sp>
        <p:nvSpPr>
          <p:cNvPr id="29" name="Rounded Rectangle 28"/>
          <p:cNvSpPr/>
          <p:nvPr/>
        </p:nvSpPr>
        <p:spPr>
          <a:xfrm>
            <a:off x="6191095"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2" name="TextBox 31"/>
          <p:cNvSpPr txBox="1"/>
          <p:nvPr/>
        </p:nvSpPr>
        <p:spPr>
          <a:xfrm>
            <a:off x="7105472" y="4198585"/>
            <a:ext cx="416537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Admin and Contributor Module</a:t>
            </a:r>
          </a:p>
        </p:txBody>
      </p:sp>
      <p:sp>
        <p:nvSpPr>
          <p:cNvPr id="33" name="TextBox 32"/>
          <p:cNvSpPr txBox="1"/>
          <p:nvPr/>
        </p:nvSpPr>
        <p:spPr>
          <a:xfrm>
            <a:off x="7105472"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Content management with </a:t>
            </a:r>
            <a:r>
              <a:rPr sz="1400" b="1">
                <a:solidFill>
                  <a:srgbClr val="00897B"/>
                </a:solidFill>
              </a:rPr>
              <a:t>approval workflow</a:t>
            </a:r>
            <a:r>
              <a:rPr sz="1400" b="0">
                <a:solidFill>
                  <a:srgbClr val="555555"/>
                </a:solidFill>
              </a:rPr>
              <a:t> for authorized barangay representatives</a:t>
            </a:r>
          </a:p>
        </p:txBody>
      </p:sp>
      <p:sp>
        <p:nvSpPr>
          <p:cNvPr id="34" name="Rounded Rectangle 33"/>
          <p:cNvSpPr/>
          <p:nvPr/>
        </p:nvSpPr>
        <p:spPr>
          <a:xfrm>
            <a:off x="666733"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7" name="TextBox 36"/>
          <p:cNvSpPr txBox="1"/>
          <p:nvPr/>
        </p:nvSpPr>
        <p:spPr>
          <a:xfrm>
            <a:off x="1581110" y="5532084"/>
            <a:ext cx="334174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Tourist Guide and Routes</a:t>
            </a:r>
          </a:p>
        </p:txBody>
      </p:sp>
      <p:sp>
        <p:nvSpPr>
          <p:cNvPr id="38" name="TextBox 37"/>
          <p:cNvSpPr txBox="1"/>
          <p:nvPr/>
        </p:nvSpPr>
        <p:spPr>
          <a:xfrm>
            <a:off x="1581110"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Recommended </a:t>
            </a:r>
            <a:r>
              <a:rPr sz="1400" b="1">
                <a:solidFill>
                  <a:srgbClr val="00897B"/>
                </a:solidFill>
              </a:rPr>
              <a:t>themed itineraries</a:t>
            </a:r>
            <a:r>
              <a:rPr sz="1400" b="0">
                <a:solidFill>
                  <a:srgbClr val="555555"/>
                </a:solidFill>
              </a:rPr>
              <a:t> for exploring the municipality efficiently</a:t>
            </a:r>
          </a:p>
        </p:txBody>
      </p:sp>
      <p:sp>
        <p:nvSpPr>
          <p:cNvPr id="39" name="Rounded Rectangle 38"/>
          <p:cNvSpPr/>
          <p:nvPr/>
        </p:nvSpPr>
        <p:spPr>
          <a:xfrm>
            <a:off x="6191095"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2" name="TextBox 41"/>
          <p:cNvSpPr txBox="1"/>
          <p:nvPr/>
        </p:nvSpPr>
        <p:spPr>
          <a:xfrm>
            <a:off x="7105472" y="5532084"/>
            <a:ext cx="276473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Analytics Dashboard</a:t>
            </a:r>
          </a:p>
        </p:txBody>
      </p:sp>
      <p:sp>
        <p:nvSpPr>
          <p:cNvPr id="43" name="TextBox 42"/>
          <p:cNvSpPr txBox="1"/>
          <p:nvPr/>
        </p:nvSpPr>
        <p:spPr>
          <a:xfrm>
            <a:off x="7105472"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Visualizes </a:t>
            </a:r>
            <a:r>
              <a:rPr sz="1400" b="1">
                <a:solidFill>
                  <a:srgbClr val="00897B"/>
                </a:solidFill>
              </a:rPr>
              <a:t>system usage data</a:t>
            </a:r>
            <a:r>
              <a:rPr sz="1400" b="0">
                <a:solidFill>
                  <a:srgbClr val="555555"/>
                </a:solidFill>
              </a:rPr>
              <a:t> and engagement trends for decision-makers</a:t>
            </a:r>
          </a:p>
        </p:txBody>
      </p:sp>
      <p:pic>
        <p:nvPicPr>
          <p:cNvPr id="44" name="Picture 43">
            <a:extLst>
              <a:ext uri="{FF2B5EF4-FFF2-40B4-BE49-F238E27FC236}">
                <a16:creationId xmlns:a16="http://schemas.microsoft.com/office/drawing/2014/main" id="{2D91A51B-CEF6-A6FC-8084-6D066E9CC147}"/>
              </a:ext>
            </a:extLst>
          </p:cNvPr>
          <p:cNvPicPr>
            <a:picLocks noChangeAspect="1"/>
          </p:cNvPicPr>
          <p:nvPr/>
        </p:nvPicPr>
        <p:blipFill>
          <a:blip r:embed="rId2"/>
          <a:stretch>
            <a:fillRect/>
          </a:stretch>
        </p:blipFill>
        <p:spPr>
          <a:xfrm>
            <a:off x="824542" y="1623098"/>
            <a:ext cx="636855" cy="636855"/>
          </a:xfrm>
          <a:prstGeom prst="rect">
            <a:avLst/>
          </a:prstGeom>
        </p:spPr>
      </p:pic>
      <p:pic>
        <p:nvPicPr>
          <p:cNvPr id="47" name="Picture 46">
            <a:extLst>
              <a:ext uri="{FF2B5EF4-FFF2-40B4-BE49-F238E27FC236}">
                <a16:creationId xmlns:a16="http://schemas.microsoft.com/office/drawing/2014/main" id="{05A0AB4E-A31A-14A6-2B6C-F30498D2AD57}"/>
              </a:ext>
            </a:extLst>
          </p:cNvPr>
          <p:cNvPicPr>
            <a:picLocks noChangeAspect="1"/>
          </p:cNvPicPr>
          <p:nvPr/>
        </p:nvPicPr>
        <p:blipFill>
          <a:blip r:embed="rId3"/>
          <a:stretch>
            <a:fillRect/>
          </a:stretch>
        </p:blipFill>
        <p:spPr>
          <a:xfrm>
            <a:off x="857228" y="2990270"/>
            <a:ext cx="667657" cy="667657"/>
          </a:xfrm>
          <a:prstGeom prst="rect">
            <a:avLst/>
          </a:prstGeom>
        </p:spPr>
      </p:pic>
      <p:pic>
        <p:nvPicPr>
          <p:cNvPr id="49" name="Picture 48">
            <a:extLst>
              <a:ext uri="{FF2B5EF4-FFF2-40B4-BE49-F238E27FC236}">
                <a16:creationId xmlns:a16="http://schemas.microsoft.com/office/drawing/2014/main" id="{819D8643-1C9C-7954-BA11-A659CA89D946}"/>
              </a:ext>
            </a:extLst>
          </p:cNvPr>
          <p:cNvPicPr>
            <a:picLocks noChangeAspect="1"/>
          </p:cNvPicPr>
          <p:nvPr/>
        </p:nvPicPr>
        <p:blipFill>
          <a:blip r:embed="rId4"/>
          <a:stretch>
            <a:fillRect/>
          </a:stretch>
        </p:blipFill>
        <p:spPr>
          <a:xfrm>
            <a:off x="832518" y="4340376"/>
            <a:ext cx="672394" cy="672394"/>
          </a:xfrm>
          <a:prstGeom prst="rect">
            <a:avLst/>
          </a:prstGeom>
        </p:spPr>
      </p:pic>
      <p:pic>
        <p:nvPicPr>
          <p:cNvPr id="51" name="Picture 50">
            <a:extLst>
              <a:ext uri="{FF2B5EF4-FFF2-40B4-BE49-F238E27FC236}">
                <a16:creationId xmlns:a16="http://schemas.microsoft.com/office/drawing/2014/main" id="{06569C3F-0D96-E4F6-312B-78D9790957BD}"/>
              </a:ext>
            </a:extLst>
          </p:cNvPr>
          <p:cNvPicPr>
            <a:picLocks noChangeAspect="1"/>
          </p:cNvPicPr>
          <p:nvPr/>
        </p:nvPicPr>
        <p:blipFill>
          <a:blip r:embed="rId5"/>
          <a:stretch>
            <a:fillRect/>
          </a:stretch>
        </p:blipFill>
        <p:spPr>
          <a:xfrm>
            <a:off x="789176" y="5638799"/>
            <a:ext cx="696686" cy="696686"/>
          </a:xfrm>
          <a:prstGeom prst="rect">
            <a:avLst/>
          </a:prstGeom>
        </p:spPr>
      </p:pic>
      <p:pic>
        <p:nvPicPr>
          <p:cNvPr id="52" name="Picture 51">
            <a:extLst>
              <a:ext uri="{FF2B5EF4-FFF2-40B4-BE49-F238E27FC236}">
                <a16:creationId xmlns:a16="http://schemas.microsoft.com/office/drawing/2014/main" id="{6B025CCC-4EE1-E588-6336-94AC8E9B2477}"/>
              </a:ext>
            </a:extLst>
          </p:cNvPr>
          <p:cNvPicPr>
            <a:picLocks noChangeAspect="1"/>
          </p:cNvPicPr>
          <p:nvPr/>
        </p:nvPicPr>
        <p:blipFill>
          <a:blip r:embed="rId6"/>
          <a:stretch>
            <a:fillRect/>
          </a:stretch>
        </p:blipFill>
        <p:spPr>
          <a:xfrm>
            <a:off x="6446460" y="1657640"/>
            <a:ext cx="671285" cy="671285"/>
          </a:xfrm>
          <a:prstGeom prst="rect">
            <a:avLst/>
          </a:prstGeom>
        </p:spPr>
      </p:pic>
      <p:pic>
        <p:nvPicPr>
          <p:cNvPr id="54" name="Picture 53">
            <a:extLst>
              <a:ext uri="{FF2B5EF4-FFF2-40B4-BE49-F238E27FC236}">
                <a16:creationId xmlns:a16="http://schemas.microsoft.com/office/drawing/2014/main" id="{756A2016-7B92-282A-40D6-C0E2E6E116C4}"/>
              </a:ext>
            </a:extLst>
          </p:cNvPr>
          <p:cNvPicPr>
            <a:picLocks noChangeAspect="1"/>
          </p:cNvPicPr>
          <p:nvPr/>
        </p:nvPicPr>
        <p:blipFill>
          <a:blip r:embed="rId7"/>
          <a:stretch>
            <a:fillRect/>
          </a:stretch>
        </p:blipFill>
        <p:spPr>
          <a:xfrm>
            <a:off x="6271628" y="2855559"/>
            <a:ext cx="878737" cy="878737"/>
          </a:xfrm>
          <a:prstGeom prst="rect">
            <a:avLst/>
          </a:prstGeom>
        </p:spPr>
      </p:pic>
      <p:pic>
        <p:nvPicPr>
          <p:cNvPr id="58" name="Picture 57">
            <a:extLst>
              <a:ext uri="{FF2B5EF4-FFF2-40B4-BE49-F238E27FC236}">
                <a16:creationId xmlns:a16="http://schemas.microsoft.com/office/drawing/2014/main" id="{DDE81CA5-1293-775C-E803-E030FA4A2AD7}"/>
              </a:ext>
            </a:extLst>
          </p:cNvPr>
          <p:cNvPicPr>
            <a:picLocks noChangeAspect="1"/>
          </p:cNvPicPr>
          <p:nvPr/>
        </p:nvPicPr>
        <p:blipFill>
          <a:blip r:embed="rId8"/>
          <a:stretch>
            <a:fillRect/>
          </a:stretch>
        </p:blipFill>
        <p:spPr>
          <a:xfrm>
            <a:off x="6340760" y="4438650"/>
            <a:ext cx="653143" cy="653143"/>
          </a:xfrm>
          <a:prstGeom prst="rect">
            <a:avLst/>
          </a:prstGeom>
        </p:spPr>
      </p:pic>
      <p:pic>
        <p:nvPicPr>
          <p:cNvPr id="62" name="Picture 61">
            <a:extLst>
              <a:ext uri="{FF2B5EF4-FFF2-40B4-BE49-F238E27FC236}">
                <a16:creationId xmlns:a16="http://schemas.microsoft.com/office/drawing/2014/main" id="{5E9D6DB7-3B34-B99D-530B-AF348DC697D9}"/>
              </a:ext>
            </a:extLst>
          </p:cNvPr>
          <p:cNvPicPr>
            <a:picLocks noChangeAspect="1"/>
          </p:cNvPicPr>
          <p:nvPr/>
        </p:nvPicPr>
        <p:blipFill>
          <a:blip r:embed="rId9"/>
          <a:stretch>
            <a:fillRect/>
          </a:stretch>
        </p:blipFill>
        <p:spPr>
          <a:xfrm>
            <a:off x="6293362" y="5629728"/>
            <a:ext cx="878736" cy="87873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6A07D-F4F0-BD3C-FDE1-E8EC3AD0AEF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C7317B-2B45-DF38-E7BE-DFB70F0E2363}"/>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a:extLst>
              <a:ext uri="{FF2B5EF4-FFF2-40B4-BE49-F238E27FC236}">
                <a16:creationId xmlns:a16="http://schemas.microsoft.com/office/drawing/2014/main" id="{49E236C1-177F-19BB-B786-1BDF1A69F605}"/>
              </a:ext>
            </a:extLst>
          </p:cNvPr>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Scope of the System</a:t>
            </a:r>
          </a:p>
        </p:txBody>
      </p:sp>
      <p:grpSp>
        <p:nvGrpSpPr>
          <p:cNvPr id="14" name="Group 13">
            <a:extLst>
              <a:ext uri="{FF2B5EF4-FFF2-40B4-BE49-F238E27FC236}">
                <a16:creationId xmlns:a16="http://schemas.microsoft.com/office/drawing/2014/main" id="{DE04AC64-9916-5FDE-033C-640D4B9E91B3}"/>
              </a:ext>
            </a:extLst>
          </p:cNvPr>
          <p:cNvGrpSpPr/>
          <p:nvPr/>
        </p:nvGrpSpPr>
        <p:grpSpPr>
          <a:xfrm>
            <a:off x="565132" y="1434618"/>
            <a:ext cx="6772003" cy="1239181"/>
            <a:chOff x="565132" y="1434618"/>
            <a:chExt cx="6772003" cy="1239181"/>
          </a:xfrm>
        </p:grpSpPr>
        <p:sp>
          <p:nvSpPr>
            <p:cNvPr id="4" name="Rounded Rectangle 3">
              <a:extLst>
                <a:ext uri="{FF2B5EF4-FFF2-40B4-BE49-F238E27FC236}">
                  <a16:creationId xmlns:a16="http://schemas.microsoft.com/office/drawing/2014/main" id="{2A040953-94F0-1229-2342-C5343C022B59}"/>
                </a:ext>
              </a:extLst>
            </p:cNvPr>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a:extLst>
                <a:ext uri="{FF2B5EF4-FFF2-40B4-BE49-F238E27FC236}">
                  <a16:creationId xmlns:a16="http://schemas.microsoft.com/office/drawing/2014/main" id="{83D64B8E-5DC2-EE1B-52EA-BD84D86C6987}"/>
                </a:ext>
              </a:extLst>
            </p:cNvPr>
            <p:cNvSpPr txBox="1"/>
            <p:nvPr/>
          </p:nvSpPr>
          <p:spPr>
            <a:xfrm>
              <a:off x="1479510" y="1487626"/>
              <a:ext cx="5620449" cy="541687"/>
            </a:xfrm>
            <a:prstGeom prst="rect">
              <a:avLst/>
            </a:prstGeom>
            <a:noFill/>
          </p:spPr>
          <p:txBody>
            <a:bodyPr wrap="none" lIns="73152" tIns="54864" rIns="73152" bIns="54864" anchor="ctr">
              <a:spAutoFit/>
            </a:bodyPr>
            <a:lstStyle/>
            <a:p>
              <a:pPr>
                <a:spcAft>
                  <a:spcPts val="520"/>
                </a:spcAft>
              </a:pPr>
              <a:r>
                <a:rPr lang="en-GB" sz="2800" b="1" dirty="0">
                  <a:solidFill>
                    <a:srgbClr val="00897B"/>
                  </a:solidFill>
                </a:rPr>
                <a:t>82 barangays across the municipality</a:t>
              </a:r>
              <a:endParaRPr lang="en-US" sz="2800" b="1" dirty="0">
                <a:solidFill>
                  <a:srgbClr val="00897B"/>
                </a:solidFill>
              </a:endParaRPr>
            </a:p>
          </p:txBody>
        </p:sp>
        <p:sp>
          <p:nvSpPr>
            <p:cNvPr id="8" name="TextBox 7">
              <a:extLst>
                <a:ext uri="{FF2B5EF4-FFF2-40B4-BE49-F238E27FC236}">
                  <a16:creationId xmlns:a16="http://schemas.microsoft.com/office/drawing/2014/main" id="{20C1D2D9-498A-F035-278B-9C475A867BAE}"/>
                </a:ext>
              </a:extLst>
            </p:cNvPr>
            <p:cNvSpPr txBox="1"/>
            <p:nvPr/>
          </p:nvSpPr>
          <p:spPr>
            <a:xfrm>
              <a:off x="1580688" y="1995494"/>
              <a:ext cx="5181469" cy="472373"/>
            </a:xfrm>
            <a:prstGeom prst="rect">
              <a:avLst/>
            </a:prstGeom>
            <a:noFill/>
          </p:spPr>
          <p:txBody>
            <a:bodyPr wrap="square" lIns="73152" tIns="54864" rIns="73152" bIns="54864" anchor="ctr">
              <a:spAutoFit/>
            </a:bodyPr>
            <a:lstStyle/>
            <a:p>
              <a:pPr>
                <a:lnSpc>
                  <a:spcPts val="1430"/>
                </a:lnSpc>
              </a:pPr>
              <a:r>
                <a:rPr lang="en-GB" sz="1400" dirty="0"/>
                <a:t>Enables digital </a:t>
              </a:r>
              <a:r>
                <a:rPr lang="en-GB" sz="1400" b="1" dirty="0"/>
                <a:t>coordination for all 82 barangays</a:t>
              </a:r>
              <a:r>
                <a:rPr lang="en-GB" sz="1400" dirty="0"/>
                <a:t> to independently submit and update their local cultural events and profiles</a:t>
              </a:r>
              <a:endParaRPr sz="1400" b="0" dirty="0">
                <a:solidFill>
                  <a:srgbClr val="555555"/>
                </a:solidFill>
              </a:endParaRPr>
            </a:p>
          </p:txBody>
        </p:sp>
      </p:grpSp>
      <p:grpSp>
        <p:nvGrpSpPr>
          <p:cNvPr id="44" name="Group 43">
            <a:extLst>
              <a:ext uri="{FF2B5EF4-FFF2-40B4-BE49-F238E27FC236}">
                <a16:creationId xmlns:a16="http://schemas.microsoft.com/office/drawing/2014/main" id="{C36E708F-1AFB-8062-2488-9D7259073CD5}"/>
              </a:ext>
            </a:extLst>
          </p:cNvPr>
          <p:cNvGrpSpPr/>
          <p:nvPr/>
        </p:nvGrpSpPr>
        <p:grpSpPr>
          <a:xfrm>
            <a:off x="565132" y="4578712"/>
            <a:ext cx="7804168" cy="1989479"/>
            <a:chOff x="2104869" y="3832246"/>
            <a:chExt cx="5333866" cy="1152524"/>
          </a:xfrm>
        </p:grpSpPr>
        <p:sp>
          <p:nvSpPr>
            <p:cNvPr id="9" name="Rounded Rectangle 8">
              <a:extLst>
                <a:ext uri="{FF2B5EF4-FFF2-40B4-BE49-F238E27FC236}">
                  <a16:creationId xmlns:a16="http://schemas.microsoft.com/office/drawing/2014/main" id="{2EB89054-CAB4-D79B-4555-96FC6BCA6C5D}"/>
                </a:ext>
              </a:extLst>
            </p:cNvPr>
            <p:cNvSpPr/>
            <p:nvPr/>
          </p:nvSpPr>
          <p:spPr>
            <a:xfrm>
              <a:off x="2104869" y="3832246"/>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2" name="TextBox 11">
              <a:extLst>
                <a:ext uri="{FF2B5EF4-FFF2-40B4-BE49-F238E27FC236}">
                  <a16:creationId xmlns:a16="http://schemas.microsoft.com/office/drawing/2014/main" id="{5EAD9970-DE6E-114A-31DF-D9AD44810350}"/>
                </a:ext>
              </a:extLst>
            </p:cNvPr>
            <p:cNvSpPr txBox="1"/>
            <p:nvPr/>
          </p:nvSpPr>
          <p:spPr>
            <a:xfrm>
              <a:off x="3002979" y="4063208"/>
              <a:ext cx="2930560" cy="477820"/>
            </a:xfrm>
            <a:prstGeom prst="rect">
              <a:avLst/>
            </a:prstGeom>
            <a:noFill/>
          </p:spPr>
          <p:txBody>
            <a:bodyPr wrap="none" lIns="73152" tIns="54864" rIns="73152" bIns="54864" anchor="ctr">
              <a:spAutoFit/>
            </a:bodyPr>
            <a:lstStyle/>
            <a:p>
              <a:pPr>
                <a:spcAft>
                  <a:spcPts val="520"/>
                </a:spcAft>
              </a:pPr>
              <a:r>
                <a:rPr lang="en-GB" sz="2400" dirty="0">
                  <a:solidFill>
                    <a:srgbClr val="00897B"/>
                  </a:solidFill>
                </a:rPr>
                <a:t>Promotes eco-tourism initiatives and </a:t>
              </a:r>
              <a:br>
                <a:rPr lang="en-GB" sz="2400" dirty="0">
                  <a:solidFill>
                    <a:srgbClr val="00897B"/>
                  </a:solidFill>
                </a:rPr>
              </a:br>
              <a:r>
                <a:rPr lang="en-GB" sz="2400" dirty="0">
                  <a:solidFill>
                    <a:srgbClr val="00897B"/>
                  </a:solidFill>
                </a:rPr>
                <a:t>hosts festivals like the </a:t>
              </a:r>
              <a:r>
                <a:rPr lang="en-GB" sz="2400" dirty="0" err="1">
                  <a:solidFill>
                    <a:srgbClr val="00897B"/>
                  </a:solidFill>
                </a:rPr>
                <a:t>Tupig</a:t>
              </a:r>
              <a:r>
                <a:rPr lang="en-GB" sz="2400" dirty="0">
                  <a:solidFill>
                    <a:srgbClr val="00897B"/>
                  </a:solidFill>
                </a:rPr>
                <a:t> Festiva</a:t>
              </a:r>
              <a:endParaRPr sz="2400" b="1" dirty="0">
                <a:solidFill>
                  <a:srgbClr val="00897B"/>
                </a:solidFill>
              </a:endParaRPr>
            </a:p>
          </p:txBody>
        </p:sp>
        <p:sp>
          <p:nvSpPr>
            <p:cNvPr id="13" name="TextBox 12">
              <a:extLst>
                <a:ext uri="{FF2B5EF4-FFF2-40B4-BE49-F238E27FC236}">
                  <a16:creationId xmlns:a16="http://schemas.microsoft.com/office/drawing/2014/main" id="{8B703493-D56D-9B91-4555-6C0CB7F8DB09}"/>
                </a:ext>
              </a:extLst>
            </p:cNvPr>
            <p:cNvSpPr txBox="1"/>
            <p:nvPr/>
          </p:nvSpPr>
          <p:spPr>
            <a:xfrm>
              <a:off x="3002979" y="4582492"/>
              <a:ext cx="4228994" cy="273318"/>
            </a:xfrm>
            <a:prstGeom prst="rect">
              <a:avLst/>
            </a:prstGeom>
            <a:noFill/>
          </p:spPr>
          <p:txBody>
            <a:bodyPr wrap="square" lIns="73152" tIns="54864" rIns="73152" bIns="54864" anchor="ctr">
              <a:spAutoFit/>
            </a:bodyPr>
            <a:lstStyle/>
            <a:p>
              <a:pPr>
                <a:lnSpc>
                  <a:spcPts val="1430"/>
                </a:lnSpc>
              </a:pPr>
              <a:r>
                <a:rPr lang="en-GB" dirty="0"/>
                <a:t>Facilitates organized planning and efficient sharing of specific cultural events, such as the </a:t>
              </a:r>
              <a:r>
                <a:rPr lang="en-GB" dirty="0" err="1"/>
                <a:t>Tupig</a:t>
              </a:r>
              <a:r>
                <a:rPr lang="en-GB" dirty="0"/>
                <a:t> Festival, directly from the source</a:t>
              </a:r>
              <a:endParaRPr b="0" dirty="0">
                <a:solidFill>
                  <a:srgbClr val="555555"/>
                </a:solidFill>
              </a:endParaRPr>
            </a:p>
          </p:txBody>
        </p:sp>
      </p:grpSp>
      <p:grpSp>
        <p:nvGrpSpPr>
          <p:cNvPr id="15" name="Group 14">
            <a:extLst>
              <a:ext uri="{FF2B5EF4-FFF2-40B4-BE49-F238E27FC236}">
                <a16:creationId xmlns:a16="http://schemas.microsoft.com/office/drawing/2014/main" id="{4A19BB1E-0110-A32C-226F-319899417401}"/>
              </a:ext>
            </a:extLst>
          </p:cNvPr>
          <p:cNvGrpSpPr/>
          <p:nvPr/>
        </p:nvGrpSpPr>
        <p:grpSpPr>
          <a:xfrm>
            <a:off x="565132" y="3082839"/>
            <a:ext cx="7693497" cy="1239181"/>
            <a:chOff x="565132" y="1434618"/>
            <a:chExt cx="6772003" cy="1239181"/>
          </a:xfrm>
        </p:grpSpPr>
        <p:sp>
          <p:nvSpPr>
            <p:cNvPr id="16" name="Rounded Rectangle 3">
              <a:extLst>
                <a:ext uri="{FF2B5EF4-FFF2-40B4-BE49-F238E27FC236}">
                  <a16:creationId xmlns:a16="http://schemas.microsoft.com/office/drawing/2014/main" id="{B6CEB54F-DE13-8E90-6BC0-B96844901766}"/>
                </a:ext>
              </a:extLst>
            </p:cNvPr>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9" name="TextBox 18">
              <a:extLst>
                <a:ext uri="{FF2B5EF4-FFF2-40B4-BE49-F238E27FC236}">
                  <a16:creationId xmlns:a16="http://schemas.microsoft.com/office/drawing/2014/main" id="{FB629FCA-2AAF-BF08-3EEA-BEAFA8D28754}"/>
                </a:ext>
              </a:extLst>
            </p:cNvPr>
            <p:cNvSpPr txBox="1"/>
            <p:nvPr/>
          </p:nvSpPr>
          <p:spPr>
            <a:xfrm>
              <a:off x="1513873" y="1435379"/>
              <a:ext cx="4477223" cy="541687"/>
            </a:xfrm>
            <a:prstGeom prst="rect">
              <a:avLst/>
            </a:prstGeom>
            <a:noFill/>
          </p:spPr>
          <p:txBody>
            <a:bodyPr wrap="none" lIns="73152" tIns="54864" rIns="73152" bIns="54864" anchor="ctr">
              <a:spAutoFit/>
            </a:bodyPr>
            <a:lstStyle/>
            <a:p>
              <a:pPr>
                <a:spcAft>
                  <a:spcPts val="520"/>
                </a:spcAft>
              </a:pPr>
              <a:r>
                <a:rPr lang="en-US" sz="2800" b="1" i="1" dirty="0">
                  <a:solidFill>
                    <a:srgbClr val="00897B"/>
                  </a:solidFill>
                </a:rPr>
                <a:t>Real-time fare budget estimation</a:t>
              </a:r>
              <a:endParaRPr lang="en-US" sz="2800" b="1" dirty="0">
                <a:solidFill>
                  <a:srgbClr val="00897B"/>
                </a:solidFill>
              </a:endParaRPr>
            </a:p>
          </p:txBody>
        </p:sp>
        <p:sp>
          <p:nvSpPr>
            <p:cNvPr id="20" name="TextBox 19">
              <a:extLst>
                <a:ext uri="{FF2B5EF4-FFF2-40B4-BE49-F238E27FC236}">
                  <a16:creationId xmlns:a16="http://schemas.microsoft.com/office/drawing/2014/main" id="{6ABB52D8-DE76-503A-82E8-AC5DEEAB2AE5}"/>
                </a:ext>
              </a:extLst>
            </p:cNvPr>
            <p:cNvSpPr txBox="1"/>
            <p:nvPr/>
          </p:nvSpPr>
          <p:spPr>
            <a:xfrm>
              <a:off x="1580688" y="1988729"/>
              <a:ext cx="5181469" cy="485902"/>
            </a:xfrm>
            <a:prstGeom prst="rect">
              <a:avLst/>
            </a:prstGeom>
            <a:noFill/>
          </p:spPr>
          <p:txBody>
            <a:bodyPr wrap="square" lIns="73152" tIns="54864" rIns="73152" bIns="54864" anchor="ctr">
              <a:spAutoFit/>
            </a:bodyPr>
            <a:lstStyle/>
            <a:p>
              <a:pPr>
                <a:lnSpc>
                  <a:spcPts val="1430"/>
                </a:lnSpc>
              </a:pPr>
              <a:r>
                <a:rPr lang="en-US" i="1" dirty="0"/>
                <a:t>Enables tourists to </a:t>
              </a:r>
              <a:r>
                <a:rPr lang="en-US" b="1" i="1" dirty="0"/>
                <a:t>select attractions and services</a:t>
              </a:r>
              <a:r>
                <a:rPr lang="en-US" i="1" dirty="0"/>
                <a:t> to instantly generate an itemized cost breakdown —tricycle/jeepney fares</a:t>
              </a:r>
              <a:endParaRPr sz="1400" b="0" dirty="0">
                <a:solidFill>
                  <a:srgbClr val="555555"/>
                </a:solidFill>
              </a:endParaRPr>
            </a:p>
          </p:txBody>
        </p:sp>
      </p:grpSp>
      <p:pic>
        <p:nvPicPr>
          <p:cNvPr id="22" name="Picture 21">
            <a:extLst>
              <a:ext uri="{FF2B5EF4-FFF2-40B4-BE49-F238E27FC236}">
                <a16:creationId xmlns:a16="http://schemas.microsoft.com/office/drawing/2014/main" id="{883B019F-C3EA-C248-9A5F-6CCB51EECF89}"/>
              </a:ext>
            </a:extLst>
          </p:cNvPr>
          <p:cNvPicPr>
            <a:picLocks noChangeAspect="1"/>
          </p:cNvPicPr>
          <p:nvPr/>
        </p:nvPicPr>
        <p:blipFill>
          <a:blip r:embed="rId2"/>
          <a:stretch>
            <a:fillRect/>
          </a:stretch>
        </p:blipFill>
        <p:spPr>
          <a:xfrm flipV="1">
            <a:off x="737135" y="3293241"/>
            <a:ext cx="700947" cy="700947"/>
          </a:xfrm>
          <a:prstGeom prst="rect">
            <a:avLst/>
          </a:prstGeom>
        </p:spPr>
      </p:pic>
      <p:pic>
        <p:nvPicPr>
          <p:cNvPr id="24" name="Picture 23">
            <a:extLst>
              <a:ext uri="{FF2B5EF4-FFF2-40B4-BE49-F238E27FC236}">
                <a16:creationId xmlns:a16="http://schemas.microsoft.com/office/drawing/2014/main" id="{1F535F16-8D24-3226-F28D-F352E6516FED}"/>
              </a:ext>
            </a:extLst>
          </p:cNvPr>
          <p:cNvPicPr>
            <a:picLocks noChangeAspect="1"/>
          </p:cNvPicPr>
          <p:nvPr/>
        </p:nvPicPr>
        <p:blipFill>
          <a:blip r:embed="rId3"/>
          <a:stretch>
            <a:fillRect/>
          </a:stretch>
        </p:blipFill>
        <p:spPr>
          <a:xfrm>
            <a:off x="743023" y="1594825"/>
            <a:ext cx="636855" cy="636855"/>
          </a:xfrm>
          <a:prstGeom prst="rect">
            <a:avLst/>
          </a:prstGeom>
        </p:spPr>
      </p:pic>
      <p:pic>
        <p:nvPicPr>
          <p:cNvPr id="26" name="Picture 25">
            <a:extLst>
              <a:ext uri="{FF2B5EF4-FFF2-40B4-BE49-F238E27FC236}">
                <a16:creationId xmlns:a16="http://schemas.microsoft.com/office/drawing/2014/main" id="{B66B34F5-D76F-31DB-517D-EF1F02B84251}"/>
              </a:ext>
            </a:extLst>
          </p:cNvPr>
          <p:cNvPicPr>
            <a:picLocks noChangeAspect="1"/>
          </p:cNvPicPr>
          <p:nvPr/>
        </p:nvPicPr>
        <p:blipFill>
          <a:blip r:embed="rId4"/>
          <a:stretch>
            <a:fillRect/>
          </a:stretch>
        </p:blipFill>
        <p:spPr>
          <a:xfrm>
            <a:off x="1044235" y="5389802"/>
            <a:ext cx="671285" cy="671285"/>
          </a:xfrm>
          <a:prstGeom prst="rect">
            <a:avLst/>
          </a:prstGeom>
        </p:spPr>
      </p:pic>
    </p:spTree>
    <p:extLst>
      <p:ext uri="{BB962C8B-B14F-4D97-AF65-F5344CB8AC3E}">
        <p14:creationId xmlns:p14="http://schemas.microsoft.com/office/powerpoint/2010/main" val="13444770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344394"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Users of the System</a:t>
            </a:r>
          </a:p>
        </p:txBody>
      </p:sp>
      <p:sp>
        <p:nvSpPr>
          <p:cNvPr id="4" name="Rounded Rectangle 3"/>
          <p:cNvSpPr/>
          <p:nvPr/>
        </p:nvSpPr>
        <p:spPr>
          <a:xfrm>
            <a:off x="740130"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66773" y="1867228"/>
            <a:ext cx="342891" cy="266043"/>
          </a:xfrm>
          <a:prstGeom prst="rect">
            <a:avLst/>
          </a:prstGeom>
        </p:spPr>
      </p:pic>
      <p:sp>
        <p:nvSpPr>
          <p:cNvPr id="7" name="TextBox 6"/>
          <p:cNvSpPr txBox="1"/>
          <p:nvPr/>
        </p:nvSpPr>
        <p:spPr>
          <a:xfrm>
            <a:off x="1762080" y="1610345"/>
            <a:ext cx="3365665"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System Administrator</a:t>
            </a:r>
          </a:p>
        </p:txBody>
      </p:sp>
      <p:sp>
        <p:nvSpPr>
          <p:cNvPr id="8" name="TextBox 7"/>
          <p:cNvSpPr txBox="1"/>
          <p:nvPr/>
        </p:nvSpPr>
        <p:spPr>
          <a:xfrm>
            <a:off x="1762080" y="2008579"/>
            <a:ext cx="2228110"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Tourism Office Staff / IT Staff</a:t>
            </a:r>
          </a:p>
        </p:txBody>
      </p:sp>
      <p:pic>
        <p:nvPicPr>
          <p:cNvPr id="9" name="Picture 8" descr="image.png"/>
          <p:cNvPicPr>
            <a:picLocks noChangeAspect="1"/>
          </p:cNvPicPr>
          <p:nvPr/>
        </p:nvPicPr>
        <p:blipFill>
          <a:blip r:embed="rId3">
            <a:alphaModFix/>
          </a:blip>
          <a:stretch>
            <a:fillRect/>
          </a:stretch>
        </p:blipFill>
        <p:spPr>
          <a:xfrm>
            <a:off x="904852" y="2565586"/>
            <a:ext cx="190495" cy="145676"/>
          </a:xfrm>
          <a:prstGeom prst="rect">
            <a:avLst/>
          </a:prstGeom>
        </p:spPr>
      </p:pic>
      <p:sp>
        <p:nvSpPr>
          <p:cNvPr id="10" name="TextBox 9"/>
          <p:cNvSpPr txBox="1"/>
          <p:nvPr/>
        </p:nvSpPr>
        <p:spPr>
          <a:xfrm>
            <a:off x="1190595" y="2481898"/>
            <a:ext cx="4742709"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Manages user accounts</a:t>
            </a:r>
            <a:r>
              <a:rPr sz="1600" b="0" dirty="0">
                <a:solidFill>
                  <a:srgbClr val="333333"/>
                </a:solidFill>
              </a:rPr>
              <a:t> and system access permissions</a:t>
            </a:r>
          </a:p>
        </p:txBody>
      </p:sp>
      <p:pic>
        <p:nvPicPr>
          <p:cNvPr id="11" name="Picture 10" descr="image.png"/>
          <p:cNvPicPr>
            <a:picLocks noChangeAspect="1"/>
          </p:cNvPicPr>
          <p:nvPr/>
        </p:nvPicPr>
        <p:blipFill>
          <a:blip r:embed="rId4">
            <a:alphaModFix/>
          </a:blip>
          <a:stretch>
            <a:fillRect/>
          </a:stretch>
        </p:blipFill>
        <p:spPr>
          <a:xfrm>
            <a:off x="904852" y="2934260"/>
            <a:ext cx="190495" cy="151279"/>
          </a:xfrm>
          <a:prstGeom prst="rect">
            <a:avLst/>
          </a:prstGeom>
        </p:spPr>
      </p:pic>
      <p:sp>
        <p:nvSpPr>
          <p:cNvPr id="12" name="TextBox 11"/>
          <p:cNvSpPr txBox="1"/>
          <p:nvPr/>
        </p:nvSpPr>
        <p:spPr>
          <a:xfrm>
            <a:off x="1190595" y="2853373"/>
            <a:ext cx="4879477"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Approves/rejects</a:t>
            </a:r>
            <a:r>
              <a:rPr sz="1600" b="0" dirty="0">
                <a:solidFill>
                  <a:srgbClr val="333333"/>
                </a:solidFill>
              </a:rPr>
              <a:t> content submissions from contributors</a:t>
            </a:r>
          </a:p>
        </p:txBody>
      </p:sp>
      <p:pic>
        <p:nvPicPr>
          <p:cNvPr id="13" name="Picture 12" descr="image.png"/>
          <p:cNvPicPr>
            <a:picLocks noChangeAspect="1"/>
          </p:cNvPicPr>
          <p:nvPr/>
        </p:nvPicPr>
        <p:blipFill>
          <a:blip r:embed="rId5">
            <a:alphaModFix/>
          </a:blip>
          <a:stretch>
            <a:fillRect/>
          </a:stretch>
        </p:blipFill>
        <p:spPr>
          <a:xfrm>
            <a:off x="904852" y="3300132"/>
            <a:ext cx="190495" cy="162485"/>
          </a:xfrm>
          <a:prstGeom prst="rect">
            <a:avLst/>
          </a:prstGeom>
        </p:spPr>
      </p:pic>
      <p:sp>
        <p:nvSpPr>
          <p:cNvPr id="14" name="TextBox 13"/>
          <p:cNvSpPr txBox="1"/>
          <p:nvPr/>
        </p:nvSpPr>
        <p:spPr>
          <a:xfrm>
            <a:off x="1172254" y="3224848"/>
            <a:ext cx="494936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Oversees </a:t>
            </a:r>
            <a:r>
              <a:rPr sz="1600" b="1" dirty="0">
                <a:solidFill>
                  <a:srgbClr val="00897B"/>
                </a:solidFill>
              </a:rPr>
              <a:t>platform maintenance</a:t>
            </a:r>
            <a:r>
              <a:rPr sz="1600" b="0" dirty="0">
                <a:solidFill>
                  <a:srgbClr val="333333"/>
                </a:solidFill>
              </a:rPr>
              <a:t> and technical operations</a:t>
            </a:r>
          </a:p>
        </p:txBody>
      </p:sp>
      <p:sp>
        <p:nvSpPr>
          <p:cNvPr id="15" name="Rounded Rectangle 14"/>
          <p:cNvSpPr/>
          <p:nvPr/>
        </p:nvSpPr>
        <p:spPr>
          <a:xfrm>
            <a:off x="6312116"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6" name="Rounded Rectangle 15"/>
          <p:cNvSpPr/>
          <p:nvPr/>
        </p:nvSpPr>
        <p:spPr>
          <a:xfrm>
            <a:off x="6476838"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7" name="Picture 16" descr="image.png"/>
          <p:cNvPicPr>
            <a:picLocks noChangeAspect="1"/>
          </p:cNvPicPr>
          <p:nvPr/>
        </p:nvPicPr>
        <p:blipFill>
          <a:blip r:embed="rId6">
            <a:alphaModFix/>
          </a:blip>
          <a:stretch>
            <a:fillRect/>
          </a:stretch>
        </p:blipFill>
        <p:spPr>
          <a:xfrm>
            <a:off x="6638759" y="1893832"/>
            <a:ext cx="342891" cy="212834"/>
          </a:xfrm>
          <a:prstGeom prst="rect">
            <a:avLst/>
          </a:prstGeom>
        </p:spPr>
      </p:pic>
      <p:sp>
        <p:nvSpPr>
          <p:cNvPr id="18" name="TextBox 17"/>
          <p:cNvSpPr txBox="1"/>
          <p:nvPr/>
        </p:nvSpPr>
        <p:spPr>
          <a:xfrm>
            <a:off x="7334066" y="1610345"/>
            <a:ext cx="3850606"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Barangay Representative</a:t>
            </a:r>
          </a:p>
        </p:txBody>
      </p:sp>
      <p:sp>
        <p:nvSpPr>
          <p:cNvPr id="19" name="TextBox 18"/>
          <p:cNvSpPr txBox="1"/>
          <p:nvPr/>
        </p:nvSpPr>
        <p:spPr>
          <a:xfrm>
            <a:off x="7334066" y="2008579"/>
            <a:ext cx="100194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Contributor</a:t>
            </a:r>
          </a:p>
        </p:txBody>
      </p:sp>
      <p:pic>
        <p:nvPicPr>
          <p:cNvPr id="20" name="Picture 19" descr="image.png"/>
          <p:cNvPicPr>
            <a:picLocks noChangeAspect="1"/>
          </p:cNvPicPr>
          <p:nvPr/>
        </p:nvPicPr>
        <p:blipFill>
          <a:blip r:embed="rId7">
            <a:alphaModFix/>
          </a:blip>
          <a:stretch>
            <a:fillRect/>
          </a:stretch>
        </p:blipFill>
        <p:spPr>
          <a:xfrm>
            <a:off x="6476838" y="2557182"/>
            <a:ext cx="190495" cy="162485"/>
          </a:xfrm>
          <a:prstGeom prst="rect">
            <a:avLst/>
          </a:prstGeom>
        </p:spPr>
      </p:pic>
      <p:sp>
        <p:nvSpPr>
          <p:cNvPr id="21" name="TextBox 20"/>
          <p:cNvSpPr txBox="1"/>
          <p:nvPr/>
        </p:nvSpPr>
        <p:spPr>
          <a:xfrm>
            <a:off x="6762580" y="2481898"/>
            <a:ext cx="440146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Submits content</a:t>
            </a:r>
            <a:r>
              <a:rPr sz="1600" b="0">
                <a:solidFill>
                  <a:srgbClr val="333333"/>
                </a:solidFill>
              </a:rPr>
              <a:t> about local attractions and events</a:t>
            </a:r>
          </a:p>
        </p:txBody>
      </p:sp>
      <p:pic>
        <p:nvPicPr>
          <p:cNvPr id="22" name="Picture 21" descr="image.png"/>
          <p:cNvPicPr>
            <a:picLocks noChangeAspect="1"/>
          </p:cNvPicPr>
          <p:nvPr/>
        </p:nvPicPr>
        <p:blipFill>
          <a:blip r:embed="rId8">
            <a:alphaModFix/>
          </a:blip>
          <a:stretch>
            <a:fillRect/>
          </a:stretch>
        </p:blipFill>
        <p:spPr>
          <a:xfrm>
            <a:off x="6476838" y="2934260"/>
            <a:ext cx="190495" cy="151279"/>
          </a:xfrm>
          <a:prstGeom prst="rect">
            <a:avLst/>
          </a:prstGeom>
        </p:spPr>
      </p:pic>
      <p:sp>
        <p:nvSpPr>
          <p:cNvPr id="23" name="TextBox 22"/>
          <p:cNvSpPr txBox="1"/>
          <p:nvPr/>
        </p:nvSpPr>
        <p:spPr>
          <a:xfrm>
            <a:off x="6762580" y="2853373"/>
            <a:ext cx="3904274"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Updates information</a:t>
            </a:r>
            <a:r>
              <a:rPr sz="1600" b="0">
                <a:solidFill>
                  <a:srgbClr val="333333"/>
                </a:solidFill>
              </a:rPr>
              <a:t> within their jurisdiction</a:t>
            </a:r>
          </a:p>
        </p:txBody>
      </p:sp>
      <p:pic>
        <p:nvPicPr>
          <p:cNvPr id="24" name="Picture 23" descr="image.png"/>
          <p:cNvPicPr>
            <a:picLocks noChangeAspect="1"/>
          </p:cNvPicPr>
          <p:nvPr/>
        </p:nvPicPr>
        <p:blipFill>
          <a:blip r:embed="rId9">
            <a:alphaModFix/>
          </a:blip>
          <a:stretch>
            <a:fillRect/>
          </a:stretch>
        </p:blipFill>
        <p:spPr>
          <a:xfrm>
            <a:off x="6476838" y="3300132"/>
            <a:ext cx="190495" cy="162485"/>
          </a:xfrm>
          <a:prstGeom prst="rect">
            <a:avLst/>
          </a:prstGeom>
        </p:spPr>
      </p:pic>
      <p:sp>
        <p:nvSpPr>
          <p:cNvPr id="25" name="TextBox 24"/>
          <p:cNvSpPr txBox="1"/>
          <p:nvPr/>
        </p:nvSpPr>
        <p:spPr>
          <a:xfrm>
            <a:off x="6762580" y="3224848"/>
            <a:ext cx="442723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a:solidFill>
                  <a:srgbClr val="333333"/>
                </a:solidFill>
              </a:rPr>
              <a:t>Uploads </a:t>
            </a:r>
            <a:r>
              <a:rPr sz="1600" b="1">
                <a:solidFill>
                  <a:srgbClr val="00897B"/>
                </a:solidFill>
              </a:rPr>
              <a:t>photos and videos</a:t>
            </a:r>
            <a:r>
              <a:rPr sz="1600" b="0">
                <a:solidFill>
                  <a:srgbClr val="333333"/>
                </a:solidFill>
              </a:rPr>
              <a:t> of community activities</a:t>
            </a:r>
          </a:p>
        </p:txBody>
      </p:sp>
      <p:sp>
        <p:nvSpPr>
          <p:cNvPr id="26" name="Rounded Rectangle 25"/>
          <p:cNvSpPr/>
          <p:nvPr/>
        </p:nvSpPr>
        <p:spPr>
          <a:xfrm>
            <a:off x="740130"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p:cNvSpPr/>
          <p:nvPr/>
        </p:nvSpPr>
        <p:spPr>
          <a:xfrm>
            <a:off x="904852"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10">
            <a:alphaModFix/>
          </a:blip>
          <a:stretch>
            <a:fillRect/>
          </a:stretch>
        </p:blipFill>
        <p:spPr>
          <a:xfrm>
            <a:off x="1066773" y="4522404"/>
            <a:ext cx="342891" cy="289691"/>
          </a:xfrm>
          <a:prstGeom prst="rect">
            <a:avLst/>
          </a:prstGeom>
        </p:spPr>
      </p:pic>
      <p:sp>
        <p:nvSpPr>
          <p:cNvPr id="29" name="TextBox 28"/>
          <p:cNvSpPr txBox="1"/>
          <p:nvPr/>
        </p:nvSpPr>
        <p:spPr>
          <a:xfrm>
            <a:off x="1762080" y="4277345"/>
            <a:ext cx="1818062"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Public User</a:t>
            </a:r>
          </a:p>
        </p:txBody>
      </p:sp>
      <p:sp>
        <p:nvSpPr>
          <p:cNvPr id="30" name="TextBox 29"/>
          <p:cNvSpPr txBox="1"/>
          <p:nvPr/>
        </p:nvSpPr>
        <p:spPr>
          <a:xfrm>
            <a:off x="1762080" y="4675580"/>
            <a:ext cx="1402563"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Tourists / Visitors</a:t>
            </a:r>
          </a:p>
        </p:txBody>
      </p:sp>
      <p:pic>
        <p:nvPicPr>
          <p:cNvPr id="31" name="Picture 30" descr="image.png"/>
          <p:cNvPicPr>
            <a:picLocks noChangeAspect="1"/>
          </p:cNvPicPr>
          <p:nvPr/>
        </p:nvPicPr>
        <p:blipFill>
          <a:blip r:embed="rId11">
            <a:alphaModFix/>
          </a:blip>
          <a:stretch>
            <a:fillRect/>
          </a:stretch>
        </p:blipFill>
        <p:spPr>
          <a:xfrm>
            <a:off x="904852" y="5229785"/>
            <a:ext cx="190495" cy="151279"/>
          </a:xfrm>
          <a:prstGeom prst="rect">
            <a:avLst/>
          </a:prstGeom>
        </p:spPr>
      </p:pic>
      <p:sp>
        <p:nvSpPr>
          <p:cNvPr id="32" name="TextBox 31"/>
          <p:cNvSpPr txBox="1"/>
          <p:nvPr/>
        </p:nvSpPr>
        <p:spPr>
          <a:xfrm>
            <a:off x="1190595" y="5147295"/>
            <a:ext cx="455284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dirty="0">
                <a:solidFill>
                  <a:srgbClr val="00897B"/>
                </a:solidFill>
              </a:rPr>
              <a:t>Navigates interactive map</a:t>
            </a:r>
            <a:r>
              <a:rPr b="0" dirty="0">
                <a:solidFill>
                  <a:srgbClr val="333333"/>
                </a:solidFill>
              </a:rPr>
              <a:t> to locate attractions</a:t>
            </a:r>
          </a:p>
        </p:txBody>
      </p:sp>
      <p:pic>
        <p:nvPicPr>
          <p:cNvPr id="33" name="Picture 32" descr="image.png"/>
          <p:cNvPicPr>
            <a:picLocks noChangeAspect="1"/>
          </p:cNvPicPr>
          <p:nvPr/>
        </p:nvPicPr>
        <p:blipFill>
          <a:blip r:embed="rId12">
            <a:alphaModFix/>
          </a:blip>
          <a:stretch>
            <a:fillRect/>
          </a:stretch>
        </p:blipFill>
        <p:spPr>
          <a:xfrm>
            <a:off x="904852" y="5602661"/>
            <a:ext cx="190495" cy="148477"/>
          </a:xfrm>
          <a:prstGeom prst="rect">
            <a:avLst/>
          </a:prstGeom>
        </p:spPr>
      </p:pic>
      <p:sp>
        <p:nvSpPr>
          <p:cNvPr id="34" name="TextBox 33"/>
          <p:cNvSpPr txBox="1"/>
          <p:nvPr/>
        </p:nvSpPr>
        <p:spPr>
          <a:xfrm>
            <a:off x="1190595" y="5518770"/>
            <a:ext cx="4731873"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a:solidFill>
                  <a:srgbClr val="00897B"/>
                </a:solidFill>
              </a:rPr>
              <a:t>Searches and filters</a:t>
            </a:r>
            <a:r>
              <a:rPr b="0">
                <a:solidFill>
                  <a:srgbClr val="333333"/>
                </a:solidFill>
              </a:rPr>
              <a:t> for specific points of interest</a:t>
            </a:r>
          </a:p>
        </p:txBody>
      </p:sp>
      <p:pic>
        <p:nvPicPr>
          <p:cNvPr id="35" name="Picture 34" descr="image.png"/>
          <p:cNvPicPr>
            <a:picLocks noChangeAspect="1"/>
          </p:cNvPicPr>
          <p:nvPr/>
        </p:nvPicPr>
        <p:blipFill>
          <a:blip r:embed="rId13">
            <a:alphaModFix/>
          </a:blip>
          <a:stretch>
            <a:fillRect/>
          </a:stretch>
        </p:blipFill>
        <p:spPr>
          <a:xfrm>
            <a:off x="904852" y="5972735"/>
            <a:ext cx="190495" cy="151279"/>
          </a:xfrm>
          <a:prstGeom prst="rect">
            <a:avLst/>
          </a:prstGeom>
        </p:spPr>
      </p:pic>
      <p:sp>
        <p:nvSpPr>
          <p:cNvPr id="36" name="TextBox 35"/>
          <p:cNvSpPr txBox="1"/>
          <p:nvPr/>
        </p:nvSpPr>
        <p:spPr>
          <a:xfrm>
            <a:off x="1190595" y="5890245"/>
            <a:ext cx="4698017"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Views </a:t>
            </a:r>
            <a:r>
              <a:rPr b="1">
                <a:solidFill>
                  <a:srgbClr val="00897B"/>
                </a:solidFill>
              </a:rPr>
              <a:t>suggested routes</a:t>
            </a:r>
            <a:r>
              <a:rPr b="0">
                <a:solidFill>
                  <a:srgbClr val="333333"/>
                </a:solidFill>
              </a:rPr>
              <a:t> and cultural information</a:t>
            </a:r>
          </a:p>
        </p:txBody>
      </p:sp>
      <p:sp>
        <p:nvSpPr>
          <p:cNvPr id="37" name="Rounded Rectangle 36"/>
          <p:cNvSpPr/>
          <p:nvPr/>
        </p:nvSpPr>
        <p:spPr>
          <a:xfrm>
            <a:off x="6312116"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8" name="Rounded Rectangle 37"/>
          <p:cNvSpPr/>
          <p:nvPr/>
        </p:nvSpPr>
        <p:spPr>
          <a:xfrm>
            <a:off x="6476838"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9" name="Picture 38" descr="image.png"/>
          <p:cNvPicPr>
            <a:picLocks noChangeAspect="1"/>
          </p:cNvPicPr>
          <p:nvPr/>
        </p:nvPicPr>
        <p:blipFill>
          <a:blip r:embed="rId14">
            <a:alphaModFix/>
          </a:blip>
          <a:stretch>
            <a:fillRect/>
          </a:stretch>
        </p:blipFill>
        <p:spPr>
          <a:xfrm>
            <a:off x="6638759" y="4534228"/>
            <a:ext cx="342891" cy="266043"/>
          </a:xfrm>
          <a:prstGeom prst="rect">
            <a:avLst/>
          </a:prstGeom>
        </p:spPr>
      </p:pic>
      <p:sp>
        <p:nvSpPr>
          <p:cNvPr id="40" name="TextBox 39"/>
          <p:cNvSpPr txBox="1"/>
          <p:nvPr/>
        </p:nvSpPr>
        <p:spPr>
          <a:xfrm>
            <a:off x="7334066" y="4277345"/>
            <a:ext cx="3984937"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Students and Researchers</a:t>
            </a:r>
          </a:p>
        </p:txBody>
      </p:sp>
      <p:sp>
        <p:nvSpPr>
          <p:cNvPr id="41" name="TextBox 40"/>
          <p:cNvSpPr txBox="1"/>
          <p:nvPr/>
        </p:nvSpPr>
        <p:spPr>
          <a:xfrm>
            <a:off x="7334066" y="4675580"/>
            <a:ext cx="130215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Academic Users</a:t>
            </a:r>
          </a:p>
        </p:txBody>
      </p:sp>
      <p:pic>
        <p:nvPicPr>
          <p:cNvPr id="42" name="Picture 41" descr="image.png"/>
          <p:cNvPicPr>
            <a:picLocks noChangeAspect="1"/>
          </p:cNvPicPr>
          <p:nvPr/>
        </p:nvPicPr>
        <p:blipFill>
          <a:blip r:embed="rId15">
            <a:alphaModFix/>
          </a:blip>
          <a:stretch>
            <a:fillRect/>
          </a:stretch>
        </p:blipFill>
        <p:spPr>
          <a:xfrm>
            <a:off x="6476838" y="5235388"/>
            <a:ext cx="190495" cy="140073"/>
          </a:xfrm>
          <a:prstGeom prst="rect">
            <a:avLst/>
          </a:prstGeom>
        </p:spPr>
      </p:pic>
      <p:sp>
        <p:nvSpPr>
          <p:cNvPr id="43" name="TextBox 42"/>
          <p:cNvSpPr txBox="1"/>
          <p:nvPr/>
        </p:nvSpPr>
        <p:spPr>
          <a:xfrm>
            <a:off x="6762580" y="5147295"/>
            <a:ext cx="430617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Accesses </a:t>
            </a:r>
            <a:r>
              <a:rPr b="1">
                <a:solidFill>
                  <a:srgbClr val="00897B"/>
                </a:solidFill>
              </a:rPr>
              <a:t>historical data</a:t>
            </a:r>
            <a:r>
              <a:rPr b="0">
                <a:solidFill>
                  <a:srgbClr val="333333"/>
                </a:solidFill>
              </a:rPr>
              <a:t> and cultural profiles</a:t>
            </a:r>
          </a:p>
        </p:txBody>
      </p:sp>
      <p:pic>
        <p:nvPicPr>
          <p:cNvPr id="44" name="Picture 43" descr="image.png"/>
          <p:cNvPicPr>
            <a:picLocks noChangeAspect="1"/>
          </p:cNvPicPr>
          <p:nvPr/>
        </p:nvPicPr>
        <p:blipFill>
          <a:blip r:embed="rId16">
            <a:alphaModFix/>
          </a:blip>
          <a:stretch>
            <a:fillRect/>
          </a:stretch>
        </p:blipFill>
        <p:spPr>
          <a:xfrm>
            <a:off x="6476838" y="5606863"/>
            <a:ext cx="190495" cy="140073"/>
          </a:xfrm>
          <a:prstGeom prst="rect">
            <a:avLst/>
          </a:prstGeom>
        </p:spPr>
      </p:pic>
      <p:sp>
        <p:nvSpPr>
          <p:cNvPr id="45" name="TextBox 44"/>
          <p:cNvSpPr txBox="1"/>
          <p:nvPr/>
        </p:nvSpPr>
        <p:spPr>
          <a:xfrm>
            <a:off x="6762580" y="5518770"/>
            <a:ext cx="3842142"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Gathers </a:t>
            </a:r>
            <a:r>
              <a:rPr b="1">
                <a:solidFill>
                  <a:srgbClr val="00897B"/>
                </a:solidFill>
              </a:rPr>
              <a:t>research data</a:t>
            </a:r>
            <a:r>
              <a:rPr b="0">
                <a:solidFill>
                  <a:srgbClr val="333333"/>
                </a:solidFill>
              </a:rPr>
              <a:t> on local heritage</a:t>
            </a:r>
          </a:p>
        </p:txBody>
      </p:sp>
      <p:pic>
        <p:nvPicPr>
          <p:cNvPr id="46" name="Picture 45" descr="image.png"/>
          <p:cNvPicPr>
            <a:picLocks noChangeAspect="1"/>
          </p:cNvPicPr>
          <p:nvPr/>
        </p:nvPicPr>
        <p:blipFill>
          <a:blip r:embed="rId17">
            <a:alphaModFix/>
          </a:blip>
          <a:stretch>
            <a:fillRect/>
          </a:stretch>
        </p:blipFill>
        <p:spPr>
          <a:xfrm>
            <a:off x="6476838" y="5972735"/>
            <a:ext cx="190495" cy="151279"/>
          </a:xfrm>
          <a:prstGeom prst="rect">
            <a:avLst/>
          </a:prstGeom>
        </p:spPr>
      </p:pic>
      <p:sp>
        <p:nvSpPr>
          <p:cNvPr id="47" name="TextBox 46"/>
          <p:cNvSpPr txBox="1"/>
          <p:nvPr/>
        </p:nvSpPr>
        <p:spPr>
          <a:xfrm>
            <a:off x="6762580" y="5891848"/>
            <a:ext cx="446090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Studies </a:t>
            </a:r>
            <a:r>
              <a:rPr sz="1600" b="1" dirty="0">
                <a:solidFill>
                  <a:srgbClr val="00897B"/>
                </a:solidFill>
              </a:rPr>
              <a:t>cultural traditions</a:t>
            </a:r>
            <a:r>
              <a:rPr sz="1600" b="0" dirty="0">
                <a:solidFill>
                  <a:srgbClr val="333333"/>
                </a:solidFill>
              </a:rPr>
              <a:t> and community practices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2900409"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Stakeholders</a:t>
            </a:r>
          </a:p>
        </p:txBody>
      </p:sp>
      <p:grpSp>
        <p:nvGrpSpPr>
          <p:cNvPr id="31" name="Group 30">
            <a:extLst>
              <a:ext uri="{FF2B5EF4-FFF2-40B4-BE49-F238E27FC236}">
                <a16:creationId xmlns:a16="http://schemas.microsoft.com/office/drawing/2014/main" id="{8F122634-7E36-0938-29D7-49377C83E90A}"/>
              </a:ext>
            </a:extLst>
          </p:cNvPr>
          <p:cNvGrpSpPr/>
          <p:nvPr/>
        </p:nvGrpSpPr>
        <p:grpSpPr>
          <a:xfrm>
            <a:off x="666732" y="1428750"/>
            <a:ext cx="10320355" cy="1162050"/>
            <a:chOff x="666733" y="1428750"/>
            <a:chExt cx="7399754" cy="1162050"/>
          </a:xfrm>
        </p:grpSpPr>
        <p:sp>
          <p:nvSpPr>
            <p:cNvPr id="4" name="Rounded Rectangle 3"/>
            <p:cNvSpPr/>
            <p:nvPr/>
          </p:nvSpPr>
          <p:spPr>
            <a:xfrm>
              <a:off x="666733" y="1428750"/>
              <a:ext cx="6229194" cy="1162050"/>
            </a:xfrm>
            <a:prstGeom prst="roundRect">
              <a:avLst>
                <a:gd name="adj" fmla="val 1311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857228" y="172402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00099" y="1893142"/>
              <a:ext cx="285742" cy="233265"/>
            </a:xfrm>
            <a:prstGeom prst="rect">
              <a:avLst/>
            </a:prstGeom>
          </p:spPr>
        </p:pic>
        <p:sp>
          <p:nvSpPr>
            <p:cNvPr id="7" name="TextBox 6"/>
            <p:cNvSpPr txBox="1"/>
            <p:nvPr/>
          </p:nvSpPr>
          <p:spPr>
            <a:xfrm>
              <a:off x="1619209" y="1522061"/>
              <a:ext cx="6447278"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Local Government Unit (LGU) of </a:t>
              </a:r>
              <a:r>
                <a:rPr sz="2400" b="1" dirty="0" err="1">
                  <a:solidFill>
                    <a:srgbClr val="00897B"/>
                  </a:solidFill>
                </a:rPr>
                <a:t>Mangatarem</a:t>
              </a:r>
              <a:r>
                <a:rPr sz="2400" b="1" dirty="0">
                  <a:solidFill>
                    <a:srgbClr val="00897B"/>
                  </a:solidFill>
                </a:rPr>
                <a:t> </a:t>
              </a:r>
              <a:r>
                <a:rPr sz="1200" b="1" dirty="0">
                  <a:solidFill>
                    <a:srgbClr val="FFFFFF"/>
                  </a:solidFill>
                </a:rPr>
                <a:t>Primary</a:t>
              </a:r>
            </a:p>
          </p:txBody>
        </p:sp>
        <p:sp>
          <p:nvSpPr>
            <p:cNvPr id="9" name="TextBox 8"/>
            <p:cNvSpPr txBox="1"/>
            <p:nvPr/>
          </p:nvSpPr>
          <p:spPr>
            <a:xfrm>
              <a:off x="1619209" y="1848827"/>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Main beneficiary and decision-maker for tourism promotion and cultural data management</a:t>
              </a:r>
            </a:p>
          </p:txBody>
        </p:sp>
      </p:grpSp>
      <p:grpSp>
        <p:nvGrpSpPr>
          <p:cNvPr id="33" name="Group 32">
            <a:extLst>
              <a:ext uri="{FF2B5EF4-FFF2-40B4-BE49-F238E27FC236}">
                <a16:creationId xmlns:a16="http://schemas.microsoft.com/office/drawing/2014/main" id="{7027E12A-452A-570E-0FE3-79AB349E4498}"/>
              </a:ext>
            </a:extLst>
          </p:cNvPr>
          <p:cNvGrpSpPr/>
          <p:nvPr/>
        </p:nvGrpSpPr>
        <p:grpSpPr>
          <a:xfrm>
            <a:off x="666733" y="4138612"/>
            <a:ext cx="12191694" cy="952499"/>
            <a:chOff x="666733" y="4019549"/>
            <a:chExt cx="7609427" cy="952499"/>
          </a:xfrm>
        </p:grpSpPr>
        <p:sp>
          <p:nvSpPr>
            <p:cNvPr id="15" name="Rounded Rectangle 14"/>
            <p:cNvSpPr/>
            <p:nvPr/>
          </p:nvSpPr>
          <p:spPr>
            <a:xfrm>
              <a:off x="666733" y="4019549"/>
              <a:ext cx="6229194" cy="952499"/>
            </a:xfrm>
            <a:prstGeom prst="roundRect">
              <a:avLst>
                <a:gd name="adj" fmla="val 1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6" name="Rounded Rectangle 15"/>
            <p:cNvSpPr/>
            <p:nvPr/>
          </p:nvSpPr>
          <p:spPr>
            <a:xfrm>
              <a:off x="857228" y="4210049"/>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7" name="Picture 16" descr="image.png"/>
            <p:cNvPicPr>
              <a:picLocks noChangeAspect="1"/>
            </p:cNvPicPr>
            <p:nvPr/>
          </p:nvPicPr>
          <p:blipFill>
            <a:blip r:embed="rId3">
              <a:alphaModFix/>
            </a:blip>
            <a:stretch>
              <a:fillRect/>
            </a:stretch>
          </p:blipFill>
          <p:spPr>
            <a:xfrm>
              <a:off x="1000099" y="4405409"/>
              <a:ext cx="285742" cy="180780"/>
            </a:xfrm>
            <a:prstGeom prst="rect">
              <a:avLst/>
            </a:prstGeom>
          </p:spPr>
        </p:pic>
        <p:sp>
          <p:nvSpPr>
            <p:cNvPr id="18" name="TextBox 17"/>
            <p:cNvSpPr txBox="1"/>
            <p:nvPr/>
          </p:nvSpPr>
          <p:spPr>
            <a:xfrm>
              <a:off x="1619209" y="4112860"/>
              <a:ext cx="3429529" cy="480131"/>
            </a:xfrm>
            <a:prstGeom prst="rect">
              <a:avLst/>
            </a:prstGeom>
            <a:noFill/>
          </p:spPr>
          <p:txBody>
            <a:bodyPr wrap="none" lIns="73152" tIns="54864" rIns="73152" bIns="54864" anchor="ctr">
              <a:spAutoFit/>
            </a:bodyPr>
            <a:lstStyle/>
            <a:p>
              <a:pPr algn="l">
                <a:spcBef>
                  <a:spcPts val="0"/>
                </a:spcBef>
                <a:spcAft>
                  <a:spcPts val="390"/>
                </a:spcAft>
              </a:pPr>
              <a:r>
                <a:rPr sz="2400" b="1">
                  <a:solidFill>
                    <a:srgbClr val="00897B"/>
                  </a:solidFill>
                </a:rPr>
                <a:t>Residents of Mangatarem</a:t>
              </a:r>
            </a:p>
          </p:txBody>
        </p:sp>
        <p:sp>
          <p:nvSpPr>
            <p:cNvPr id="19" name="TextBox 18"/>
            <p:cNvSpPr txBox="1"/>
            <p:nvPr/>
          </p:nvSpPr>
          <p:spPr>
            <a:xfrm>
              <a:off x="1619209" y="4459065"/>
              <a:ext cx="6656951" cy="387798"/>
            </a:xfrm>
            <a:prstGeom prst="rect">
              <a:avLst/>
            </a:prstGeom>
            <a:noFill/>
          </p:spPr>
          <p:txBody>
            <a:bodyPr wrap="none" lIns="73152" tIns="54864" rIns="73152" bIns="54864" anchor="ctr">
              <a:spAutoFit/>
            </a:bodyPr>
            <a:lstStyle/>
            <a:p>
              <a:pPr algn="l">
                <a:spcBef>
                  <a:spcPts val="0"/>
                </a:spcBef>
                <a:spcAft>
                  <a:spcPts val="0"/>
                </a:spcAft>
              </a:pPr>
              <a:r>
                <a:rPr b="0" dirty="0">
                  <a:solidFill>
                    <a:srgbClr val="555555"/>
                  </a:solidFill>
                </a:rPr>
                <a:t>Gain cultural pride and heritage preservation through digital platform</a:t>
              </a:r>
            </a:p>
          </p:txBody>
        </p:sp>
      </p:grpSp>
      <p:grpSp>
        <p:nvGrpSpPr>
          <p:cNvPr id="34" name="Group 33">
            <a:extLst>
              <a:ext uri="{FF2B5EF4-FFF2-40B4-BE49-F238E27FC236}">
                <a16:creationId xmlns:a16="http://schemas.microsoft.com/office/drawing/2014/main" id="{159971B9-D577-DAB2-B06B-AD5C9CDF45D6}"/>
              </a:ext>
            </a:extLst>
          </p:cNvPr>
          <p:cNvGrpSpPr/>
          <p:nvPr/>
        </p:nvGrpSpPr>
        <p:grpSpPr>
          <a:xfrm>
            <a:off x="701780" y="2811239"/>
            <a:ext cx="9499493" cy="1143000"/>
            <a:chOff x="666733" y="5114925"/>
            <a:chExt cx="6229194" cy="1143000"/>
          </a:xfrm>
        </p:grpSpPr>
        <p:sp>
          <p:nvSpPr>
            <p:cNvPr id="20" name="Rounded Rectangle 19"/>
            <p:cNvSpPr/>
            <p:nvPr/>
          </p:nvSpPr>
          <p:spPr>
            <a:xfrm>
              <a:off x="666733" y="5114925"/>
              <a:ext cx="6229194" cy="1143000"/>
            </a:xfrm>
            <a:prstGeom prst="roundRect">
              <a:avLst>
                <a:gd name="adj" fmla="val 1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21" name="Rounded Rectangle 20"/>
            <p:cNvSpPr/>
            <p:nvPr/>
          </p:nvSpPr>
          <p:spPr>
            <a:xfrm>
              <a:off x="857228" y="5400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2" name="Picture 21" descr="image.png"/>
            <p:cNvPicPr>
              <a:picLocks noChangeAspect="1"/>
            </p:cNvPicPr>
            <p:nvPr/>
          </p:nvPicPr>
          <p:blipFill>
            <a:blip r:embed="rId4">
              <a:alphaModFix/>
            </a:blip>
            <a:stretch>
              <a:fillRect/>
            </a:stretch>
          </p:blipFill>
          <p:spPr>
            <a:xfrm>
              <a:off x="1000099" y="5607697"/>
              <a:ext cx="285742" cy="157454"/>
            </a:xfrm>
            <a:prstGeom prst="rect">
              <a:avLst/>
            </a:prstGeom>
          </p:spPr>
        </p:pic>
        <p:sp>
          <p:nvSpPr>
            <p:cNvPr id="23" name="TextBox 22"/>
            <p:cNvSpPr txBox="1"/>
            <p:nvPr/>
          </p:nvSpPr>
          <p:spPr>
            <a:xfrm>
              <a:off x="1619209" y="5198710"/>
              <a:ext cx="3502882"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Direct Users of the System</a:t>
              </a:r>
            </a:p>
          </p:txBody>
        </p:sp>
        <p:sp>
          <p:nvSpPr>
            <p:cNvPr id="24" name="TextBox 23"/>
            <p:cNvSpPr txBox="1"/>
            <p:nvPr/>
          </p:nvSpPr>
          <p:spPr>
            <a:xfrm>
              <a:off x="1619209" y="5515953"/>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Administrators, Contributors, Tourists, and Students who directly interact with the platform</a:t>
              </a:r>
            </a:p>
          </p:txBody>
        </p:sp>
      </p:grpSp>
      <p:grpSp>
        <p:nvGrpSpPr>
          <p:cNvPr id="35" name="Group 34">
            <a:extLst>
              <a:ext uri="{FF2B5EF4-FFF2-40B4-BE49-F238E27FC236}">
                <a16:creationId xmlns:a16="http://schemas.microsoft.com/office/drawing/2014/main" id="{40789F6F-3EBE-2909-E9CF-E1D4E249A1C0}"/>
              </a:ext>
            </a:extLst>
          </p:cNvPr>
          <p:cNvGrpSpPr/>
          <p:nvPr/>
        </p:nvGrpSpPr>
        <p:grpSpPr>
          <a:xfrm>
            <a:off x="666731" y="5386387"/>
            <a:ext cx="9534543" cy="1143000"/>
            <a:chOff x="666733" y="6400800"/>
            <a:chExt cx="6229194" cy="1143000"/>
          </a:xfrm>
        </p:grpSpPr>
        <p:sp>
          <p:nvSpPr>
            <p:cNvPr id="25" name="Rounded Rectangle 24"/>
            <p:cNvSpPr/>
            <p:nvPr/>
          </p:nvSpPr>
          <p:spPr>
            <a:xfrm>
              <a:off x="666733" y="6400800"/>
              <a:ext cx="6229194" cy="1143000"/>
            </a:xfrm>
            <a:prstGeom prst="roundRect">
              <a:avLst>
                <a:gd name="adj" fmla="val 1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6" name="Rounded Rectangle 25"/>
            <p:cNvSpPr/>
            <p:nvPr/>
          </p:nvSpPr>
          <p:spPr>
            <a:xfrm>
              <a:off x="857228" y="6686550"/>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7" name="Picture 26" descr="image.png"/>
            <p:cNvPicPr>
              <a:picLocks noChangeAspect="1"/>
            </p:cNvPicPr>
            <p:nvPr/>
          </p:nvPicPr>
          <p:blipFill>
            <a:blip r:embed="rId5">
              <a:alphaModFix/>
            </a:blip>
            <a:stretch>
              <a:fillRect/>
            </a:stretch>
          </p:blipFill>
          <p:spPr>
            <a:xfrm>
              <a:off x="1000099" y="6893572"/>
              <a:ext cx="285742" cy="157454"/>
            </a:xfrm>
            <a:prstGeom prst="rect">
              <a:avLst/>
            </a:prstGeom>
          </p:spPr>
        </p:pic>
        <p:sp>
          <p:nvSpPr>
            <p:cNvPr id="28" name="TextBox 27"/>
            <p:cNvSpPr txBox="1"/>
            <p:nvPr/>
          </p:nvSpPr>
          <p:spPr>
            <a:xfrm>
              <a:off x="1619209" y="6484585"/>
              <a:ext cx="3396186" cy="480131"/>
            </a:xfrm>
            <a:prstGeom prst="rect">
              <a:avLst/>
            </a:prstGeom>
            <a:noFill/>
          </p:spPr>
          <p:txBody>
            <a:bodyPr wrap="none" lIns="73152" tIns="54864" rIns="73152" bIns="54864" anchor="ctr">
              <a:spAutoFit/>
            </a:bodyPr>
            <a:lstStyle/>
            <a:p>
              <a:pPr algn="l">
                <a:spcBef>
                  <a:spcPts val="0"/>
                </a:spcBef>
                <a:spcAft>
                  <a:spcPts val="390"/>
                </a:spcAft>
              </a:pPr>
              <a:r>
                <a:rPr sz="2400" b="1">
                  <a:solidFill>
                    <a:srgbClr val="00897B"/>
                  </a:solidFill>
                </a:rPr>
                <a:t>Developers of the System</a:t>
              </a:r>
            </a:p>
          </p:txBody>
        </p:sp>
        <p:sp>
          <p:nvSpPr>
            <p:cNvPr id="29" name="TextBox 28"/>
            <p:cNvSpPr txBox="1"/>
            <p:nvPr/>
          </p:nvSpPr>
          <p:spPr>
            <a:xfrm>
              <a:off x="1619209" y="6801828"/>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C</a:t>
              </a:r>
              <a:r>
                <a:rPr lang="en-US" b="0" dirty="0">
                  <a:solidFill>
                    <a:srgbClr val="555555"/>
                  </a:solidFill>
                </a:rPr>
                <a:t>ore Project</a:t>
              </a:r>
              <a:r>
                <a:rPr b="0" dirty="0">
                  <a:solidFill>
                    <a:srgbClr val="555555"/>
                  </a:solidFill>
                </a:rPr>
                <a:t> Team responsible for design, development, and successful deployment</a:t>
              </a: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666733" y="348280"/>
            <a:ext cx="1622495" cy="541687"/>
          </a:xfrm>
          <a:prstGeom prst="rect">
            <a:avLst/>
          </a:prstGeom>
          <a:noFill/>
        </p:spPr>
        <p:txBody>
          <a:bodyPr wrap="none" lIns="73152" tIns="54864" rIns="73152" bIns="54864" anchor="ctr">
            <a:spAutoFit/>
          </a:bodyPr>
          <a:lstStyle/>
          <a:p>
            <a:pPr algn="l">
              <a:spcBef>
                <a:spcPts val="0"/>
              </a:spcBef>
              <a:spcAft>
                <a:spcPts val="650"/>
              </a:spcAft>
            </a:pPr>
            <a:r>
              <a:rPr sz="2800" b="1">
                <a:solidFill>
                  <a:srgbClr val="FFFFFF"/>
                </a:solidFill>
              </a:rPr>
              <a:t>Use Cases</a:t>
            </a:r>
          </a:p>
        </p:txBody>
      </p:sp>
      <p:sp>
        <p:nvSpPr>
          <p:cNvPr id="4" name="Rounded Rectangle 3"/>
          <p:cNvSpPr/>
          <p:nvPr/>
        </p:nvSpPr>
        <p:spPr>
          <a:xfrm>
            <a:off x="666733"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Rounded Rectangle 4"/>
          <p:cNvSpPr/>
          <p:nvPr/>
        </p:nvSpPr>
        <p:spPr>
          <a:xfrm>
            <a:off x="895327"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6" name="Picture 5" descr="image.png"/>
          <p:cNvPicPr>
            <a:picLocks noChangeAspect="1"/>
          </p:cNvPicPr>
          <p:nvPr/>
        </p:nvPicPr>
        <p:blipFill>
          <a:blip r:embed="rId2">
            <a:alphaModFix/>
          </a:blip>
          <a:stretch>
            <a:fillRect/>
          </a:stretch>
        </p:blipFill>
        <p:spPr>
          <a:xfrm>
            <a:off x="1057248" y="1845879"/>
            <a:ext cx="342891" cy="289691"/>
          </a:xfrm>
          <a:prstGeom prst="rect">
            <a:avLst/>
          </a:prstGeom>
        </p:spPr>
      </p:pic>
      <p:sp>
        <p:nvSpPr>
          <p:cNvPr id="7" name="TextBox 6"/>
          <p:cNvSpPr txBox="1"/>
          <p:nvPr/>
        </p:nvSpPr>
        <p:spPr>
          <a:xfrm>
            <a:off x="1752556" y="1611089"/>
            <a:ext cx="3473708" cy="387798"/>
          </a:xfrm>
          <a:prstGeom prst="rect">
            <a:avLst/>
          </a:prstGeom>
          <a:noFill/>
        </p:spPr>
        <p:txBody>
          <a:bodyPr wrap="none" lIns="73152" tIns="54864" rIns="73152" bIns="54864" anchor="ctr">
            <a:spAutoFit/>
          </a:bodyPr>
          <a:lstStyle/>
          <a:p>
            <a:pPr algn="l">
              <a:spcBef>
                <a:spcPts val="0"/>
              </a:spcBef>
              <a:spcAft>
                <a:spcPts val="780"/>
              </a:spcAft>
            </a:pPr>
            <a:r>
              <a:rPr b="1">
                <a:solidFill>
                  <a:srgbClr val="00897B"/>
                </a:solidFill>
              </a:rPr>
              <a:t>Tourists Exploring Local Attractions</a:t>
            </a:r>
          </a:p>
        </p:txBody>
      </p:sp>
      <p:sp>
        <p:nvSpPr>
          <p:cNvPr id="8" name="TextBox 7"/>
          <p:cNvSpPr txBox="1"/>
          <p:nvPr/>
        </p:nvSpPr>
        <p:spPr>
          <a:xfrm>
            <a:off x="1752556" y="214041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a:solidFill>
                  <a:srgbClr val="555555"/>
                </a:solidFill>
              </a:rPr>
              <a:t> Navigate the </a:t>
            </a:r>
            <a:r>
              <a:rPr sz="1600" b="1">
                <a:solidFill>
                  <a:srgbClr val="00897B"/>
                </a:solidFill>
              </a:rPr>
              <a:t>Interactive Map</a:t>
            </a:r>
            <a:r>
              <a:rPr sz="1600" b="0">
                <a:solidFill>
                  <a:srgbClr val="555555"/>
                </a:solidFill>
              </a:rPr>
              <a:t> to locate specific spots (Manleluag Spring) </a:t>
            </a:r>
            <a:r>
              <a:t>
</a:t>
            </a:r>
            <a:r>
              <a:rPr sz="1600" b="0">
                <a:solidFill>
                  <a:srgbClr val="555555"/>
                </a:solidFill>
              </a:rPr>
              <a:t> </a:t>
            </a:r>
            <a:r>
              <a:rPr sz="1600" b="1">
                <a:solidFill>
                  <a:srgbClr val="00897B"/>
                </a:solidFill>
              </a:rPr>
              <a:t>View pop-up details</a:t>
            </a:r>
            <a:r>
              <a:rPr sz="1600" b="0">
                <a:solidFill>
                  <a:srgbClr val="555555"/>
                </a:solidFill>
              </a:rPr>
              <a:t> </a:t>
            </a:r>
            <a:r>
              <a:rPr sz="1600" b="1">
                <a:solidFill>
                  <a:srgbClr val="00897B"/>
                </a:solidFill>
              </a:rPr>
              <a:t>Get directions</a:t>
            </a:r>
            <a:r>
              <a:rPr sz="1600" b="0">
                <a:solidFill>
                  <a:srgbClr val="555555"/>
                </a:solidFill>
              </a:rPr>
              <a:t> </a:t>
            </a:r>
            <a:r>
              <a:rPr sz="1600" b="1">
                <a:solidFill>
                  <a:srgbClr val="00897B"/>
                </a:solidFill>
              </a:rPr>
              <a:t>Discover landmarks</a:t>
            </a:r>
            <a:r>
              <a:rPr sz="1600" b="0">
                <a:solidFill>
                  <a:srgbClr val="555555"/>
                </a:solidFill>
              </a:rPr>
              <a:t> </a:t>
            </a:r>
          </a:p>
        </p:txBody>
      </p:sp>
      <p:sp>
        <p:nvSpPr>
          <p:cNvPr id="12" name="Rounded Rectangle 11"/>
          <p:cNvSpPr/>
          <p:nvPr/>
        </p:nvSpPr>
        <p:spPr>
          <a:xfrm>
            <a:off x="6191095"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Rounded Rectangle 12"/>
          <p:cNvSpPr/>
          <p:nvPr/>
        </p:nvSpPr>
        <p:spPr>
          <a:xfrm>
            <a:off x="6419689"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14" name="Picture 13" descr="image.png"/>
          <p:cNvPicPr>
            <a:picLocks noChangeAspect="1"/>
          </p:cNvPicPr>
          <p:nvPr/>
        </p:nvPicPr>
        <p:blipFill>
          <a:blip r:embed="rId3">
            <a:alphaModFix/>
          </a:blip>
          <a:stretch>
            <a:fillRect/>
          </a:stretch>
        </p:blipFill>
        <p:spPr>
          <a:xfrm>
            <a:off x="6581610" y="1857703"/>
            <a:ext cx="342891" cy="266043"/>
          </a:xfrm>
          <a:prstGeom prst="rect">
            <a:avLst/>
          </a:prstGeom>
        </p:spPr>
      </p:pic>
      <p:sp>
        <p:nvSpPr>
          <p:cNvPr id="15" name="TextBox 14"/>
          <p:cNvSpPr txBox="1"/>
          <p:nvPr/>
        </p:nvSpPr>
        <p:spPr>
          <a:xfrm>
            <a:off x="7276918" y="1595700"/>
            <a:ext cx="4333046" cy="418576"/>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Academic</a:t>
            </a:r>
            <a:r>
              <a:rPr sz="2000" b="1" dirty="0">
                <a:solidFill>
                  <a:srgbClr val="00897B"/>
                </a:solidFill>
              </a:rPr>
              <a:t> Research and Data Gathering</a:t>
            </a:r>
          </a:p>
        </p:txBody>
      </p:sp>
      <p:sp>
        <p:nvSpPr>
          <p:cNvPr id="16" name="TextBox 15"/>
          <p:cNvSpPr txBox="1"/>
          <p:nvPr/>
        </p:nvSpPr>
        <p:spPr>
          <a:xfrm>
            <a:off x="7276918" y="1969078"/>
            <a:ext cx="4019449" cy="786241"/>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400" b="0" dirty="0">
                <a:solidFill>
                  <a:srgbClr val="555555"/>
                </a:solidFill>
              </a:rPr>
              <a:t> Students access </a:t>
            </a:r>
            <a:r>
              <a:rPr sz="1400" b="1" dirty="0">
                <a:solidFill>
                  <a:srgbClr val="00897B"/>
                </a:solidFill>
              </a:rPr>
              <a:t>barangay profiles</a:t>
            </a:r>
            <a:r>
              <a:rPr sz="1400" b="0" dirty="0">
                <a:solidFill>
                  <a:srgbClr val="555555"/>
                </a:solidFill>
              </a:rPr>
              <a:t> for academic studies </a:t>
            </a:r>
            <a:r>
              <a:rPr sz="1600" dirty="0"/>
              <a:t>
</a:t>
            </a:r>
            <a:r>
              <a:rPr sz="1400" b="0" dirty="0">
                <a:solidFill>
                  <a:srgbClr val="555555"/>
                </a:solidFill>
              </a:rPr>
              <a:t> </a:t>
            </a:r>
            <a:r>
              <a:rPr sz="1400" b="1" dirty="0">
                <a:solidFill>
                  <a:srgbClr val="00897B"/>
                </a:solidFill>
              </a:rPr>
              <a:t>Historical data</a:t>
            </a:r>
            <a:r>
              <a:rPr sz="1400" b="0" dirty="0">
                <a:solidFill>
                  <a:srgbClr val="555555"/>
                </a:solidFill>
              </a:rPr>
              <a:t> </a:t>
            </a:r>
            <a:r>
              <a:rPr sz="1400" b="1" dirty="0">
                <a:solidFill>
                  <a:srgbClr val="00897B"/>
                </a:solidFill>
              </a:rPr>
              <a:t>Traditions</a:t>
            </a:r>
            <a:r>
              <a:rPr sz="1400" b="0" dirty="0">
                <a:solidFill>
                  <a:srgbClr val="555555"/>
                </a:solidFill>
              </a:rPr>
              <a:t> </a:t>
            </a:r>
            <a:r>
              <a:rPr sz="1400" b="1" dirty="0">
                <a:solidFill>
                  <a:srgbClr val="00897B"/>
                </a:solidFill>
              </a:rPr>
              <a:t>Local practices</a:t>
            </a:r>
            <a:r>
              <a:rPr sz="1400" b="0" dirty="0">
                <a:solidFill>
                  <a:srgbClr val="555555"/>
                </a:solidFill>
              </a:rPr>
              <a:t> </a:t>
            </a:r>
          </a:p>
        </p:txBody>
      </p:sp>
      <p:sp>
        <p:nvSpPr>
          <p:cNvPr id="20" name="Rounded Rectangle 19"/>
          <p:cNvSpPr/>
          <p:nvPr/>
        </p:nvSpPr>
        <p:spPr>
          <a:xfrm>
            <a:off x="666733"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Rounded Rectangle 20"/>
          <p:cNvSpPr/>
          <p:nvPr/>
        </p:nvSpPr>
        <p:spPr>
          <a:xfrm>
            <a:off x="895327"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22" name="Picture 21" descr="image.png"/>
          <p:cNvPicPr>
            <a:picLocks noChangeAspect="1"/>
          </p:cNvPicPr>
          <p:nvPr/>
        </p:nvPicPr>
        <p:blipFill>
          <a:blip r:embed="rId4">
            <a:alphaModFix/>
          </a:blip>
          <a:stretch>
            <a:fillRect/>
          </a:stretch>
        </p:blipFill>
        <p:spPr>
          <a:xfrm>
            <a:off x="1057248" y="4096078"/>
            <a:ext cx="342891" cy="266043"/>
          </a:xfrm>
          <a:prstGeom prst="rect">
            <a:avLst/>
          </a:prstGeom>
        </p:spPr>
      </p:pic>
      <p:sp>
        <p:nvSpPr>
          <p:cNvPr id="23" name="TextBox 22"/>
          <p:cNvSpPr txBox="1"/>
          <p:nvPr/>
        </p:nvSpPr>
        <p:spPr>
          <a:xfrm>
            <a:off x="1752556" y="3997100"/>
            <a:ext cx="4219810" cy="387798"/>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Content Contribution by Barangay Officials</a:t>
            </a:r>
          </a:p>
        </p:txBody>
      </p:sp>
      <p:sp>
        <p:nvSpPr>
          <p:cNvPr id="24" name="TextBox 23"/>
          <p:cNvSpPr txBox="1"/>
          <p:nvPr/>
        </p:nvSpPr>
        <p:spPr>
          <a:xfrm>
            <a:off x="1752556" y="4622788"/>
            <a:ext cx="4019449" cy="803297"/>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dirty="0">
                <a:solidFill>
                  <a:srgbClr val="555555"/>
                </a:solidFill>
              </a:rPr>
              <a:t> Authorized </a:t>
            </a:r>
            <a:r>
              <a:rPr b="0" dirty="0">
                <a:solidFill>
                  <a:srgbClr val="555555"/>
                </a:solidFill>
              </a:rPr>
              <a:t>Representatives</a:t>
            </a:r>
            <a:r>
              <a:rPr sz="1600" b="0" dirty="0">
                <a:solidFill>
                  <a:srgbClr val="555555"/>
                </a:solidFill>
              </a:rPr>
              <a:t> </a:t>
            </a:r>
            <a:r>
              <a:rPr sz="1600" b="1" dirty="0">
                <a:solidFill>
                  <a:srgbClr val="00897B"/>
                </a:solidFill>
              </a:rPr>
              <a:t>log in</a:t>
            </a:r>
            <a:r>
              <a:rPr sz="1600" b="0" dirty="0">
                <a:solidFill>
                  <a:srgbClr val="555555"/>
                </a:solidFill>
              </a:rPr>
              <a:t> to update local information </a:t>
            </a:r>
            <a:r>
              <a:rPr dirty="0"/>
              <a:t>
</a:t>
            </a:r>
            <a:r>
              <a:rPr sz="1600" b="0" dirty="0">
                <a:solidFill>
                  <a:srgbClr val="555555"/>
                </a:solidFill>
              </a:rPr>
              <a:t> </a:t>
            </a:r>
            <a:r>
              <a:rPr sz="1600" b="1" dirty="0">
                <a:solidFill>
                  <a:srgbClr val="00897B"/>
                </a:solidFill>
              </a:rPr>
              <a:t>Upload photos</a:t>
            </a:r>
            <a:r>
              <a:rPr sz="1600" b="0" dirty="0">
                <a:solidFill>
                  <a:srgbClr val="555555"/>
                </a:solidFill>
              </a:rPr>
              <a:t> </a:t>
            </a:r>
            <a:r>
              <a:rPr sz="1600" b="1" dirty="0">
                <a:solidFill>
                  <a:srgbClr val="00897B"/>
                </a:solidFill>
              </a:rPr>
              <a:t>Update history</a:t>
            </a:r>
            <a:r>
              <a:rPr sz="1600" b="0" dirty="0">
                <a:solidFill>
                  <a:srgbClr val="555555"/>
                </a:solidFill>
              </a:rPr>
              <a:t> </a:t>
            </a:r>
            <a:r>
              <a:rPr sz="1600" b="1" dirty="0">
                <a:solidFill>
                  <a:srgbClr val="00897B"/>
                </a:solidFill>
              </a:rPr>
              <a:t>Add events</a:t>
            </a:r>
            <a:r>
              <a:rPr sz="1600" b="0" dirty="0">
                <a:solidFill>
                  <a:srgbClr val="555555"/>
                </a:solidFill>
              </a:rPr>
              <a:t> </a:t>
            </a:r>
          </a:p>
        </p:txBody>
      </p:sp>
      <p:sp>
        <p:nvSpPr>
          <p:cNvPr id="28" name="Rounded Rectangle 27"/>
          <p:cNvSpPr/>
          <p:nvPr/>
        </p:nvSpPr>
        <p:spPr>
          <a:xfrm>
            <a:off x="6191095"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Rounded Rectangle 28"/>
          <p:cNvSpPr/>
          <p:nvPr/>
        </p:nvSpPr>
        <p:spPr>
          <a:xfrm>
            <a:off x="6419689"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30" name="Picture 29" descr="image.png"/>
          <p:cNvPicPr>
            <a:picLocks noChangeAspect="1"/>
          </p:cNvPicPr>
          <p:nvPr/>
        </p:nvPicPr>
        <p:blipFill>
          <a:blip r:embed="rId5">
            <a:alphaModFix/>
          </a:blip>
          <a:stretch>
            <a:fillRect/>
          </a:stretch>
        </p:blipFill>
        <p:spPr>
          <a:xfrm>
            <a:off x="6581610" y="4096078"/>
            <a:ext cx="342891" cy="266043"/>
          </a:xfrm>
          <a:prstGeom prst="rect">
            <a:avLst/>
          </a:prstGeom>
        </p:spPr>
      </p:pic>
      <p:sp>
        <p:nvSpPr>
          <p:cNvPr id="31" name="TextBox 30"/>
          <p:cNvSpPr txBox="1"/>
          <p:nvPr/>
        </p:nvSpPr>
        <p:spPr>
          <a:xfrm>
            <a:off x="7276918" y="4012488"/>
            <a:ext cx="4094134" cy="357021"/>
          </a:xfrm>
          <a:prstGeom prst="rect">
            <a:avLst/>
          </a:prstGeom>
          <a:noFill/>
        </p:spPr>
        <p:txBody>
          <a:bodyPr wrap="none" lIns="73152" tIns="54864" rIns="73152" bIns="54864" anchor="ctr">
            <a:spAutoFit/>
          </a:bodyPr>
          <a:lstStyle/>
          <a:p>
            <a:pPr algn="l">
              <a:spcBef>
                <a:spcPts val="0"/>
              </a:spcBef>
              <a:spcAft>
                <a:spcPts val="780"/>
              </a:spcAft>
            </a:pPr>
            <a:r>
              <a:rPr sz="1600" b="1" dirty="0">
                <a:solidFill>
                  <a:srgbClr val="00897B"/>
                </a:solidFill>
              </a:rPr>
              <a:t>Content Moderation and System Management</a:t>
            </a:r>
          </a:p>
        </p:txBody>
      </p:sp>
      <p:sp>
        <p:nvSpPr>
          <p:cNvPr id="32" name="TextBox 31"/>
          <p:cNvSpPr txBox="1"/>
          <p:nvPr/>
        </p:nvSpPr>
        <p:spPr>
          <a:xfrm>
            <a:off x="7276918" y="467406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b="0" dirty="0">
                <a:solidFill>
                  <a:srgbClr val="555555"/>
                </a:solidFill>
              </a:rPr>
              <a:t> System Administrator uses </a:t>
            </a:r>
            <a:r>
              <a:rPr b="1" dirty="0">
                <a:solidFill>
                  <a:srgbClr val="00897B"/>
                </a:solidFill>
              </a:rPr>
              <a:t>Admin Dashboard</a:t>
            </a:r>
            <a:r>
              <a:rPr b="0" dirty="0">
                <a:solidFill>
                  <a:srgbClr val="555555"/>
                </a:solidFill>
              </a:rPr>
              <a:t> to review submissions </a:t>
            </a:r>
            <a:r>
              <a:rPr sz="2000" dirty="0"/>
              <a:t>
</a:t>
            </a:r>
            <a:r>
              <a:rPr b="0" dirty="0">
                <a:solidFill>
                  <a:srgbClr val="555555"/>
                </a:solidFill>
              </a:rPr>
              <a:t> </a:t>
            </a:r>
            <a:r>
              <a:rPr b="1" dirty="0">
                <a:solidFill>
                  <a:srgbClr val="00897B"/>
                </a:solidFill>
              </a:rPr>
              <a:t>Approve content</a:t>
            </a:r>
            <a:r>
              <a:rPr b="0" dirty="0">
                <a:solidFill>
                  <a:srgbClr val="555555"/>
                </a:solidFill>
              </a:rPr>
              <a:t> </a:t>
            </a:r>
            <a:r>
              <a:rPr b="1" dirty="0">
                <a:solidFill>
                  <a:srgbClr val="00897B"/>
                </a:solidFill>
              </a:rPr>
              <a:t>Reject incorrect info</a:t>
            </a:r>
            <a:r>
              <a:rPr b="0" dirty="0">
                <a:solidFill>
                  <a:srgbClr val="555555"/>
                </a:solidFill>
              </a:rPr>
              <a:t> </a:t>
            </a:r>
            <a:r>
              <a:rPr b="1" dirty="0">
                <a:solidFill>
                  <a:srgbClr val="00897B"/>
                </a:solidFill>
              </a:rPr>
              <a:t>Manage users</a:t>
            </a:r>
            <a:r>
              <a:rPr b="0" dirty="0">
                <a:solidFill>
                  <a:srgbClr val="555555"/>
                </a:solidFill>
              </a:rPr>
              <a:t> </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5" name="Group 64">
            <a:extLst>
              <a:ext uri="{FF2B5EF4-FFF2-40B4-BE49-F238E27FC236}">
                <a16:creationId xmlns:a16="http://schemas.microsoft.com/office/drawing/2014/main" id="{9B438E7E-E497-A820-1249-1E345F3B29F8}"/>
              </a:ext>
            </a:extLst>
          </p:cNvPr>
          <p:cNvGrpSpPr/>
          <p:nvPr/>
        </p:nvGrpSpPr>
        <p:grpSpPr>
          <a:xfrm>
            <a:off x="565892" y="1911608"/>
            <a:ext cx="10858228" cy="3742706"/>
            <a:chOff x="666733" y="1428751"/>
            <a:chExt cx="10858228" cy="3742706"/>
          </a:xfrm>
        </p:grpSpPr>
        <p:sp>
          <p:nvSpPr>
            <p:cNvPr id="4" name="Rounded Rectangle 3"/>
            <p:cNvSpPr/>
            <p:nvPr/>
          </p:nvSpPr>
          <p:spPr>
            <a:xfrm>
              <a:off x="666733" y="1428751"/>
              <a:ext cx="10858228" cy="3742706"/>
            </a:xfrm>
            <a:prstGeom prst="roundRect">
              <a:avLst>
                <a:gd name="adj" fmla="val 797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47723" y="1873897"/>
              <a:ext cx="285742" cy="157454"/>
            </a:xfrm>
            <a:prstGeom prst="rect">
              <a:avLst/>
            </a:prstGeom>
          </p:spPr>
        </p:pic>
        <p:sp>
          <p:nvSpPr>
            <p:cNvPr id="7" name="TextBox 6"/>
            <p:cNvSpPr txBox="1"/>
            <p:nvPr/>
          </p:nvSpPr>
          <p:spPr>
            <a:xfrm>
              <a:off x="1666833" y="1686544"/>
              <a:ext cx="4328173"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Development Requirements</a:t>
              </a:r>
            </a:p>
          </p:txBody>
        </p:sp>
        <p:sp>
          <p:nvSpPr>
            <p:cNvPr id="8" name="Rounded Rectangle 7"/>
            <p:cNvSpPr/>
            <p:nvPr/>
          </p:nvSpPr>
          <p:spPr>
            <a:xfrm>
              <a:off x="904852"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9" name="Picture 8" descr="image.png"/>
            <p:cNvPicPr>
              <a:picLocks noChangeAspect="1"/>
            </p:cNvPicPr>
            <p:nvPr/>
          </p:nvPicPr>
          <p:blipFill>
            <a:blip r:embed="rId3">
              <a:alphaModFix/>
            </a:blip>
            <a:stretch>
              <a:fillRect/>
            </a:stretch>
          </p:blipFill>
          <p:spPr>
            <a:xfrm>
              <a:off x="1047723" y="2581017"/>
              <a:ext cx="209544" cy="152914"/>
            </a:xfrm>
            <a:prstGeom prst="rect">
              <a:avLst/>
            </a:prstGeom>
          </p:spPr>
        </p:pic>
        <p:sp>
          <p:nvSpPr>
            <p:cNvPr id="10" name="TextBox 9"/>
            <p:cNvSpPr txBox="1"/>
            <p:nvPr/>
          </p:nvSpPr>
          <p:spPr>
            <a:xfrm>
              <a:off x="1371565" y="2458815"/>
              <a:ext cx="371973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Hardware:</a:t>
              </a:r>
              <a:r>
                <a:rPr b="0">
                  <a:solidFill>
                    <a:srgbClr val="333333"/>
                  </a:solidFill>
                </a:rPr>
                <a:t> Intel Core i5/i7, 8GB+ RAM</a:t>
              </a:r>
            </a:p>
          </p:txBody>
        </p:sp>
        <p:sp>
          <p:nvSpPr>
            <p:cNvPr id="11" name="Rounded Rectangle 10"/>
            <p:cNvSpPr/>
            <p:nvPr/>
          </p:nvSpPr>
          <p:spPr>
            <a:xfrm>
              <a:off x="6162520"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2" name="Picture 11" descr="image.png"/>
            <p:cNvPicPr>
              <a:picLocks noChangeAspect="1"/>
            </p:cNvPicPr>
            <p:nvPr/>
          </p:nvPicPr>
          <p:blipFill>
            <a:blip r:embed="rId4">
              <a:alphaModFix/>
            </a:blip>
            <a:stretch>
              <a:fillRect/>
            </a:stretch>
          </p:blipFill>
          <p:spPr>
            <a:xfrm>
              <a:off x="6305392" y="2581017"/>
              <a:ext cx="209544" cy="152914"/>
            </a:xfrm>
            <a:prstGeom prst="rect">
              <a:avLst/>
            </a:prstGeom>
          </p:spPr>
        </p:pic>
        <p:sp>
          <p:nvSpPr>
            <p:cNvPr id="13" name="TextBox 12"/>
            <p:cNvSpPr txBox="1"/>
            <p:nvPr/>
          </p:nvSpPr>
          <p:spPr>
            <a:xfrm>
              <a:off x="6629234" y="2458815"/>
              <a:ext cx="430566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Languages:</a:t>
              </a:r>
              <a:r>
                <a:rPr b="0">
                  <a:solidFill>
                    <a:srgbClr val="333333"/>
                  </a:solidFill>
                </a:rPr>
                <a:t> Python, HTML5, CSS3, JavaScript</a:t>
              </a:r>
            </a:p>
          </p:txBody>
        </p:sp>
        <p:sp>
          <p:nvSpPr>
            <p:cNvPr id="14" name="Rounded Rectangle 13"/>
            <p:cNvSpPr/>
            <p:nvPr/>
          </p:nvSpPr>
          <p:spPr>
            <a:xfrm>
              <a:off x="904852"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5" name="Picture 14" descr="image.png"/>
            <p:cNvPicPr>
              <a:picLocks noChangeAspect="1"/>
            </p:cNvPicPr>
            <p:nvPr/>
          </p:nvPicPr>
          <p:blipFill>
            <a:blip r:embed="rId5">
              <a:alphaModFix/>
            </a:blip>
            <a:stretch>
              <a:fillRect/>
            </a:stretch>
          </p:blipFill>
          <p:spPr>
            <a:xfrm>
              <a:off x="1047723" y="3153161"/>
              <a:ext cx="209544" cy="189727"/>
            </a:xfrm>
            <a:prstGeom prst="rect">
              <a:avLst/>
            </a:prstGeom>
          </p:spPr>
        </p:pic>
        <p:sp>
          <p:nvSpPr>
            <p:cNvPr id="16" name="TextBox 15"/>
            <p:cNvSpPr txBox="1"/>
            <p:nvPr/>
          </p:nvSpPr>
          <p:spPr>
            <a:xfrm>
              <a:off x="1260674" y="2981644"/>
              <a:ext cx="4543311"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Frameworks:</a:t>
              </a:r>
              <a:r>
                <a:rPr b="0" dirty="0">
                  <a:solidFill>
                    <a:srgbClr val="333333"/>
                  </a:solidFill>
                </a:rPr>
                <a:t> Flask, Tailwind CSS, Leaflet.js</a:t>
              </a:r>
              <a:r>
                <a:rPr lang="en-US" b="0" dirty="0">
                  <a:solidFill>
                    <a:srgbClr val="333333"/>
                  </a:solidFill>
                </a:rPr>
                <a:t> or </a:t>
              </a:r>
              <a:r>
                <a:rPr lang="en-US" b="0" dirty="0" err="1">
                  <a:solidFill>
                    <a:srgbClr val="333333"/>
                  </a:solidFill>
                </a:rPr>
                <a:t>mapbox</a:t>
              </a:r>
              <a:endParaRPr b="0" dirty="0">
                <a:solidFill>
                  <a:srgbClr val="333333"/>
                </a:solidFill>
              </a:endParaRPr>
            </a:p>
          </p:txBody>
        </p:sp>
        <p:sp>
          <p:nvSpPr>
            <p:cNvPr id="17" name="Rounded Rectangle 16"/>
            <p:cNvSpPr/>
            <p:nvPr/>
          </p:nvSpPr>
          <p:spPr>
            <a:xfrm>
              <a:off x="6162520"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8" name="Picture 17" descr="image.png"/>
            <p:cNvPicPr>
              <a:picLocks noChangeAspect="1"/>
            </p:cNvPicPr>
            <p:nvPr/>
          </p:nvPicPr>
          <p:blipFill>
            <a:blip r:embed="rId6">
              <a:alphaModFix/>
            </a:blip>
            <a:stretch>
              <a:fillRect/>
            </a:stretch>
          </p:blipFill>
          <p:spPr>
            <a:xfrm>
              <a:off x="6305392" y="3171567"/>
              <a:ext cx="209544" cy="152914"/>
            </a:xfrm>
            <a:prstGeom prst="rect">
              <a:avLst/>
            </a:prstGeom>
          </p:spPr>
        </p:pic>
        <p:sp>
          <p:nvSpPr>
            <p:cNvPr id="19" name="TextBox 18"/>
            <p:cNvSpPr txBox="1"/>
            <p:nvPr/>
          </p:nvSpPr>
          <p:spPr>
            <a:xfrm>
              <a:off x="6629235" y="2910865"/>
              <a:ext cx="4503774"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Database:</a:t>
              </a:r>
              <a:r>
                <a:rPr b="0" dirty="0">
                  <a:solidFill>
                    <a:srgbClr val="333333"/>
                  </a:solidFill>
                </a:rPr>
                <a:t> SQLite(development)</a:t>
              </a:r>
              <a:r>
                <a:rPr lang="en-US" b="0" dirty="0">
                  <a:solidFill>
                    <a:srgbClr val="333333"/>
                  </a:solidFill>
                </a:rPr>
                <a:t> and </a:t>
              </a:r>
              <a:r>
                <a:rPr lang="en-US" b="0" dirty="0" err="1">
                  <a:solidFill>
                    <a:srgbClr val="333333"/>
                  </a:solidFill>
                </a:rPr>
                <a:t>supabase</a:t>
              </a:r>
              <a:r>
                <a:rPr lang="en-US" b="0" dirty="0">
                  <a:solidFill>
                    <a:srgbClr val="333333"/>
                  </a:solidFill>
                </a:rPr>
                <a:t>(</a:t>
              </a:r>
              <a:r>
                <a:rPr lang="en-US" b="0" dirty="0" err="1">
                  <a:solidFill>
                    <a:srgbClr val="333333"/>
                  </a:solidFill>
                </a:rPr>
                <a:t>postgresql</a:t>
              </a:r>
              <a:r>
                <a:rPr lang="en-US" b="0" dirty="0">
                  <a:solidFill>
                    <a:srgbClr val="333333"/>
                  </a:solidFill>
                </a:rPr>
                <a:t>)</a:t>
              </a:r>
              <a:endParaRPr b="0" dirty="0">
                <a:solidFill>
                  <a:srgbClr val="333333"/>
                </a:solidFill>
              </a:endParaRPr>
            </a:p>
          </p:txBody>
        </p:sp>
        <p:sp>
          <p:nvSpPr>
            <p:cNvPr id="20" name="Rounded Rectangle 19"/>
            <p:cNvSpPr/>
            <p:nvPr/>
          </p:nvSpPr>
          <p:spPr>
            <a:xfrm>
              <a:off x="880209" y="4105174"/>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21" name="Picture 20" descr="image.png"/>
            <p:cNvPicPr>
              <a:picLocks noChangeAspect="1"/>
            </p:cNvPicPr>
            <p:nvPr/>
          </p:nvPicPr>
          <p:blipFill>
            <a:blip r:embed="rId7">
              <a:alphaModFix/>
            </a:blip>
            <a:stretch>
              <a:fillRect/>
            </a:stretch>
          </p:blipFill>
          <p:spPr>
            <a:xfrm>
              <a:off x="1023080" y="4234662"/>
              <a:ext cx="209544" cy="198222"/>
            </a:xfrm>
            <a:prstGeom prst="rect">
              <a:avLst/>
            </a:prstGeom>
          </p:spPr>
        </p:pic>
        <p:sp>
          <p:nvSpPr>
            <p:cNvPr id="22" name="TextBox 21"/>
            <p:cNvSpPr txBox="1"/>
            <p:nvPr/>
          </p:nvSpPr>
          <p:spPr>
            <a:xfrm>
              <a:off x="1346922" y="4135113"/>
              <a:ext cx="3135345"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Version Control:</a:t>
              </a:r>
              <a:r>
                <a:rPr b="0">
                  <a:solidFill>
                    <a:srgbClr val="333333"/>
                  </a:solidFill>
                </a:rPr>
                <a:t> Git and GitHub</a:t>
              </a:r>
            </a:p>
          </p:txBody>
        </p:sp>
        <p:sp>
          <p:nvSpPr>
            <p:cNvPr id="23" name="Rounded Rectangle 22"/>
            <p:cNvSpPr/>
            <p:nvPr/>
          </p:nvSpPr>
          <p:spPr>
            <a:xfrm>
              <a:off x="6162520" y="405550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4" name="Picture 23" descr="image.png"/>
            <p:cNvPicPr>
              <a:picLocks noChangeAspect="1"/>
            </p:cNvPicPr>
            <p:nvPr/>
          </p:nvPicPr>
          <p:blipFill>
            <a:blip r:embed="rId8">
              <a:alphaModFix/>
            </a:blip>
            <a:stretch>
              <a:fillRect/>
            </a:stretch>
          </p:blipFill>
          <p:spPr>
            <a:xfrm>
              <a:off x="6305392" y="4224638"/>
              <a:ext cx="209544" cy="118933"/>
            </a:xfrm>
            <a:prstGeom prst="rect">
              <a:avLst/>
            </a:prstGeom>
          </p:spPr>
        </p:pic>
        <p:sp>
          <p:nvSpPr>
            <p:cNvPr id="25" name="TextBox 24"/>
            <p:cNvSpPr txBox="1"/>
            <p:nvPr/>
          </p:nvSpPr>
          <p:spPr>
            <a:xfrm>
              <a:off x="6629234" y="4085444"/>
              <a:ext cx="2144498" cy="387798"/>
            </a:xfrm>
            <a:prstGeom prst="rect">
              <a:avLst/>
            </a:prstGeom>
            <a:noFill/>
          </p:spPr>
          <p:txBody>
            <a:bodyPr wrap="none" lIns="73152" tIns="54864" rIns="73152" bIns="54864" anchor="ctr">
              <a:spAutoFit/>
            </a:bodyPr>
            <a:lstStyle/>
            <a:p>
              <a:pPr algn="l">
                <a:spcBef>
                  <a:spcPts val="0"/>
                </a:spcBef>
                <a:spcAft>
                  <a:spcPts val="0"/>
                </a:spcAft>
              </a:pPr>
              <a:r>
                <a:rPr b="1" dirty="0">
                  <a:solidFill>
                    <a:srgbClr val="00897B"/>
                  </a:solidFill>
                </a:rPr>
                <a:t>Code Editor:</a:t>
              </a:r>
              <a:r>
                <a:rPr b="0" dirty="0">
                  <a:solidFill>
                    <a:srgbClr val="333333"/>
                  </a:solidFill>
                </a:rPr>
                <a:t> VS Code</a:t>
              </a:r>
            </a:p>
          </p:txBody>
        </p:sp>
      </p:grpSp>
      <p:sp>
        <p:nvSpPr>
          <p:cNvPr id="49" name="Rounded Rectangle 48"/>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2" name="TextBox 51"/>
          <p:cNvSpPr txBox="1"/>
          <p:nvPr/>
        </p:nvSpPr>
        <p:spPr>
          <a:xfrm>
            <a:off x="1896539" y="9078689"/>
            <a:ext cx="1388393"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Client Device</a:t>
            </a:r>
          </a:p>
        </p:txBody>
      </p:sp>
      <p:sp>
        <p:nvSpPr>
          <p:cNvPr id="53" name="TextBox 52"/>
          <p:cNvSpPr txBox="1"/>
          <p:nvPr/>
        </p:nvSpPr>
        <p:spPr>
          <a:xfrm>
            <a:off x="104772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Smartphone, Tablet, Laptop, or Desktop Computer</a:t>
            </a:r>
          </a:p>
        </p:txBody>
      </p:sp>
      <p:sp>
        <p:nvSpPr>
          <p:cNvPr id="54" name="Rounded Rectangle 53"/>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7" name="TextBox 56"/>
          <p:cNvSpPr txBox="1"/>
          <p:nvPr/>
        </p:nvSpPr>
        <p:spPr>
          <a:xfrm>
            <a:off x="5375279" y="9078689"/>
            <a:ext cx="143161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Web Browser</a:t>
            </a:r>
          </a:p>
        </p:txBody>
      </p:sp>
      <p:sp>
        <p:nvSpPr>
          <p:cNvPr id="58" name="TextBox 57"/>
          <p:cNvSpPr txBox="1"/>
          <p:nvPr/>
        </p:nvSpPr>
        <p:spPr>
          <a:xfrm>
            <a:off x="4884796" y="9390455"/>
            <a:ext cx="2431628" cy="326243"/>
          </a:xfrm>
          <a:prstGeom prst="rect">
            <a:avLst/>
          </a:prstGeom>
          <a:noFill/>
        </p:spPr>
        <p:txBody>
          <a:bodyPr wrap="none" lIns="73152" tIns="54864" rIns="73152" bIns="54864" anchor="ctr">
            <a:spAutoFit/>
          </a:bodyPr>
          <a:lstStyle/>
          <a:p>
            <a:pPr algn="ctr">
              <a:spcBef>
                <a:spcPts val="0"/>
              </a:spcBef>
              <a:spcAft>
                <a:spcPts val="0"/>
              </a:spcAft>
            </a:pPr>
            <a:r>
              <a:rPr sz="1400" b="0">
                <a:solidFill>
                  <a:srgbClr val="555555"/>
                </a:solidFill>
              </a:rPr>
              <a:t>Chrome, Firefox, Safari, or Edge</a:t>
            </a:r>
          </a:p>
        </p:txBody>
      </p:sp>
      <p:sp>
        <p:nvSpPr>
          <p:cNvPr id="59" name="Rounded Rectangle 58"/>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2" name="TextBox 61"/>
          <p:cNvSpPr txBox="1"/>
          <p:nvPr/>
        </p:nvSpPr>
        <p:spPr>
          <a:xfrm>
            <a:off x="8929975" y="9078689"/>
            <a:ext cx="134197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Connectivity</a:t>
            </a:r>
          </a:p>
        </p:txBody>
      </p:sp>
      <p:sp>
        <p:nvSpPr>
          <p:cNvPr id="63" name="TextBox 62"/>
          <p:cNvSpPr txBox="1"/>
          <p:nvPr/>
        </p:nvSpPr>
        <p:spPr>
          <a:xfrm>
            <a:off x="806747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Stable Internet Connection or Mobile Data Service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A2E6A-3F7C-DAA7-F57F-053204CE77A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7CDE09-54A3-6495-B710-CAD81EE96CCA}"/>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a:extLst>
              <a:ext uri="{FF2B5EF4-FFF2-40B4-BE49-F238E27FC236}">
                <a16:creationId xmlns:a16="http://schemas.microsoft.com/office/drawing/2014/main" id="{1D06EC51-EB04-43CC-5BAA-710D603518F4}"/>
              </a:ext>
            </a:extLst>
          </p:cNvPr>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a:extLst>
              <a:ext uri="{FF2B5EF4-FFF2-40B4-BE49-F238E27FC236}">
                <a16:creationId xmlns:a16="http://schemas.microsoft.com/office/drawing/2014/main" id="{81ACE877-1191-96A1-A916-542218D82694}"/>
              </a:ext>
            </a:extLst>
          </p:cNvPr>
          <p:cNvGrpSpPr/>
          <p:nvPr/>
        </p:nvGrpSpPr>
        <p:grpSpPr>
          <a:xfrm>
            <a:off x="666733" y="2377165"/>
            <a:ext cx="10858228" cy="2771775"/>
            <a:chOff x="666733" y="4486275"/>
            <a:chExt cx="10858228" cy="2771775"/>
          </a:xfrm>
        </p:grpSpPr>
        <p:sp>
          <p:nvSpPr>
            <p:cNvPr id="26" name="Rounded Rectangle 25">
              <a:extLst>
                <a:ext uri="{FF2B5EF4-FFF2-40B4-BE49-F238E27FC236}">
                  <a16:creationId xmlns:a16="http://schemas.microsoft.com/office/drawing/2014/main" id="{0766F554-7C5E-D97E-D0C8-31C8675DCD31}"/>
                </a:ext>
              </a:extLst>
            </p:cNvPr>
            <p:cNvSpPr/>
            <p:nvPr/>
          </p:nvSpPr>
          <p:spPr>
            <a:xfrm>
              <a:off x="666733" y="4486275"/>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a:extLst>
                <a:ext uri="{FF2B5EF4-FFF2-40B4-BE49-F238E27FC236}">
                  <a16:creationId xmlns:a16="http://schemas.microsoft.com/office/drawing/2014/main" id="{D9F99778-FF54-B90F-000B-B9B1773988C4}"/>
                </a:ext>
              </a:extLst>
            </p:cNvPr>
            <p:cNvSpPr/>
            <p:nvPr/>
          </p:nvSpPr>
          <p:spPr>
            <a:xfrm>
              <a:off x="904852" y="4724399"/>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a:extLst>
                <a:ext uri="{FF2B5EF4-FFF2-40B4-BE49-F238E27FC236}">
                  <a16:creationId xmlns:a16="http://schemas.microsoft.com/office/drawing/2014/main" id="{1D951277-7B8E-21A7-430F-EA7F1EB9A7C9}"/>
                </a:ext>
              </a:extLst>
            </p:cNvPr>
            <p:cNvPicPr>
              <a:picLocks noChangeAspect="1"/>
            </p:cNvPicPr>
            <p:nvPr/>
          </p:nvPicPr>
          <p:blipFill>
            <a:blip r:embed="rId2">
              <a:alphaModFix/>
            </a:blip>
            <a:stretch>
              <a:fillRect/>
            </a:stretch>
          </p:blipFill>
          <p:spPr>
            <a:xfrm>
              <a:off x="1047723" y="4908096"/>
              <a:ext cx="285742" cy="204107"/>
            </a:xfrm>
            <a:prstGeom prst="rect">
              <a:avLst/>
            </a:prstGeom>
          </p:spPr>
        </p:pic>
        <p:sp>
          <p:nvSpPr>
            <p:cNvPr id="29" name="TextBox 28">
              <a:extLst>
                <a:ext uri="{FF2B5EF4-FFF2-40B4-BE49-F238E27FC236}">
                  <a16:creationId xmlns:a16="http://schemas.microsoft.com/office/drawing/2014/main" id="{8C3A52AC-09D1-808B-67EC-0EDDE9E1203E}"/>
                </a:ext>
              </a:extLst>
            </p:cNvPr>
            <p:cNvSpPr txBox="1"/>
            <p:nvPr/>
          </p:nvSpPr>
          <p:spPr>
            <a:xfrm>
              <a:off x="1666833" y="4734545"/>
              <a:ext cx="5440400"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Deployment Requirements (Online)</a:t>
              </a:r>
            </a:p>
          </p:txBody>
        </p:sp>
        <p:sp>
          <p:nvSpPr>
            <p:cNvPr id="30" name="Rounded Rectangle 29">
              <a:extLst>
                <a:ext uri="{FF2B5EF4-FFF2-40B4-BE49-F238E27FC236}">
                  <a16:creationId xmlns:a16="http://schemas.microsoft.com/office/drawing/2014/main" id="{780C4152-C0AC-2B34-9D63-7DF33B4C27A2}"/>
                </a:ext>
              </a:extLst>
            </p:cNvPr>
            <p:cNvSpPr/>
            <p:nvPr/>
          </p:nvSpPr>
          <p:spPr>
            <a:xfrm>
              <a:off x="904852"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1" name="Rounded Rectangle 30">
              <a:extLst>
                <a:ext uri="{FF2B5EF4-FFF2-40B4-BE49-F238E27FC236}">
                  <a16:creationId xmlns:a16="http://schemas.microsoft.com/office/drawing/2014/main" id="{FDD60494-C17C-61B2-3DFB-5E612E6983C7}"/>
                </a:ext>
              </a:extLst>
            </p:cNvPr>
            <p:cNvSpPr/>
            <p:nvPr/>
          </p:nvSpPr>
          <p:spPr>
            <a:xfrm>
              <a:off x="2352616"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2" name="Picture 31" descr="image.png">
              <a:extLst>
                <a:ext uri="{FF2B5EF4-FFF2-40B4-BE49-F238E27FC236}">
                  <a16:creationId xmlns:a16="http://schemas.microsoft.com/office/drawing/2014/main" id="{4F5668D2-6D84-A5F9-E265-2501708475C5}"/>
                </a:ext>
              </a:extLst>
            </p:cNvPr>
            <p:cNvPicPr>
              <a:picLocks noChangeAspect="1"/>
            </p:cNvPicPr>
            <p:nvPr/>
          </p:nvPicPr>
          <p:blipFill>
            <a:blip r:embed="rId3">
              <a:alphaModFix/>
            </a:blip>
            <a:stretch>
              <a:fillRect/>
            </a:stretch>
          </p:blipFill>
          <p:spPr>
            <a:xfrm>
              <a:off x="2466913" y="5769491"/>
              <a:ext cx="247643" cy="195816"/>
            </a:xfrm>
            <a:prstGeom prst="rect">
              <a:avLst/>
            </a:prstGeom>
          </p:spPr>
        </p:pic>
        <p:sp>
          <p:nvSpPr>
            <p:cNvPr id="33" name="TextBox 32">
              <a:extLst>
                <a:ext uri="{FF2B5EF4-FFF2-40B4-BE49-F238E27FC236}">
                  <a16:creationId xmlns:a16="http://schemas.microsoft.com/office/drawing/2014/main" id="{DAA04DFA-0E05-E6E6-967A-173F0A66C0B3}"/>
                </a:ext>
              </a:extLst>
            </p:cNvPr>
            <p:cNvSpPr txBox="1"/>
            <p:nvPr/>
          </p:nvSpPr>
          <p:spPr>
            <a:xfrm>
              <a:off x="1533023" y="6116415"/>
              <a:ext cx="2105898" cy="387798"/>
            </a:xfrm>
            <a:prstGeom prst="rect">
              <a:avLst/>
            </a:prstGeom>
            <a:noFill/>
          </p:spPr>
          <p:txBody>
            <a:bodyPr wrap="none" lIns="73152" tIns="54864" rIns="73152" bIns="54864" anchor="ctr">
              <a:spAutoFit/>
            </a:bodyPr>
            <a:lstStyle/>
            <a:p>
              <a:pPr algn="ctr">
                <a:spcBef>
                  <a:spcPts val="0"/>
                </a:spcBef>
                <a:spcAft>
                  <a:spcPts val="520"/>
                </a:spcAft>
              </a:pPr>
              <a:r>
                <a:rPr b="1" dirty="0">
                  <a:solidFill>
                    <a:srgbClr val="00897B"/>
                  </a:solidFill>
                </a:rPr>
                <a:t>Web Hosting Service</a:t>
              </a:r>
            </a:p>
          </p:txBody>
        </p:sp>
        <p:sp>
          <p:nvSpPr>
            <p:cNvPr id="34" name="TextBox 33">
              <a:extLst>
                <a:ext uri="{FF2B5EF4-FFF2-40B4-BE49-F238E27FC236}">
                  <a16:creationId xmlns:a16="http://schemas.microsoft.com/office/drawing/2014/main" id="{98E32CE1-0F58-9334-EBD6-275870337260}"/>
                </a:ext>
              </a:extLst>
            </p:cNvPr>
            <p:cNvSpPr txBox="1"/>
            <p:nvPr/>
          </p:nvSpPr>
          <p:spPr>
            <a:xfrm>
              <a:off x="1047723" y="6523428"/>
              <a:ext cx="3076498" cy="326243"/>
            </a:xfrm>
            <a:prstGeom prst="rect">
              <a:avLst/>
            </a:prstGeom>
            <a:noFill/>
          </p:spPr>
          <p:txBody>
            <a:bodyPr wrap="square" lIns="73152" tIns="54864" rIns="73152" bIns="54864" anchor="ctr">
              <a:spAutoFit/>
            </a:bodyPr>
            <a:lstStyle/>
            <a:p>
              <a:pPr algn="ctr">
                <a:spcBef>
                  <a:spcPts val="0"/>
                </a:spcBef>
                <a:spcAft>
                  <a:spcPts val="0"/>
                </a:spcAft>
              </a:pPr>
              <a:r>
                <a:rPr lang="en-US" sz="1400" b="0" dirty="0" err="1">
                  <a:solidFill>
                    <a:srgbClr val="555555"/>
                  </a:solidFill>
                </a:rPr>
                <a:t>Vercel</a:t>
              </a:r>
              <a:endParaRPr sz="1400" b="0" dirty="0">
                <a:solidFill>
                  <a:srgbClr val="555555"/>
                </a:solidFill>
              </a:endParaRPr>
            </a:p>
          </p:txBody>
        </p:sp>
        <p:sp>
          <p:nvSpPr>
            <p:cNvPr id="35" name="Rounded Rectangle 34">
              <a:extLst>
                <a:ext uri="{FF2B5EF4-FFF2-40B4-BE49-F238E27FC236}">
                  <a16:creationId xmlns:a16="http://schemas.microsoft.com/office/drawing/2014/main" id="{ADE99B65-F9FD-5041-3C7E-092517B6C405}"/>
                </a:ext>
              </a:extLst>
            </p:cNvPr>
            <p:cNvSpPr/>
            <p:nvPr/>
          </p:nvSpPr>
          <p:spPr>
            <a:xfrm>
              <a:off x="4409964"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6" name="Rounded Rectangle 35">
              <a:extLst>
                <a:ext uri="{FF2B5EF4-FFF2-40B4-BE49-F238E27FC236}">
                  <a16:creationId xmlns:a16="http://schemas.microsoft.com/office/drawing/2014/main" id="{B7631E05-0B40-3410-6785-FEB09BFD8ED2}"/>
                </a:ext>
              </a:extLst>
            </p:cNvPr>
            <p:cNvSpPr/>
            <p:nvPr/>
          </p:nvSpPr>
          <p:spPr>
            <a:xfrm>
              <a:off x="5857728"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a:extLst>
                <a:ext uri="{FF2B5EF4-FFF2-40B4-BE49-F238E27FC236}">
                  <a16:creationId xmlns:a16="http://schemas.microsoft.com/office/drawing/2014/main" id="{C7E56237-205F-0EF1-A031-E06707FE533E}"/>
                </a:ext>
              </a:extLst>
            </p:cNvPr>
            <p:cNvPicPr>
              <a:picLocks noChangeAspect="1"/>
            </p:cNvPicPr>
            <p:nvPr/>
          </p:nvPicPr>
          <p:blipFill>
            <a:blip r:embed="rId4">
              <a:alphaModFix/>
            </a:blip>
            <a:stretch>
              <a:fillRect/>
            </a:stretch>
          </p:blipFill>
          <p:spPr>
            <a:xfrm>
              <a:off x="5972025" y="5778130"/>
              <a:ext cx="247643" cy="178538"/>
            </a:xfrm>
            <a:prstGeom prst="rect">
              <a:avLst/>
            </a:prstGeom>
          </p:spPr>
        </p:pic>
        <p:sp>
          <p:nvSpPr>
            <p:cNvPr id="38" name="TextBox 37">
              <a:extLst>
                <a:ext uri="{FF2B5EF4-FFF2-40B4-BE49-F238E27FC236}">
                  <a16:creationId xmlns:a16="http://schemas.microsoft.com/office/drawing/2014/main" id="{DD720FFC-4EDA-B6AB-C707-A13721575DD3}"/>
                </a:ext>
              </a:extLst>
            </p:cNvPr>
            <p:cNvSpPr txBox="1"/>
            <p:nvPr/>
          </p:nvSpPr>
          <p:spPr>
            <a:xfrm>
              <a:off x="5242729" y="6116415"/>
              <a:ext cx="1706237"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Database Server</a:t>
              </a:r>
            </a:p>
          </p:txBody>
        </p:sp>
        <p:sp>
          <p:nvSpPr>
            <p:cNvPr id="39" name="TextBox 38">
              <a:extLst>
                <a:ext uri="{FF2B5EF4-FFF2-40B4-BE49-F238E27FC236}">
                  <a16:creationId xmlns:a16="http://schemas.microsoft.com/office/drawing/2014/main" id="{6BEB3D3F-45F0-105D-3C88-6F9E98EE1CE3}"/>
                </a:ext>
              </a:extLst>
            </p:cNvPr>
            <p:cNvSpPr txBox="1"/>
            <p:nvPr/>
          </p:nvSpPr>
          <p:spPr>
            <a:xfrm>
              <a:off x="4705418" y="6428179"/>
              <a:ext cx="2771336" cy="326243"/>
            </a:xfrm>
            <a:prstGeom prst="rect">
              <a:avLst/>
            </a:prstGeom>
            <a:noFill/>
          </p:spPr>
          <p:txBody>
            <a:bodyPr wrap="none" lIns="73152" tIns="54864" rIns="73152" bIns="54864" anchor="ctr">
              <a:spAutoFit/>
            </a:bodyPr>
            <a:lstStyle/>
            <a:p>
              <a:pPr algn="ctr">
                <a:spcBef>
                  <a:spcPts val="0"/>
                </a:spcBef>
                <a:spcAft>
                  <a:spcPts val="0"/>
                </a:spcAft>
              </a:pPr>
              <a:r>
                <a:rPr lang="en-US" sz="1400" b="0" dirty="0">
                  <a:solidFill>
                    <a:srgbClr val="555555"/>
                  </a:solidFill>
                </a:rPr>
                <a:t>SQLite </a:t>
              </a:r>
              <a:r>
                <a:rPr sz="1400" b="0" dirty="0">
                  <a:solidFill>
                    <a:srgbClr val="555555"/>
                  </a:solidFill>
                </a:rPr>
                <a:t>or PostgreSQL for production</a:t>
              </a:r>
            </a:p>
          </p:txBody>
        </p:sp>
        <p:sp>
          <p:nvSpPr>
            <p:cNvPr id="40" name="Rounded Rectangle 39">
              <a:extLst>
                <a:ext uri="{FF2B5EF4-FFF2-40B4-BE49-F238E27FC236}">
                  <a16:creationId xmlns:a16="http://schemas.microsoft.com/office/drawing/2014/main" id="{C20D2DD3-33CB-9422-FB59-E339A949B97B}"/>
                </a:ext>
              </a:extLst>
            </p:cNvPr>
            <p:cNvSpPr/>
            <p:nvPr/>
          </p:nvSpPr>
          <p:spPr>
            <a:xfrm>
              <a:off x="7924601"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1" name="Rounded Rectangle 40">
              <a:extLst>
                <a:ext uri="{FF2B5EF4-FFF2-40B4-BE49-F238E27FC236}">
                  <a16:creationId xmlns:a16="http://schemas.microsoft.com/office/drawing/2014/main" id="{6480EB9C-0609-4741-E320-C53B8656E312}"/>
                </a:ext>
              </a:extLst>
            </p:cNvPr>
            <p:cNvSpPr/>
            <p:nvPr/>
          </p:nvSpPr>
          <p:spPr>
            <a:xfrm>
              <a:off x="9362840"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2" name="Picture 41" descr="image.png">
              <a:extLst>
                <a:ext uri="{FF2B5EF4-FFF2-40B4-BE49-F238E27FC236}">
                  <a16:creationId xmlns:a16="http://schemas.microsoft.com/office/drawing/2014/main" id="{A56F21D8-DD94-AD47-F0F5-1757059AB8FA}"/>
                </a:ext>
              </a:extLst>
            </p:cNvPr>
            <p:cNvPicPr>
              <a:picLocks noChangeAspect="1"/>
            </p:cNvPicPr>
            <p:nvPr/>
          </p:nvPicPr>
          <p:blipFill>
            <a:blip r:embed="rId5">
              <a:alphaModFix/>
            </a:blip>
            <a:stretch>
              <a:fillRect/>
            </a:stretch>
          </p:blipFill>
          <p:spPr>
            <a:xfrm>
              <a:off x="9477138" y="5769491"/>
              <a:ext cx="247643" cy="195816"/>
            </a:xfrm>
            <a:prstGeom prst="rect">
              <a:avLst/>
            </a:prstGeom>
          </p:spPr>
        </p:pic>
        <p:sp>
          <p:nvSpPr>
            <p:cNvPr id="43" name="TextBox 42">
              <a:extLst>
                <a:ext uri="{FF2B5EF4-FFF2-40B4-BE49-F238E27FC236}">
                  <a16:creationId xmlns:a16="http://schemas.microsoft.com/office/drawing/2014/main" id="{2988E987-88D3-4356-2324-D5E83687A7E3}"/>
                </a:ext>
              </a:extLst>
            </p:cNvPr>
            <p:cNvSpPr txBox="1"/>
            <p:nvPr/>
          </p:nvSpPr>
          <p:spPr>
            <a:xfrm>
              <a:off x="8746159" y="6116415"/>
              <a:ext cx="1719125"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Map Tile Service</a:t>
              </a:r>
            </a:p>
          </p:txBody>
        </p:sp>
        <p:sp>
          <p:nvSpPr>
            <p:cNvPr id="44" name="TextBox 43">
              <a:extLst>
                <a:ext uri="{FF2B5EF4-FFF2-40B4-BE49-F238E27FC236}">
                  <a16:creationId xmlns:a16="http://schemas.microsoft.com/office/drawing/2014/main" id="{B3CB9CE5-27DB-FEFD-783B-17B03408E411}"/>
                </a:ext>
              </a:extLst>
            </p:cNvPr>
            <p:cNvSpPr txBox="1"/>
            <p:nvPr/>
          </p:nvSpPr>
          <p:spPr>
            <a:xfrm>
              <a:off x="8131254" y="6353729"/>
              <a:ext cx="2939410" cy="541687"/>
            </a:xfrm>
            <a:prstGeom prst="rect">
              <a:avLst/>
            </a:prstGeom>
            <a:noFill/>
          </p:spPr>
          <p:txBody>
            <a:bodyPr wrap="square" lIns="73152" tIns="54864" rIns="73152" bIns="54864" anchor="ctr">
              <a:spAutoFit/>
            </a:bodyPr>
            <a:lstStyle/>
            <a:p>
              <a:pPr algn="ctr">
                <a:spcBef>
                  <a:spcPts val="0"/>
                </a:spcBef>
                <a:spcAft>
                  <a:spcPts val="0"/>
                </a:spcAft>
              </a:pPr>
              <a:r>
                <a:rPr sz="1400" b="0" dirty="0">
                  <a:solidFill>
                    <a:srgbClr val="555555"/>
                  </a:solidFill>
                </a:rPr>
                <a:t>OpenStreetMap or </a:t>
              </a:r>
              <a:r>
                <a:rPr sz="1400" b="0" dirty="0" err="1">
                  <a:solidFill>
                    <a:srgbClr val="555555"/>
                  </a:solidFill>
                </a:rPr>
                <a:t>CartoDB</a:t>
              </a:r>
              <a:r>
                <a:rPr sz="1400" b="0" dirty="0">
                  <a:solidFill>
                    <a:srgbClr val="555555"/>
                  </a:solidFill>
                </a:rPr>
                <a:t> via Leaflet</a:t>
              </a:r>
              <a:r>
                <a:rPr lang="en-US" sz="1400" b="0" dirty="0">
                  <a:solidFill>
                    <a:srgbClr val="555555"/>
                  </a:solidFill>
                </a:rPr>
                <a:t> or </a:t>
              </a:r>
              <a:r>
                <a:rPr lang="en-US" sz="1400" b="0" dirty="0" err="1">
                  <a:solidFill>
                    <a:srgbClr val="555555"/>
                  </a:solidFill>
                </a:rPr>
                <a:t>mapbox</a:t>
              </a:r>
              <a:endParaRPr sz="1400" b="0" dirty="0">
                <a:solidFill>
                  <a:srgbClr val="555555"/>
                </a:solidFill>
              </a:endParaRPr>
            </a:p>
          </p:txBody>
        </p:sp>
      </p:grpSp>
    </p:spTree>
    <p:extLst>
      <p:ext uri="{BB962C8B-B14F-4D97-AF65-F5344CB8AC3E}">
        <p14:creationId xmlns:p14="http://schemas.microsoft.com/office/powerpoint/2010/main" val="4580679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DD0C5-3DFE-9609-5F23-DD2EAFFF5E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736152E-D2F6-135A-7F47-2694E6B053E1}"/>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6C73AF1-A4DA-5FD8-9935-DC8B3FB45820}"/>
              </a:ext>
            </a:extLst>
          </p:cNvPr>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a:extLst>
              <a:ext uri="{FF2B5EF4-FFF2-40B4-BE49-F238E27FC236}">
                <a16:creationId xmlns:a16="http://schemas.microsoft.com/office/drawing/2014/main" id="{9F0304CF-047A-8D5A-BFB3-516EDA9A80B6}"/>
              </a:ext>
            </a:extLst>
          </p:cNvPr>
          <p:cNvGrpSpPr/>
          <p:nvPr/>
        </p:nvGrpSpPr>
        <p:grpSpPr>
          <a:xfrm>
            <a:off x="666733" y="2244808"/>
            <a:ext cx="10858228" cy="2771775"/>
            <a:chOff x="666733" y="7448549"/>
            <a:chExt cx="10858228" cy="2771775"/>
          </a:xfrm>
        </p:grpSpPr>
        <p:sp>
          <p:nvSpPr>
            <p:cNvPr id="45" name="Rounded Rectangle 44">
              <a:extLst>
                <a:ext uri="{FF2B5EF4-FFF2-40B4-BE49-F238E27FC236}">
                  <a16:creationId xmlns:a16="http://schemas.microsoft.com/office/drawing/2014/main" id="{0CF4A865-C40F-B06F-3E20-09FF3D203BB0}"/>
                </a:ext>
              </a:extLst>
            </p:cNvPr>
            <p:cNvSpPr/>
            <p:nvPr/>
          </p:nvSpPr>
          <p:spPr>
            <a:xfrm>
              <a:off x="666733" y="7448549"/>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46" name="Rounded Rectangle 45">
              <a:extLst>
                <a:ext uri="{FF2B5EF4-FFF2-40B4-BE49-F238E27FC236}">
                  <a16:creationId xmlns:a16="http://schemas.microsoft.com/office/drawing/2014/main" id="{01DFC81A-7000-57A3-B626-1D76365CF5CB}"/>
                </a:ext>
              </a:extLst>
            </p:cNvPr>
            <p:cNvSpPr/>
            <p:nvPr/>
          </p:nvSpPr>
          <p:spPr>
            <a:xfrm>
              <a:off x="904852" y="7686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47" name="Picture 46" descr="image.png">
              <a:extLst>
                <a:ext uri="{FF2B5EF4-FFF2-40B4-BE49-F238E27FC236}">
                  <a16:creationId xmlns:a16="http://schemas.microsoft.com/office/drawing/2014/main" id="{BB06E826-B227-5026-3DD9-52B770F2EAB8}"/>
                </a:ext>
              </a:extLst>
            </p:cNvPr>
            <p:cNvPicPr>
              <a:picLocks noChangeAspect="1"/>
            </p:cNvPicPr>
            <p:nvPr/>
          </p:nvPicPr>
          <p:blipFill>
            <a:blip r:embed="rId2">
              <a:alphaModFix/>
            </a:blip>
            <a:stretch>
              <a:fillRect/>
            </a:stretch>
          </p:blipFill>
          <p:spPr>
            <a:xfrm>
              <a:off x="1047723" y="7882034"/>
              <a:ext cx="285742" cy="180780"/>
            </a:xfrm>
            <a:prstGeom prst="rect">
              <a:avLst/>
            </a:prstGeom>
          </p:spPr>
        </p:pic>
        <p:sp>
          <p:nvSpPr>
            <p:cNvPr id="48" name="TextBox 47">
              <a:extLst>
                <a:ext uri="{FF2B5EF4-FFF2-40B4-BE49-F238E27FC236}">
                  <a16:creationId xmlns:a16="http://schemas.microsoft.com/office/drawing/2014/main" id="{5B13ECAA-3888-6EA9-8AEC-475F438D672E}"/>
                </a:ext>
              </a:extLst>
            </p:cNvPr>
            <p:cNvSpPr txBox="1"/>
            <p:nvPr/>
          </p:nvSpPr>
          <p:spPr>
            <a:xfrm>
              <a:off x="1666833" y="7675568"/>
              <a:ext cx="4624920" cy="603242"/>
            </a:xfrm>
            <a:prstGeom prst="rect">
              <a:avLst/>
            </a:prstGeom>
            <a:noFill/>
          </p:spPr>
          <p:txBody>
            <a:bodyPr wrap="none" lIns="73152" tIns="54864" rIns="73152" bIns="54864" anchor="ctr">
              <a:spAutoFit/>
            </a:bodyPr>
            <a:lstStyle/>
            <a:p>
              <a:pPr algn="l">
                <a:spcBef>
                  <a:spcPts val="0"/>
                </a:spcBef>
                <a:spcAft>
                  <a:spcPts val="0"/>
                </a:spcAft>
              </a:pPr>
              <a:r>
                <a:rPr sz="3200" b="1">
                  <a:solidFill>
                    <a:srgbClr val="00897B"/>
                  </a:solidFill>
                </a:rPr>
                <a:t>User Access Requirements</a:t>
              </a:r>
            </a:p>
          </p:txBody>
        </p:sp>
        <p:sp>
          <p:nvSpPr>
            <p:cNvPr id="49" name="Rounded Rectangle 48">
              <a:extLst>
                <a:ext uri="{FF2B5EF4-FFF2-40B4-BE49-F238E27FC236}">
                  <a16:creationId xmlns:a16="http://schemas.microsoft.com/office/drawing/2014/main" id="{560F52D3-4DB4-5FE3-A0E4-8C288BC9A5DE}"/>
                </a:ext>
              </a:extLst>
            </p:cNvPr>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0" name="Rounded Rectangle 49">
              <a:extLst>
                <a:ext uri="{FF2B5EF4-FFF2-40B4-BE49-F238E27FC236}">
                  <a16:creationId xmlns:a16="http://schemas.microsoft.com/office/drawing/2014/main" id="{8869FABA-C52E-130A-E3B3-7E5AA9919ECD}"/>
                </a:ext>
              </a:extLst>
            </p:cNvPr>
            <p:cNvSpPr/>
            <p:nvPr/>
          </p:nvSpPr>
          <p:spPr>
            <a:xfrm>
              <a:off x="2352616"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1" name="Picture 50" descr="image.png">
              <a:extLst>
                <a:ext uri="{FF2B5EF4-FFF2-40B4-BE49-F238E27FC236}">
                  <a16:creationId xmlns:a16="http://schemas.microsoft.com/office/drawing/2014/main" id="{1CA8E071-FFCB-951D-4B77-943C66B73430}"/>
                </a:ext>
              </a:extLst>
            </p:cNvPr>
            <p:cNvPicPr>
              <a:picLocks noChangeAspect="1"/>
            </p:cNvPicPr>
            <p:nvPr/>
          </p:nvPicPr>
          <p:blipFill>
            <a:blip r:embed="rId3">
              <a:alphaModFix/>
            </a:blip>
            <a:stretch>
              <a:fillRect/>
            </a:stretch>
          </p:blipFill>
          <p:spPr>
            <a:xfrm>
              <a:off x="2466913" y="8740405"/>
              <a:ext cx="247643" cy="178538"/>
            </a:xfrm>
            <a:prstGeom prst="rect">
              <a:avLst/>
            </a:prstGeom>
          </p:spPr>
        </p:pic>
        <p:sp>
          <p:nvSpPr>
            <p:cNvPr id="52" name="TextBox 51">
              <a:extLst>
                <a:ext uri="{FF2B5EF4-FFF2-40B4-BE49-F238E27FC236}">
                  <a16:creationId xmlns:a16="http://schemas.microsoft.com/office/drawing/2014/main" id="{8037DB44-7754-B137-7306-2442EDA72066}"/>
                </a:ext>
              </a:extLst>
            </p:cNvPr>
            <p:cNvSpPr txBox="1"/>
            <p:nvPr/>
          </p:nvSpPr>
          <p:spPr>
            <a:xfrm>
              <a:off x="1824596" y="9063300"/>
              <a:ext cx="153227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Client Device</a:t>
              </a:r>
            </a:p>
          </p:txBody>
        </p:sp>
        <p:sp>
          <p:nvSpPr>
            <p:cNvPr id="53" name="TextBox 52">
              <a:extLst>
                <a:ext uri="{FF2B5EF4-FFF2-40B4-BE49-F238E27FC236}">
                  <a16:creationId xmlns:a16="http://schemas.microsoft.com/office/drawing/2014/main" id="{932F394A-7EDB-7816-56B8-FF42560D8227}"/>
                </a:ext>
              </a:extLst>
            </p:cNvPr>
            <p:cNvSpPr txBox="1"/>
            <p:nvPr/>
          </p:nvSpPr>
          <p:spPr>
            <a:xfrm>
              <a:off x="104772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Smartphone, Tablet, Laptop, or Desktop Computer</a:t>
              </a:r>
            </a:p>
          </p:txBody>
        </p:sp>
        <p:sp>
          <p:nvSpPr>
            <p:cNvPr id="54" name="Rounded Rectangle 53">
              <a:extLst>
                <a:ext uri="{FF2B5EF4-FFF2-40B4-BE49-F238E27FC236}">
                  <a16:creationId xmlns:a16="http://schemas.microsoft.com/office/drawing/2014/main" id="{7AE52115-25EA-8279-CAC7-1A5B61769A01}"/>
                </a:ext>
              </a:extLst>
            </p:cNvPr>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5" name="Rounded Rectangle 54">
              <a:extLst>
                <a:ext uri="{FF2B5EF4-FFF2-40B4-BE49-F238E27FC236}">
                  <a16:creationId xmlns:a16="http://schemas.microsoft.com/office/drawing/2014/main" id="{29A50BFE-794F-47ED-730D-10DE9D81F6CD}"/>
                </a:ext>
              </a:extLst>
            </p:cNvPr>
            <p:cNvSpPr/>
            <p:nvPr/>
          </p:nvSpPr>
          <p:spPr>
            <a:xfrm>
              <a:off x="5857728"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6" name="Picture 55" descr="image.png">
              <a:extLst>
                <a:ext uri="{FF2B5EF4-FFF2-40B4-BE49-F238E27FC236}">
                  <a16:creationId xmlns:a16="http://schemas.microsoft.com/office/drawing/2014/main" id="{A89D567E-8A18-BEF1-BBD0-6AB9616679AB}"/>
                </a:ext>
              </a:extLst>
            </p:cNvPr>
            <p:cNvPicPr>
              <a:picLocks noChangeAspect="1"/>
            </p:cNvPicPr>
            <p:nvPr/>
          </p:nvPicPr>
          <p:blipFill>
            <a:blip r:embed="rId4">
              <a:alphaModFix/>
            </a:blip>
            <a:stretch>
              <a:fillRect/>
            </a:stretch>
          </p:blipFill>
          <p:spPr>
            <a:xfrm>
              <a:off x="5972025" y="8723127"/>
              <a:ext cx="247643" cy="213094"/>
            </a:xfrm>
            <a:prstGeom prst="rect">
              <a:avLst/>
            </a:prstGeom>
          </p:spPr>
        </p:pic>
        <p:sp>
          <p:nvSpPr>
            <p:cNvPr id="57" name="TextBox 56">
              <a:extLst>
                <a:ext uri="{FF2B5EF4-FFF2-40B4-BE49-F238E27FC236}">
                  <a16:creationId xmlns:a16="http://schemas.microsoft.com/office/drawing/2014/main" id="{64AAE0D7-1DCA-A9D4-4399-33EA1FBC492E}"/>
                </a:ext>
              </a:extLst>
            </p:cNvPr>
            <p:cNvSpPr txBox="1"/>
            <p:nvPr/>
          </p:nvSpPr>
          <p:spPr>
            <a:xfrm>
              <a:off x="5301477" y="9063300"/>
              <a:ext cx="1579215"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Web Browser</a:t>
              </a:r>
            </a:p>
          </p:txBody>
        </p:sp>
        <p:sp>
          <p:nvSpPr>
            <p:cNvPr id="58" name="TextBox 57">
              <a:extLst>
                <a:ext uri="{FF2B5EF4-FFF2-40B4-BE49-F238E27FC236}">
                  <a16:creationId xmlns:a16="http://schemas.microsoft.com/office/drawing/2014/main" id="{2FDBA75D-9E62-8B89-2E31-BA764F6A597B}"/>
                </a:ext>
              </a:extLst>
            </p:cNvPr>
            <p:cNvSpPr txBox="1"/>
            <p:nvPr/>
          </p:nvSpPr>
          <p:spPr>
            <a:xfrm>
              <a:off x="4720552" y="9375066"/>
              <a:ext cx="2760116" cy="357021"/>
            </a:xfrm>
            <a:prstGeom prst="rect">
              <a:avLst/>
            </a:prstGeom>
            <a:noFill/>
          </p:spPr>
          <p:txBody>
            <a:bodyPr wrap="none" lIns="73152" tIns="54864" rIns="73152" bIns="54864" anchor="ctr">
              <a:spAutoFit/>
            </a:bodyPr>
            <a:lstStyle/>
            <a:p>
              <a:pPr algn="ctr">
                <a:spcBef>
                  <a:spcPts val="0"/>
                </a:spcBef>
                <a:spcAft>
                  <a:spcPts val="0"/>
                </a:spcAft>
              </a:pPr>
              <a:r>
                <a:rPr sz="1600" b="0">
                  <a:solidFill>
                    <a:srgbClr val="555555"/>
                  </a:solidFill>
                </a:rPr>
                <a:t>Chrome, Firefox, Safari, or Edge</a:t>
              </a:r>
            </a:p>
          </p:txBody>
        </p:sp>
        <p:sp>
          <p:nvSpPr>
            <p:cNvPr id="59" name="Rounded Rectangle 58">
              <a:extLst>
                <a:ext uri="{FF2B5EF4-FFF2-40B4-BE49-F238E27FC236}">
                  <a16:creationId xmlns:a16="http://schemas.microsoft.com/office/drawing/2014/main" id="{CE00E130-770D-24EB-2EAE-8AF4EF3FCFB6}"/>
                </a:ext>
              </a:extLst>
            </p:cNvPr>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60" name="Rounded Rectangle 59">
              <a:extLst>
                <a:ext uri="{FF2B5EF4-FFF2-40B4-BE49-F238E27FC236}">
                  <a16:creationId xmlns:a16="http://schemas.microsoft.com/office/drawing/2014/main" id="{197B4979-FC12-6958-C072-1ADBCD7AFF43}"/>
                </a:ext>
              </a:extLst>
            </p:cNvPr>
            <p:cNvSpPr/>
            <p:nvPr/>
          </p:nvSpPr>
          <p:spPr>
            <a:xfrm>
              <a:off x="9362840"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61" name="Picture 60" descr="image.png">
              <a:extLst>
                <a:ext uri="{FF2B5EF4-FFF2-40B4-BE49-F238E27FC236}">
                  <a16:creationId xmlns:a16="http://schemas.microsoft.com/office/drawing/2014/main" id="{DE4F89D7-ADBC-669C-461D-727736FB3EEF}"/>
                </a:ext>
              </a:extLst>
            </p:cNvPr>
            <p:cNvPicPr>
              <a:picLocks noChangeAspect="1"/>
            </p:cNvPicPr>
            <p:nvPr/>
          </p:nvPicPr>
          <p:blipFill>
            <a:blip r:embed="rId5">
              <a:alphaModFix/>
            </a:blip>
            <a:stretch>
              <a:fillRect/>
            </a:stretch>
          </p:blipFill>
          <p:spPr>
            <a:xfrm>
              <a:off x="9477138" y="8743285"/>
              <a:ext cx="247643" cy="172779"/>
            </a:xfrm>
            <a:prstGeom prst="rect">
              <a:avLst/>
            </a:prstGeom>
          </p:spPr>
        </p:pic>
        <p:sp>
          <p:nvSpPr>
            <p:cNvPr id="62" name="TextBox 61">
              <a:extLst>
                <a:ext uri="{FF2B5EF4-FFF2-40B4-BE49-F238E27FC236}">
                  <a16:creationId xmlns:a16="http://schemas.microsoft.com/office/drawing/2014/main" id="{F4B14001-5598-9348-D003-98B07F6E5C72}"/>
                </a:ext>
              </a:extLst>
            </p:cNvPr>
            <p:cNvSpPr txBox="1"/>
            <p:nvPr/>
          </p:nvSpPr>
          <p:spPr>
            <a:xfrm>
              <a:off x="8861046" y="9063300"/>
              <a:ext cx="147982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Connectivity</a:t>
              </a:r>
            </a:p>
          </p:txBody>
        </p:sp>
        <p:sp>
          <p:nvSpPr>
            <p:cNvPr id="63" name="TextBox 62">
              <a:extLst>
                <a:ext uri="{FF2B5EF4-FFF2-40B4-BE49-F238E27FC236}">
                  <a16:creationId xmlns:a16="http://schemas.microsoft.com/office/drawing/2014/main" id="{BEAD9BC2-B0D7-462C-B31A-D0286D298B74}"/>
                </a:ext>
              </a:extLst>
            </p:cNvPr>
            <p:cNvSpPr txBox="1"/>
            <p:nvPr/>
          </p:nvSpPr>
          <p:spPr>
            <a:xfrm>
              <a:off x="806747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Stable Internet Connection or Mobile Data Service</a:t>
              </a:r>
            </a:p>
          </p:txBody>
        </p:sp>
      </p:grpSp>
    </p:spTree>
    <p:extLst>
      <p:ext uri="{BB962C8B-B14F-4D97-AF65-F5344CB8AC3E}">
        <p14:creationId xmlns:p14="http://schemas.microsoft.com/office/powerpoint/2010/main" val="26339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3021596"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Methodology</a:t>
            </a:r>
          </a:p>
        </p:txBody>
      </p:sp>
      <p:grpSp>
        <p:nvGrpSpPr>
          <p:cNvPr id="46" name="Group 45">
            <a:extLst>
              <a:ext uri="{FF2B5EF4-FFF2-40B4-BE49-F238E27FC236}">
                <a16:creationId xmlns:a16="http://schemas.microsoft.com/office/drawing/2014/main" id="{5BF29C06-70D0-9093-FF6B-3B531C8064B8}"/>
              </a:ext>
            </a:extLst>
          </p:cNvPr>
          <p:cNvGrpSpPr/>
          <p:nvPr/>
        </p:nvGrpSpPr>
        <p:grpSpPr>
          <a:xfrm>
            <a:off x="6504412" y="2950475"/>
            <a:ext cx="5472279" cy="2323177"/>
            <a:chOff x="666733" y="7600950"/>
            <a:chExt cx="5686282" cy="1981199"/>
          </a:xfrm>
        </p:grpSpPr>
        <p:sp>
          <p:nvSpPr>
            <p:cNvPr id="27" name="Rounded Rectangle 26"/>
            <p:cNvSpPr/>
            <p:nvPr/>
          </p:nvSpPr>
          <p:spPr>
            <a:xfrm>
              <a:off x="666733" y="7600950"/>
              <a:ext cx="5686282" cy="1981199"/>
            </a:xfrm>
            <a:prstGeom prst="roundRect">
              <a:avLst>
                <a:gd name="adj" fmla="val 769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2">
              <a:alphaModFix/>
            </a:blip>
            <a:stretch>
              <a:fillRect/>
            </a:stretch>
          </p:blipFill>
          <p:spPr>
            <a:xfrm>
              <a:off x="857228" y="7808595"/>
              <a:ext cx="228594" cy="194309"/>
            </a:xfrm>
            <a:prstGeom prst="rect">
              <a:avLst/>
            </a:prstGeom>
          </p:spPr>
        </p:pic>
        <p:sp>
          <p:nvSpPr>
            <p:cNvPr id="29" name="TextBox 28"/>
            <p:cNvSpPr txBox="1"/>
            <p:nvPr/>
          </p:nvSpPr>
          <p:spPr>
            <a:xfrm>
              <a:off x="1181070" y="7732031"/>
              <a:ext cx="2063192" cy="356960"/>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RAD Key Benefits</a:t>
              </a:r>
            </a:p>
          </p:txBody>
        </p:sp>
        <p:sp>
          <p:nvSpPr>
            <p:cNvPr id="30" name="Rounded Rectangle 29"/>
            <p:cNvSpPr/>
            <p:nvPr/>
          </p:nvSpPr>
          <p:spPr>
            <a:xfrm>
              <a:off x="857228" y="8172450"/>
              <a:ext cx="201699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1" name="Picture 30" descr="image.png"/>
            <p:cNvPicPr>
              <a:picLocks noChangeAspect="1"/>
            </p:cNvPicPr>
            <p:nvPr/>
          </p:nvPicPr>
          <p:blipFill>
            <a:blip r:embed="rId3">
              <a:alphaModFix/>
            </a:blip>
            <a:stretch>
              <a:fillRect/>
            </a:stretch>
          </p:blipFill>
          <p:spPr>
            <a:xfrm>
              <a:off x="1000099" y="8265241"/>
              <a:ext cx="171445" cy="138266"/>
            </a:xfrm>
            <a:prstGeom prst="rect">
              <a:avLst/>
            </a:prstGeom>
          </p:spPr>
        </p:pic>
        <p:sp>
          <p:nvSpPr>
            <p:cNvPr id="32" name="TextBox 31"/>
            <p:cNvSpPr txBox="1"/>
            <p:nvPr/>
          </p:nvSpPr>
          <p:spPr>
            <a:xfrm>
              <a:off x="1247743" y="8204789"/>
              <a:ext cx="1553624" cy="278219"/>
            </a:xfrm>
            <a:prstGeom prst="rect">
              <a:avLst/>
            </a:prstGeom>
            <a:noFill/>
          </p:spPr>
          <p:txBody>
            <a:bodyPr wrap="square" lIns="73152" tIns="54864" rIns="73152" bIns="54864" anchor="ctr">
              <a:spAutoFit/>
            </a:bodyPr>
            <a:lstStyle/>
            <a:p>
              <a:pPr algn="l">
                <a:spcBef>
                  <a:spcPts val="0"/>
                </a:spcBef>
                <a:spcAft>
                  <a:spcPts val="0"/>
                </a:spcAft>
              </a:pPr>
              <a:r>
                <a:rPr sz="1400" dirty="0">
                  <a:solidFill>
                    <a:srgbClr val="333333"/>
                  </a:solidFill>
                </a:rPr>
                <a:t>Rapid Prototyping</a:t>
              </a:r>
            </a:p>
          </p:txBody>
        </p:sp>
        <p:sp>
          <p:nvSpPr>
            <p:cNvPr id="33" name="Rounded Rectangle 32"/>
            <p:cNvSpPr/>
            <p:nvPr/>
          </p:nvSpPr>
          <p:spPr>
            <a:xfrm>
              <a:off x="3187132" y="8188918"/>
              <a:ext cx="1963517"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34" name="Picture 33" descr="image.png"/>
            <p:cNvPicPr>
              <a:picLocks noChangeAspect="1"/>
            </p:cNvPicPr>
            <p:nvPr/>
          </p:nvPicPr>
          <p:blipFill>
            <a:blip r:embed="rId4">
              <a:alphaModFix/>
            </a:blip>
            <a:stretch>
              <a:fillRect/>
            </a:stretch>
          </p:blipFill>
          <p:spPr>
            <a:xfrm>
              <a:off x="3286113" y="8280173"/>
              <a:ext cx="171445" cy="160388"/>
            </a:xfrm>
            <a:prstGeom prst="rect">
              <a:avLst/>
            </a:prstGeom>
          </p:spPr>
        </p:pic>
        <p:sp>
          <p:nvSpPr>
            <p:cNvPr id="35" name="TextBox 34"/>
            <p:cNvSpPr txBox="1"/>
            <p:nvPr/>
          </p:nvSpPr>
          <p:spPr>
            <a:xfrm>
              <a:off x="3432022" y="8221257"/>
              <a:ext cx="1573412"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Iterative</a:t>
              </a:r>
              <a:r>
                <a:rPr sz="1400" b="1" dirty="0">
                  <a:solidFill>
                    <a:srgbClr val="333333"/>
                  </a:solidFill>
                </a:rPr>
                <a:t> </a:t>
              </a:r>
              <a:r>
                <a:rPr sz="1400" dirty="0">
                  <a:solidFill>
                    <a:srgbClr val="333333"/>
                  </a:solidFill>
                </a:rPr>
                <a:t>Feedback</a:t>
              </a:r>
            </a:p>
          </p:txBody>
        </p:sp>
        <p:sp>
          <p:nvSpPr>
            <p:cNvPr id="36" name="Rounded Rectangle 35"/>
            <p:cNvSpPr/>
            <p:nvPr/>
          </p:nvSpPr>
          <p:spPr>
            <a:xfrm>
              <a:off x="857228" y="8610600"/>
              <a:ext cx="222364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p:cNvPicPr>
              <a:picLocks noChangeAspect="1"/>
            </p:cNvPicPr>
            <p:nvPr/>
          </p:nvPicPr>
          <p:blipFill>
            <a:blip r:embed="rId5">
              <a:alphaModFix/>
            </a:blip>
            <a:stretch>
              <a:fillRect/>
            </a:stretch>
          </p:blipFill>
          <p:spPr>
            <a:xfrm>
              <a:off x="1000099" y="8717218"/>
              <a:ext cx="171445" cy="110612"/>
            </a:xfrm>
            <a:prstGeom prst="rect">
              <a:avLst/>
            </a:prstGeom>
          </p:spPr>
        </p:pic>
        <p:sp>
          <p:nvSpPr>
            <p:cNvPr id="38" name="TextBox 37"/>
            <p:cNvSpPr txBox="1"/>
            <p:nvPr/>
          </p:nvSpPr>
          <p:spPr>
            <a:xfrm>
              <a:off x="1247743" y="8642940"/>
              <a:ext cx="1833127"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User-Centered</a:t>
              </a:r>
              <a:r>
                <a:rPr sz="1400" b="1" dirty="0">
                  <a:solidFill>
                    <a:srgbClr val="333333"/>
                  </a:solidFill>
                </a:rPr>
                <a:t> </a:t>
              </a:r>
              <a:r>
                <a:rPr sz="1400" dirty="0">
                  <a:solidFill>
                    <a:srgbClr val="333333"/>
                  </a:solidFill>
                </a:rPr>
                <a:t>Design</a:t>
              </a:r>
            </a:p>
          </p:txBody>
        </p:sp>
        <p:sp>
          <p:nvSpPr>
            <p:cNvPr id="39" name="Rounded Rectangle 38"/>
            <p:cNvSpPr/>
            <p:nvPr/>
          </p:nvSpPr>
          <p:spPr>
            <a:xfrm>
              <a:off x="3158358" y="8614623"/>
              <a:ext cx="261913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0" name="Picture 39" descr="image.png"/>
            <p:cNvPicPr>
              <a:picLocks noChangeAspect="1"/>
            </p:cNvPicPr>
            <p:nvPr/>
          </p:nvPicPr>
          <p:blipFill>
            <a:blip r:embed="rId6">
              <a:alphaModFix/>
            </a:blip>
            <a:stretch>
              <a:fillRect/>
            </a:stretch>
          </p:blipFill>
          <p:spPr>
            <a:xfrm>
              <a:off x="3277062" y="8709777"/>
              <a:ext cx="171445" cy="149327"/>
            </a:xfrm>
            <a:prstGeom prst="rect">
              <a:avLst/>
            </a:prstGeom>
          </p:spPr>
        </p:pic>
        <p:sp>
          <p:nvSpPr>
            <p:cNvPr id="41" name="TextBox 40"/>
            <p:cNvSpPr txBox="1"/>
            <p:nvPr/>
          </p:nvSpPr>
          <p:spPr>
            <a:xfrm>
              <a:off x="3415526" y="8634490"/>
              <a:ext cx="2331768"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Reduced</a:t>
              </a:r>
              <a:r>
                <a:rPr sz="1400" b="1" dirty="0">
                  <a:solidFill>
                    <a:srgbClr val="333333"/>
                  </a:solidFill>
                </a:rPr>
                <a:t> </a:t>
              </a:r>
              <a:r>
                <a:rPr sz="1400" dirty="0">
                  <a:solidFill>
                    <a:srgbClr val="333333"/>
                  </a:solidFill>
                </a:rPr>
                <a:t>Development</a:t>
              </a:r>
              <a:r>
                <a:rPr sz="1400" b="1" dirty="0">
                  <a:solidFill>
                    <a:srgbClr val="333333"/>
                  </a:solidFill>
                </a:rPr>
                <a:t> </a:t>
              </a:r>
              <a:r>
                <a:rPr sz="1400" dirty="0">
                  <a:solidFill>
                    <a:srgbClr val="333333"/>
                  </a:solidFill>
                </a:rPr>
                <a:t>Time</a:t>
              </a:r>
            </a:p>
          </p:txBody>
        </p:sp>
        <p:sp>
          <p:nvSpPr>
            <p:cNvPr id="42" name="Rounded Rectangle 41"/>
            <p:cNvSpPr/>
            <p:nvPr/>
          </p:nvSpPr>
          <p:spPr>
            <a:xfrm>
              <a:off x="857228" y="9048749"/>
              <a:ext cx="226188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3" name="Picture 42" descr="image.png"/>
            <p:cNvPicPr>
              <a:picLocks noChangeAspect="1"/>
            </p:cNvPicPr>
            <p:nvPr/>
          </p:nvPicPr>
          <p:blipFill>
            <a:blip r:embed="rId7">
              <a:alphaModFix/>
            </a:blip>
            <a:stretch>
              <a:fillRect/>
            </a:stretch>
          </p:blipFill>
          <p:spPr>
            <a:xfrm>
              <a:off x="1000099" y="9130480"/>
              <a:ext cx="171445" cy="160388"/>
            </a:xfrm>
            <a:prstGeom prst="rect">
              <a:avLst/>
            </a:prstGeom>
          </p:spPr>
        </p:pic>
        <p:sp>
          <p:nvSpPr>
            <p:cNvPr id="44" name="TextBox 43"/>
            <p:cNvSpPr txBox="1"/>
            <p:nvPr/>
          </p:nvSpPr>
          <p:spPr>
            <a:xfrm>
              <a:off x="1247743" y="9081091"/>
              <a:ext cx="1871371"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Flexible</a:t>
              </a:r>
              <a:r>
                <a:rPr sz="1400" b="1" dirty="0">
                  <a:solidFill>
                    <a:srgbClr val="333333"/>
                  </a:solidFill>
                </a:rPr>
                <a:t> </a:t>
              </a:r>
              <a:r>
                <a:rPr sz="1400" dirty="0">
                  <a:solidFill>
                    <a:srgbClr val="333333"/>
                  </a:solidFill>
                </a:rPr>
                <a:t>Requirements</a:t>
              </a:r>
            </a:p>
          </p:txBody>
        </p:sp>
      </p:grpSp>
      <p:sp>
        <p:nvSpPr>
          <p:cNvPr id="45" name="Rectangle 44"/>
          <p:cNvSpPr/>
          <p:nvPr/>
        </p:nvSpPr>
        <p:spPr>
          <a:xfrm>
            <a:off x="231316" y="1859221"/>
            <a:ext cx="6149352" cy="4742831"/>
          </a:xfrm>
          <a:prstGeom prst="rect">
            <a:avLst/>
          </a:prstGeom>
          <a:blipFill>
            <a:blip r:embed="rId8"/>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5" name="Picture 4">
            <a:extLst>
              <a:ext uri="{FF2B5EF4-FFF2-40B4-BE49-F238E27FC236}">
                <a16:creationId xmlns:a16="http://schemas.microsoft.com/office/drawing/2014/main" id="{683D4C4B-19C5-9961-DFE5-0C21ACBFE247}"/>
              </a:ext>
            </a:extLst>
          </p:cNvPr>
          <p:cNvPicPr>
            <a:picLocks/>
          </p:cNvPicPr>
          <p:nvPr/>
        </p:nvPicPr>
        <p:blipFill>
          <a:blip r:embed="rId2"/>
          <a:stretch>
            <a:fillRect/>
          </a:stretch>
        </p:blipFill>
        <p:spPr>
          <a:xfrm>
            <a:off x="4631097" y="727468"/>
            <a:ext cx="3748404" cy="587569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F1EBE-9792-0D19-008F-469A8E90BA9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7F2BA34-29A5-D33E-547A-EBD4B14C9710}"/>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BA102BB-6B5F-1856-BAAE-EDFAD3DAC9FD}"/>
              </a:ext>
            </a:extLst>
          </p:cNvPr>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5" name="Picture 4">
            <a:extLst>
              <a:ext uri="{FF2B5EF4-FFF2-40B4-BE49-F238E27FC236}">
                <a16:creationId xmlns:a16="http://schemas.microsoft.com/office/drawing/2014/main" id="{E145CAA8-786D-90B1-5F8D-9A4025C63BE1}"/>
              </a:ext>
            </a:extLst>
          </p:cNvPr>
          <p:cNvPicPr>
            <a:picLocks/>
          </p:cNvPicPr>
          <p:nvPr/>
        </p:nvPicPr>
        <p:blipFill>
          <a:blip r:embed="rId2"/>
          <a:stretch>
            <a:fillRect/>
          </a:stretch>
        </p:blipFill>
        <p:spPr>
          <a:xfrm>
            <a:off x="4728728" y="1143000"/>
            <a:ext cx="1724025" cy="5343525"/>
          </a:xfrm>
          <a:prstGeom prst="rect">
            <a:avLst/>
          </a:prstGeom>
        </p:spPr>
      </p:pic>
    </p:spTree>
    <p:extLst>
      <p:ext uri="{BB962C8B-B14F-4D97-AF65-F5344CB8AC3E}">
        <p14:creationId xmlns:p14="http://schemas.microsoft.com/office/powerpoint/2010/main" val="23726835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77367-674F-3527-B46A-2C929375A66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C9F7676-98BE-F25F-D3AA-1F805D2E087D}"/>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14E53ADE-9964-B05A-9D58-15001C48BBFF}"/>
              </a:ext>
            </a:extLst>
          </p:cNvPr>
          <p:cNvSpPr txBox="1"/>
          <p:nvPr/>
        </p:nvSpPr>
        <p:spPr>
          <a:xfrm>
            <a:off x="666733" y="102062"/>
            <a:ext cx="4368953" cy="1034129"/>
          </a:xfrm>
          <a:prstGeom prst="rect">
            <a:avLst/>
          </a:prstGeom>
          <a:noFill/>
        </p:spPr>
        <p:txBody>
          <a:bodyPr wrap="none" lIns="73152" tIns="54864" rIns="73152" bIns="54864" anchor="ctr">
            <a:spAutoFit/>
          </a:bodyPr>
          <a:lstStyle/>
          <a:p>
            <a:r>
              <a:rPr lang="en-US" sz="4000" dirty="0">
                <a:solidFill>
                  <a:schemeClr val="bg1"/>
                </a:solidFill>
              </a:rPr>
              <a:t>Data Flow Diagram </a:t>
            </a:r>
            <a:r>
              <a:rPr lang="en-US" sz="6000" dirty="0">
                <a:solidFill>
                  <a:schemeClr val="bg1"/>
                </a:solidFill>
              </a:rPr>
              <a:t> </a:t>
            </a:r>
          </a:p>
        </p:txBody>
      </p:sp>
      <p:pic>
        <p:nvPicPr>
          <p:cNvPr id="5" name="Picture 4">
            <a:extLst>
              <a:ext uri="{FF2B5EF4-FFF2-40B4-BE49-F238E27FC236}">
                <a16:creationId xmlns:a16="http://schemas.microsoft.com/office/drawing/2014/main" id="{B557CB2E-2208-0C31-E419-49EA5984298A}"/>
              </a:ext>
            </a:extLst>
          </p:cNvPr>
          <p:cNvPicPr>
            <a:picLocks/>
          </p:cNvPicPr>
          <p:nvPr/>
        </p:nvPicPr>
        <p:blipFill>
          <a:blip r:embed="rId2"/>
          <a:stretch>
            <a:fillRect/>
          </a:stretch>
        </p:blipFill>
        <p:spPr>
          <a:xfrm>
            <a:off x="1932761" y="1245062"/>
            <a:ext cx="8326171" cy="5143501"/>
          </a:xfrm>
          <a:prstGeom prst="rect">
            <a:avLst/>
          </a:prstGeom>
        </p:spPr>
      </p:pic>
    </p:spTree>
    <p:extLst>
      <p:ext uri="{BB962C8B-B14F-4D97-AF65-F5344CB8AC3E}">
        <p14:creationId xmlns:p14="http://schemas.microsoft.com/office/powerpoint/2010/main" val="5055829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7548A-0E98-49E5-2873-B8AD5081DC3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90A5C5-FB22-F380-3538-5188CC6389F5}"/>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E5CC639-D661-D2A6-53B9-886F534131BB}"/>
              </a:ext>
            </a:extLst>
          </p:cNvPr>
          <p:cNvSpPr txBox="1"/>
          <p:nvPr/>
        </p:nvSpPr>
        <p:spPr>
          <a:xfrm>
            <a:off x="666733" y="0"/>
            <a:ext cx="6128152" cy="1034129"/>
          </a:xfrm>
          <a:prstGeom prst="rect">
            <a:avLst/>
          </a:prstGeom>
          <a:noFill/>
        </p:spPr>
        <p:txBody>
          <a:bodyPr wrap="none" lIns="73152" tIns="54864" rIns="73152" bIns="54864" anchor="ctr">
            <a:spAutoFit/>
          </a:bodyPr>
          <a:lstStyle/>
          <a:p>
            <a:r>
              <a:rPr lang="en-US" sz="4000" dirty="0">
                <a:solidFill>
                  <a:schemeClr val="bg1"/>
                </a:solidFill>
              </a:rPr>
              <a:t>System Architecture Design </a:t>
            </a:r>
            <a:r>
              <a:rPr lang="en-US" sz="6000" dirty="0">
                <a:solidFill>
                  <a:schemeClr val="bg1"/>
                </a:solidFill>
              </a:rPr>
              <a:t> </a:t>
            </a:r>
          </a:p>
        </p:txBody>
      </p:sp>
      <p:pic>
        <p:nvPicPr>
          <p:cNvPr id="4" name="Picture 3">
            <a:extLst>
              <a:ext uri="{FF2B5EF4-FFF2-40B4-BE49-F238E27FC236}">
                <a16:creationId xmlns:a16="http://schemas.microsoft.com/office/drawing/2014/main" id="{9BDA50B7-2A68-F43F-1CC1-5FA71C4D48F0}"/>
              </a:ext>
            </a:extLst>
          </p:cNvPr>
          <p:cNvPicPr>
            <a:picLocks/>
          </p:cNvPicPr>
          <p:nvPr/>
        </p:nvPicPr>
        <p:blipFill>
          <a:blip r:embed="rId2"/>
          <a:stretch>
            <a:fillRect/>
          </a:stretch>
        </p:blipFill>
        <p:spPr>
          <a:xfrm>
            <a:off x="895045" y="1143000"/>
            <a:ext cx="10496855" cy="5429250"/>
          </a:xfrm>
          <a:prstGeom prst="rect">
            <a:avLst/>
          </a:prstGeom>
        </p:spPr>
      </p:pic>
    </p:spTree>
    <p:extLst>
      <p:ext uri="{BB962C8B-B14F-4D97-AF65-F5344CB8AC3E}">
        <p14:creationId xmlns:p14="http://schemas.microsoft.com/office/powerpoint/2010/main" val="852533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6F1F2C8-798B-4CCE-A851-94AFAF350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70908" y="1220919"/>
            <a:ext cx="5425781" cy="2387600"/>
          </a:xfrm>
        </p:spPr>
        <p:txBody>
          <a:bodyPr vert="horz" lIns="91440" tIns="45720" rIns="91440" bIns="45720" rtlCol="0" anchor="b">
            <a:normAutofit/>
          </a:bodyPr>
          <a:lstStyle/>
          <a:p>
            <a:pPr algn="l" defTabSz="914400">
              <a:lnSpc>
                <a:spcPct val="90000"/>
              </a:lnSpc>
            </a:pPr>
            <a:r>
              <a:rPr lang="en-US" sz="6000" b="1" kern="1200" dirty="0">
                <a:solidFill>
                  <a:schemeClr val="tx1"/>
                </a:solidFill>
                <a:latin typeface="+mj-lt"/>
                <a:ea typeface="+mj-ea"/>
                <a:cs typeface="+mj-cs"/>
              </a:rPr>
              <a:t>Proto type</a:t>
            </a:r>
          </a:p>
        </p:txBody>
      </p:sp>
      <p:sp>
        <p:nvSpPr>
          <p:cNvPr id="9" name="Freeform: Shape 8">
            <a:extLst>
              <a:ext uri="{FF2B5EF4-FFF2-40B4-BE49-F238E27FC236}">
                <a16:creationId xmlns:a16="http://schemas.microsoft.com/office/drawing/2014/main" id="{755E9CD0-04B0-4A3C-B291-AD913379C7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Oval 10">
            <a:extLst>
              <a:ext uri="{FF2B5EF4-FFF2-40B4-BE49-F238E27FC236}">
                <a16:creationId xmlns:a16="http://schemas.microsoft.com/office/drawing/2014/main" id="{1DD8BF3B-6066-418C-8D1A-75C5E396FC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Block Arc 12">
            <a:extLst>
              <a:ext uri="{FF2B5EF4-FFF2-40B4-BE49-F238E27FC236}">
                <a16:creationId xmlns:a16="http://schemas.microsoft.com/office/drawing/2014/main" id="{80BC66F9-7A74-4286-AD22-1174052CC2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02394"/>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Freeform: Shape 14">
            <a:extLst>
              <a:ext uri="{FF2B5EF4-FFF2-40B4-BE49-F238E27FC236}">
                <a16:creationId xmlns:a16="http://schemas.microsoft.com/office/drawing/2014/main" id="{D8142CC3-2B5C-48E6-9DF0-6C8ACBAF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17" name="Straight Connector 16">
            <a:extLst>
              <a:ext uri="{FF2B5EF4-FFF2-40B4-BE49-F238E27FC236}">
                <a16:creationId xmlns:a16="http://schemas.microsoft.com/office/drawing/2014/main" id="{7B2D303B-3DD0-4319-9EAD-361847FEC7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19" name="Freeform: Shape 18">
            <a:extLst>
              <a:ext uri="{FF2B5EF4-FFF2-40B4-BE49-F238E27FC236}">
                <a16:creationId xmlns:a16="http://schemas.microsoft.com/office/drawing/2014/main" id="{46A89C79-8EF3-4AF9-B3D9-59A883F41C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1" name="Arc 20">
            <a:extLst>
              <a:ext uri="{FF2B5EF4-FFF2-40B4-BE49-F238E27FC236}">
                <a16:creationId xmlns:a16="http://schemas.microsoft.com/office/drawing/2014/main" id="{EFE5CE34-4543-42E5-B82C-1F3D12422C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72AF41FE-63D7-4695-81D2-66D2510E44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B0B18F-AF76-A454-7799-39DD5F34DE5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7A225631-6CB6-C8ED-A149-5D2C495EB0E3}"/>
              </a:ext>
            </a:extLst>
          </p:cNvPr>
          <p:cNvPicPr>
            <a:picLocks noChangeAspect="1"/>
          </p:cNvPicPr>
          <p:nvPr/>
        </p:nvPicPr>
        <p:blipFill>
          <a:blip r:embed="rId2"/>
          <a:stretch>
            <a:fillRect/>
          </a:stretch>
        </p:blipFill>
        <p:spPr>
          <a:xfrm>
            <a:off x="643467" y="675470"/>
            <a:ext cx="10905066" cy="5507059"/>
          </a:xfrm>
          <a:prstGeom prst="rect">
            <a:avLst/>
          </a:prstGeom>
        </p:spPr>
      </p:pic>
    </p:spTree>
    <p:extLst>
      <p:ext uri="{BB962C8B-B14F-4D97-AF65-F5344CB8AC3E}">
        <p14:creationId xmlns:p14="http://schemas.microsoft.com/office/powerpoint/2010/main" val="210273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E6F2F-1541-A9FA-027C-D3C6D6A2BBE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A616E65-436E-3CB0-24EF-C0ACA756361D}"/>
              </a:ext>
            </a:extLst>
          </p:cNvPr>
          <p:cNvPicPr>
            <a:picLocks noChangeAspect="1"/>
          </p:cNvPicPr>
          <p:nvPr/>
        </p:nvPicPr>
        <p:blipFill>
          <a:blip r:embed="rId2"/>
          <a:stretch>
            <a:fillRect/>
          </a:stretch>
        </p:blipFill>
        <p:spPr>
          <a:xfrm>
            <a:off x="2712265" y="0"/>
            <a:ext cx="6393635" cy="10218566"/>
          </a:xfrm>
          <a:prstGeom prst="rect">
            <a:avLst/>
          </a:prstGeom>
        </p:spPr>
      </p:pic>
    </p:spTree>
    <p:extLst>
      <p:ext uri="{BB962C8B-B14F-4D97-AF65-F5344CB8AC3E}">
        <p14:creationId xmlns:p14="http://schemas.microsoft.com/office/powerpoint/2010/main" val="38679790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8D05C-B4AA-C892-6220-E1BBEC33140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51DE4F1-9D5B-DBC5-E642-A99C07661277}"/>
              </a:ext>
            </a:extLst>
          </p:cNvPr>
          <p:cNvPicPr>
            <a:picLocks noChangeAspect="1"/>
          </p:cNvPicPr>
          <p:nvPr/>
        </p:nvPicPr>
        <p:blipFill>
          <a:blip r:embed="rId2"/>
          <a:stretch>
            <a:fillRect/>
          </a:stretch>
        </p:blipFill>
        <p:spPr>
          <a:xfrm>
            <a:off x="0" y="0"/>
            <a:ext cx="6847959" cy="6858000"/>
          </a:xfrm>
          <a:prstGeom prst="rect">
            <a:avLst/>
          </a:prstGeom>
        </p:spPr>
      </p:pic>
      <p:pic>
        <p:nvPicPr>
          <p:cNvPr id="5" name="Picture 4">
            <a:extLst>
              <a:ext uri="{FF2B5EF4-FFF2-40B4-BE49-F238E27FC236}">
                <a16:creationId xmlns:a16="http://schemas.microsoft.com/office/drawing/2014/main" id="{6C8C3BBD-129A-CE40-B641-F68B27D0D951}"/>
              </a:ext>
            </a:extLst>
          </p:cNvPr>
          <p:cNvPicPr>
            <a:picLocks noChangeAspect="1"/>
          </p:cNvPicPr>
          <p:nvPr/>
        </p:nvPicPr>
        <p:blipFill>
          <a:blip r:embed="rId3"/>
          <a:stretch>
            <a:fillRect/>
          </a:stretch>
        </p:blipFill>
        <p:spPr>
          <a:xfrm>
            <a:off x="6847959" y="895350"/>
            <a:ext cx="5453651" cy="5067300"/>
          </a:xfrm>
          <a:prstGeom prst="rect">
            <a:avLst/>
          </a:prstGeom>
        </p:spPr>
      </p:pic>
    </p:spTree>
    <p:extLst>
      <p:ext uri="{BB962C8B-B14F-4D97-AF65-F5344CB8AC3E}">
        <p14:creationId xmlns:p14="http://schemas.microsoft.com/office/powerpoint/2010/main" val="25862263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0C204-B585-52FF-AC4F-FCAED4C64E0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A5121D4-40EB-EE41-8FD8-0CC6E388EC8D}"/>
              </a:ext>
            </a:extLst>
          </p:cNvPr>
          <p:cNvPicPr>
            <a:picLocks noChangeAspect="1"/>
          </p:cNvPicPr>
          <p:nvPr/>
        </p:nvPicPr>
        <p:blipFill>
          <a:blip r:embed="rId2"/>
          <a:stretch>
            <a:fillRect/>
          </a:stretch>
        </p:blipFill>
        <p:spPr>
          <a:xfrm>
            <a:off x="247651" y="0"/>
            <a:ext cx="5996972" cy="16227878"/>
          </a:xfrm>
          <a:prstGeom prst="rect">
            <a:avLst/>
          </a:prstGeom>
        </p:spPr>
      </p:pic>
      <p:pic>
        <p:nvPicPr>
          <p:cNvPr id="4" name="Picture 3">
            <a:extLst>
              <a:ext uri="{FF2B5EF4-FFF2-40B4-BE49-F238E27FC236}">
                <a16:creationId xmlns:a16="http://schemas.microsoft.com/office/drawing/2014/main" id="{6CBFD3BC-10CF-F759-8400-22E84EC2AB23}"/>
              </a:ext>
            </a:extLst>
          </p:cNvPr>
          <p:cNvPicPr>
            <a:picLocks noChangeAspect="1"/>
          </p:cNvPicPr>
          <p:nvPr/>
        </p:nvPicPr>
        <p:blipFill>
          <a:blip r:embed="rId2"/>
          <a:stretch>
            <a:fillRect/>
          </a:stretch>
        </p:blipFill>
        <p:spPr>
          <a:xfrm>
            <a:off x="6682773" y="-6496050"/>
            <a:ext cx="5047594" cy="13658850"/>
          </a:xfrm>
          <a:prstGeom prst="rect">
            <a:avLst/>
          </a:prstGeom>
        </p:spPr>
      </p:pic>
    </p:spTree>
    <p:extLst>
      <p:ext uri="{BB962C8B-B14F-4D97-AF65-F5344CB8AC3E}">
        <p14:creationId xmlns:p14="http://schemas.microsoft.com/office/powerpoint/2010/main" val="22316125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4D7E7BE-3DA7-433F-E6FA-E2CEAD59B01F}"/>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10" name="Freeform: Shape 9">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Freeform: Shape 12">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FA3071-432A-EB33-DE51-7B334A9634AC}"/>
              </a:ext>
            </a:extLst>
          </p:cNvPr>
          <p:cNvSpPr>
            <a:spLocks noGrp="1"/>
          </p:cNvSpPr>
          <p:nvPr>
            <p:ph type="title"/>
          </p:nvPr>
        </p:nvSpPr>
        <p:spPr>
          <a:xfrm>
            <a:off x="2242409" y="895483"/>
            <a:ext cx="5786232" cy="3011190"/>
          </a:xfrm>
        </p:spPr>
        <p:txBody>
          <a:bodyPr vert="horz" lIns="91440" tIns="45720" rIns="91440" bIns="45720" rtlCol="0" anchor="b">
            <a:normAutofit/>
          </a:bodyPr>
          <a:lstStyle/>
          <a:p>
            <a:pPr defTabSz="914400">
              <a:lnSpc>
                <a:spcPct val="90000"/>
              </a:lnSpc>
            </a:pPr>
            <a:r>
              <a:rPr lang="en-US" sz="5400" b="1" kern="1200">
                <a:solidFill>
                  <a:schemeClr val="bg1"/>
                </a:solidFill>
                <a:latin typeface="+mj-lt"/>
                <a:ea typeface="+mj-ea"/>
                <a:cs typeface="+mj-cs"/>
              </a:rPr>
              <a:t>Thank You!</a:t>
            </a:r>
          </a:p>
        </p:txBody>
      </p:sp>
      <p:sp>
        <p:nvSpPr>
          <p:cNvPr id="19"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1"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3"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4" name="Freeform: Shape 23">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30" name="Oval 29">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2" name="Oval 31">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4" name="Freeform: Shape 33">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36" name="Freeform: Shape 35">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Tree>
    <p:extLst>
      <p:ext uri="{BB962C8B-B14F-4D97-AF65-F5344CB8AC3E}">
        <p14:creationId xmlns:p14="http://schemas.microsoft.com/office/powerpoint/2010/main" val="30622301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34AEB5D-4457-4F37-93E9-1D0CBBBD67CB}">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362</TotalTime>
  <Words>1092</Words>
  <Application>Microsoft Office PowerPoint</Application>
  <PresentationFormat>Widescreen</PresentationFormat>
  <Paragraphs>156</Paragraphs>
  <Slides>23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Proto type</vt:lpstr>
      <vt:lpstr>PowerPoint Presentation</vt:lpstr>
      <vt:lpstr>PowerPoint Presentation</vt:lpstr>
      <vt:lpstr>PowerPoint Presentation</vt:lpstr>
      <vt:lpstr>PowerPoint Presentation</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Jem Carlo Austria</cp:lastModifiedBy>
  <cp:revision>11</cp:revision>
  <dcterms:created xsi:type="dcterms:W3CDTF">2013-01-27T09:14:16Z</dcterms:created>
  <dcterms:modified xsi:type="dcterms:W3CDTF">2026-03-08T03:09:36Z</dcterms:modified>
  <cp:category/>
</cp:coreProperties>
</file>