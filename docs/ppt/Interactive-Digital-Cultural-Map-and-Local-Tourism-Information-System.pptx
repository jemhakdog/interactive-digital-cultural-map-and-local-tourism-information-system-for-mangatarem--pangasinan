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94" r:id="rId6"/>
    <p:sldId id="259" r:id="rId7"/>
    <p:sldId id="295" r:id="rId8"/>
    <p:sldId id="260" r:id="rId9"/>
    <p:sldId id="273" r:id="rId10"/>
    <p:sldId id="296" r:id="rId11"/>
    <p:sldId id="261" r:id="rId12"/>
    <p:sldId id="262" r:id="rId13"/>
    <p:sldId id="263" r:id="rId14"/>
    <p:sldId id="297" r:id="rId15"/>
    <p:sldId id="264" r:id="rId16"/>
    <p:sldId id="270" r:id="rId17"/>
    <p:sldId id="271" r:id="rId18"/>
    <p:sldId id="265" r:id="rId19"/>
    <p:sldId id="269" r:id="rId20"/>
    <p:sldId id="277" r:id="rId21"/>
    <p:sldId id="291" r:id="rId22"/>
    <p:sldId id="292" r:id="rId23"/>
    <p:sldId id="293" r:id="rId24"/>
    <p:sldId id="280" r:id="rId25"/>
    <p:sldId id="290" r:id="rId26"/>
    <p:sldId id="276" r:id="rId27"/>
    <p:sldId id="281" r:id="rId28"/>
    <p:sldId id="283" r:id="rId29"/>
    <p:sldId id="284" r:id="rId30"/>
    <p:sldId id="285" r:id="rId31"/>
    <p:sldId id="286" r:id="rId32"/>
    <p:sldId id="289"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9" userDrawn="1">
          <p15:clr>
            <a:srgbClr val="A4A3A4"/>
          </p15:clr>
        </p15:guide>
        <p15:guide id="2" pos="28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A69A"/>
    <a:srgbClr val="0089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127" autoAdjust="0"/>
  </p:normalViewPr>
  <p:slideViewPr>
    <p:cSldViewPr snapToGrid="0" snapToObjects="1" showGuides="1">
      <p:cViewPr varScale="1">
        <p:scale>
          <a:sx n="61" d="100"/>
          <a:sy n="61" d="100"/>
        </p:scale>
        <p:origin x="84" y="-522"/>
      </p:cViewPr>
      <p:guideLst>
        <p:guide orient="horz" pos="2149"/>
        <p:guide pos="281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jpe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3" Type="http://schemas.openxmlformats.org/officeDocument/2006/relationships/slideLayout" Target="../slideLayouts/slideLayout7.xml"/><Relationship Id="rId12" Type="http://schemas.openxmlformats.org/officeDocument/2006/relationships/image" Target="../media/image18.png"/><Relationship Id="rId11" Type="http://schemas.openxmlformats.org/officeDocument/2006/relationships/image" Target="../media/image17.png"/><Relationship Id="rId10" Type="http://schemas.openxmlformats.org/officeDocument/2006/relationships/image" Target="../media/image16.pn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image" Target="../media/image19.png"/></Relationships>
</file>

<file path=ppt/slides/_rels/slide4.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2" Type="http://schemas.openxmlformats.org/officeDocument/2006/relationships/slideLayout" Target="../slideLayouts/slideLayout7.xml"/><Relationship Id="rId11" Type="http://schemas.openxmlformats.org/officeDocument/2006/relationships/image" Target="../media/image32.png"/><Relationship Id="rId10" Type="http://schemas.openxmlformats.org/officeDocument/2006/relationships/image" Target="../media/image31.png"/><Relationship Id="rId1" Type="http://schemas.openxmlformats.org/officeDocument/2006/relationships/image" Target="../media/image22.png"/></Relationships>
</file>

<file path=ppt/slides/_rels/slide5.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2" Type="http://schemas.openxmlformats.org/officeDocument/2006/relationships/slideLayout" Target="../slideLayouts/slideLayout7.xml"/><Relationship Id="rId11" Type="http://schemas.openxmlformats.org/officeDocument/2006/relationships/image" Target="../media/image32.png"/><Relationship Id="rId10" Type="http://schemas.openxmlformats.org/officeDocument/2006/relationships/image" Target="../media/image31.png"/><Relationship Id="rId1" Type="http://schemas.openxmlformats.org/officeDocument/2006/relationships/image" Target="../media/image22.png"/></Relationships>
</file>

<file path=ppt/slides/_rels/slide6.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2" Type="http://schemas.openxmlformats.org/officeDocument/2006/relationships/slideLayout" Target="../slideLayouts/slideLayout7.xml"/><Relationship Id="rId11" Type="http://schemas.openxmlformats.org/officeDocument/2006/relationships/image" Target="../media/image32.png"/><Relationship Id="rId10" Type="http://schemas.openxmlformats.org/officeDocument/2006/relationships/image" Target="../media/image31.png"/><Relationship Id="rId1" Type="http://schemas.openxmlformats.org/officeDocument/2006/relationships/image" Target="../media/image22.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0.png"/><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33.png"/><Relationship Id="rId1" Type="http://schemas.openxmlformats.org/officeDocument/2006/relationships/image" Target="../media/image4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41.png"/></Relationships>
</file>

<file path=ppt/slides/_rels/slide10.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png"/><Relationship Id="rId7" Type="http://schemas.openxmlformats.org/officeDocument/2006/relationships/image" Target="../media/image48.png"/><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7" Type="http://schemas.openxmlformats.org/officeDocument/2006/relationships/slideLayout" Target="../slideLayouts/slideLayout7.xml"/><Relationship Id="rId16" Type="http://schemas.openxmlformats.org/officeDocument/2006/relationships/image" Target="../media/image57.png"/><Relationship Id="rId15" Type="http://schemas.openxmlformats.org/officeDocument/2006/relationships/image" Target="../media/image56.png"/><Relationship Id="rId14" Type="http://schemas.openxmlformats.org/officeDocument/2006/relationships/image" Target="../media/image55.png"/><Relationship Id="rId13" Type="http://schemas.openxmlformats.org/officeDocument/2006/relationships/image" Target="../media/image54.png"/><Relationship Id="rId12" Type="http://schemas.openxmlformats.org/officeDocument/2006/relationships/image" Target="../media/image53.png"/><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9.png"/><Relationship Id="rId1" Type="http://schemas.openxmlformats.org/officeDocument/2006/relationships/image" Target="../media/image58.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2.png"/><Relationship Id="rId3" Type="http://schemas.openxmlformats.org/officeDocument/2006/relationships/image" Target="../media/image60.png"/><Relationship Id="rId2" Type="http://schemas.openxmlformats.org/officeDocument/2006/relationships/image" Target="../media/image54.png"/><Relationship Id="rId1" Type="http://schemas.openxmlformats.org/officeDocument/2006/relationships/image" Target="../media/image5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7.png"/><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68.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72.pn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82.jpeg"/><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image" Target="../media/image7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2.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4.png"/><Relationship Id="rId1" Type="http://schemas.openxmlformats.org/officeDocument/2006/relationships/image" Target="../media/image93.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a:off x="305" y="13447"/>
            <a:ext cx="12191695" cy="6858000"/>
          </a:xfrm>
          <a:prstGeom prst="rect">
            <a:avLst/>
          </a:prstGeom>
          <a:gradFill rotWithShape="1">
            <a:gsLst>
              <a:gs pos="0">
                <a:srgbClr val="000000">
                  <a:alpha val="60000"/>
                </a:srgbClr>
              </a:gs>
              <a:gs pos="100000">
                <a:srgbClr val="000000">
                  <a:alpha val="60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 name="TextBox 2"/>
          <p:cNvSpPr txBox="1"/>
          <p:nvPr/>
        </p:nvSpPr>
        <p:spPr>
          <a:xfrm>
            <a:off x="666733" y="1650440"/>
            <a:ext cx="6240234" cy="2223622"/>
          </a:xfrm>
          <a:prstGeom prst="rect">
            <a:avLst/>
          </a:prstGeom>
          <a:noFill/>
        </p:spPr>
        <p:txBody>
          <a:bodyPr wrap="none" lIns="73152" tIns="54864" rIns="73152" bIns="54864" anchor="ctr">
            <a:spAutoFit/>
          </a:bodyPr>
          <a:lstStyle/>
          <a:p>
            <a:pPr algn="l">
              <a:lnSpc>
                <a:spcPts val="4680"/>
              </a:lnSpc>
              <a:spcBef>
                <a:spcPts val="0"/>
              </a:spcBef>
              <a:spcAft>
                <a:spcPts val="1300"/>
              </a:spcAft>
            </a:pPr>
            <a:r>
              <a:rPr sz="3600" b="1" dirty="0">
                <a:solidFill>
                  <a:srgbClr val="FFFFFF"/>
                </a:solidFill>
              </a:rPr>
              <a:t>Interactive Digital Cultural Map </a:t>
            </a:r>
            <a:endParaRPr lang="en-US" sz="3600" b="1" dirty="0">
              <a:solidFill>
                <a:srgbClr val="FFFFFF"/>
              </a:solidFill>
            </a:endParaRPr>
          </a:p>
          <a:p>
            <a:pPr algn="l">
              <a:lnSpc>
                <a:spcPts val="4680"/>
              </a:lnSpc>
              <a:spcBef>
                <a:spcPts val="0"/>
              </a:spcBef>
              <a:spcAft>
                <a:spcPts val="1300"/>
              </a:spcAft>
            </a:pPr>
            <a:r>
              <a:rPr sz="3600" b="1" dirty="0">
                <a:solidFill>
                  <a:srgbClr val="FFFFFF"/>
                </a:solidFill>
              </a:rPr>
              <a:t>and Local Tourism Information </a:t>
            </a:r>
            <a:endParaRPr lang="en-US" sz="3600" b="1" dirty="0">
              <a:solidFill>
                <a:srgbClr val="FFFFFF"/>
              </a:solidFill>
            </a:endParaRPr>
          </a:p>
          <a:p>
            <a:pPr algn="l">
              <a:lnSpc>
                <a:spcPts val="4680"/>
              </a:lnSpc>
              <a:spcBef>
                <a:spcPts val="0"/>
              </a:spcBef>
              <a:spcAft>
                <a:spcPts val="1300"/>
              </a:spcAft>
            </a:pPr>
            <a:r>
              <a:rPr sz="3600" b="1" dirty="0">
                <a:solidFill>
                  <a:srgbClr val="FFFFFF"/>
                </a:solidFill>
              </a:rPr>
              <a:t>System</a:t>
            </a:r>
            <a:endParaRPr sz="3600" b="1" dirty="0">
              <a:solidFill>
                <a:srgbClr val="FFFFFF"/>
              </a:solidFill>
            </a:endParaRPr>
          </a:p>
        </p:txBody>
      </p:sp>
      <p:sp>
        <p:nvSpPr>
          <p:cNvPr id="4" name="TextBox 3"/>
          <p:cNvSpPr txBox="1"/>
          <p:nvPr/>
        </p:nvSpPr>
        <p:spPr>
          <a:xfrm>
            <a:off x="666733" y="4264901"/>
            <a:ext cx="5434693" cy="357021"/>
          </a:xfrm>
          <a:prstGeom prst="rect">
            <a:avLst/>
          </a:prstGeom>
          <a:noFill/>
        </p:spPr>
        <p:txBody>
          <a:bodyPr wrap="none" lIns="73152" tIns="54864" rIns="73152" bIns="54864" anchor="ctr">
            <a:spAutoFit/>
          </a:bodyPr>
          <a:lstStyle/>
          <a:p>
            <a:pPr algn="l">
              <a:spcBef>
                <a:spcPts val="0"/>
              </a:spcBef>
              <a:spcAft>
                <a:spcPts val="2600"/>
              </a:spcAft>
            </a:pPr>
            <a:r>
              <a:rPr sz="1600" b="0" dirty="0">
                <a:solidFill>
                  <a:srgbClr val="E0F2F1"/>
                </a:solidFill>
              </a:rPr>
              <a:t>A comprehensive solution for </a:t>
            </a:r>
            <a:r>
              <a:rPr sz="1600" b="0" dirty="0" err="1">
                <a:solidFill>
                  <a:srgbClr val="E0F2F1"/>
                </a:solidFill>
              </a:rPr>
              <a:t>Mangatarem</a:t>
            </a:r>
            <a:r>
              <a:rPr sz="1600" b="0" dirty="0">
                <a:solidFill>
                  <a:srgbClr val="E0F2F1"/>
                </a:solidFill>
              </a:rPr>
              <a:t>, Pangasinan tourism</a:t>
            </a:r>
            <a:endParaRPr sz="1600" b="0" dirty="0">
              <a:solidFill>
                <a:srgbClr val="E0F2F1"/>
              </a:solidFill>
            </a:endParaRPr>
          </a:p>
        </p:txBody>
      </p:sp>
      <p:sp>
        <p:nvSpPr>
          <p:cNvPr id="5" name="TextBox 4"/>
          <p:cNvSpPr txBox="1"/>
          <p:nvPr/>
        </p:nvSpPr>
        <p:spPr>
          <a:xfrm>
            <a:off x="666733" y="4864978"/>
            <a:ext cx="6535251" cy="357021"/>
          </a:xfrm>
          <a:prstGeom prst="rect">
            <a:avLst/>
          </a:prstGeom>
          <a:noFill/>
        </p:spPr>
        <p:txBody>
          <a:bodyPr wrap="none" lIns="73152" tIns="54864" rIns="73152" bIns="54864" anchor="ctr">
            <a:spAutoFit/>
          </a:bodyPr>
          <a:lstStyle/>
          <a:p>
            <a:pPr algn="l">
              <a:spcBef>
                <a:spcPts val="0"/>
              </a:spcBef>
              <a:spcAft>
                <a:spcPts val="650"/>
              </a:spcAft>
            </a:pPr>
            <a:r>
              <a:rPr sz="1600" b="0" dirty="0">
                <a:solidFill>
                  <a:srgbClr val="E0F2F1"/>
                </a:solidFill>
              </a:rPr>
              <a:t>Team </a:t>
            </a:r>
            <a:r>
              <a:rPr sz="1600" b="0" dirty="0" err="1">
                <a:solidFill>
                  <a:srgbClr val="E0F2F1"/>
                </a:solidFill>
              </a:rPr>
              <a:t>Members:</a:t>
            </a:r>
            <a:r>
              <a:rPr lang="en-US" sz="1600" b="0" dirty="0" err="1">
                <a:solidFill>
                  <a:srgbClr val="E0F2F1"/>
                </a:solidFill>
              </a:rPr>
              <a:t>Jem</a:t>
            </a:r>
            <a:r>
              <a:rPr lang="en-US" sz="1600" b="0" dirty="0">
                <a:solidFill>
                  <a:srgbClr val="E0F2F1"/>
                </a:solidFill>
              </a:rPr>
              <a:t> Carlo Austria, Maryjane </a:t>
            </a:r>
            <a:r>
              <a:rPr lang="en-US" sz="1600" b="0" dirty="0" err="1">
                <a:solidFill>
                  <a:srgbClr val="E0F2F1"/>
                </a:solidFill>
              </a:rPr>
              <a:t>Dalas,Rea</a:t>
            </a:r>
            <a:r>
              <a:rPr lang="en-US" sz="1600" b="0" dirty="0">
                <a:solidFill>
                  <a:srgbClr val="E0F2F1"/>
                </a:solidFill>
              </a:rPr>
              <a:t> Solis , Joy De Guzman</a:t>
            </a:r>
            <a:endParaRPr sz="1600" b="0" dirty="0">
              <a:solidFill>
                <a:srgbClr val="E0F2F1"/>
              </a:solidFill>
            </a:endParaRPr>
          </a:p>
        </p:txBody>
      </p:sp>
      <p:sp>
        <p:nvSpPr>
          <p:cNvPr id="6" name="TextBox 5"/>
          <p:cNvSpPr txBox="1"/>
          <p:nvPr/>
        </p:nvSpPr>
        <p:spPr>
          <a:xfrm>
            <a:off x="666733" y="5188828"/>
            <a:ext cx="910186" cy="357021"/>
          </a:xfrm>
          <a:prstGeom prst="rect">
            <a:avLst/>
          </a:prstGeom>
          <a:noFill/>
        </p:spPr>
        <p:txBody>
          <a:bodyPr wrap="none" lIns="73152" tIns="54864" rIns="73152" bIns="54864" anchor="ctr">
            <a:spAutoFit/>
          </a:bodyPr>
          <a:lstStyle/>
          <a:p>
            <a:pPr algn="l">
              <a:spcBef>
                <a:spcPts val="0"/>
              </a:spcBef>
              <a:spcAft>
                <a:spcPts val="0"/>
              </a:spcAft>
            </a:pPr>
            <a:r>
              <a:rPr lang="en-US" sz="1600" b="0" dirty="0">
                <a:solidFill>
                  <a:srgbClr val="B2DFDB"/>
                </a:solidFill>
              </a:rPr>
              <a:t>Team: B3</a:t>
            </a:r>
            <a:endParaRPr sz="1600" b="0" dirty="0">
              <a:solidFill>
                <a:srgbClr val="B2DFDB"/>
              </a:solidFill>
            </a:endParaRPr>
          </a:p>
        </p:txBody>
      </p:sp>
      <p:sp>
        <p:nvSpPr>
          <p:cNvPr id="7" name="Rounded Rectangle 6"/>
          <p:cNvSpPr/>
          <p:nvPr/>
        </p:nvSpPr>
        <p:spPr>
          <a:xfrm>
            <a:off x="7505512" y="2238375"/>
            <a:ext cx="4019449" cy="2381250"/>
          </a:xfrm>
          <a:prstGeom prst="roundRect">
            <a:avLst>
              <a:gd name="adj" fmla="val 8000"/>
            </a:avLst>
          </a:prstGeom>
          <a:solidFill>
            <a:srgbClr val="26A69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pic>
        <p:nvPicPr>
          <p:cNvPr id="8" name="Picture 7" descr="image.png"/>
          <p:cNvPicPr>
            <a:picLocks noChangeAspect="1"/>
          </p:cNvPicPr>
          <p:nvPr/>
        </p:nvPicPr>
        <p:blipFill>
          <a:blip r:embed="rId2"/>
          <a:stretch>
            <a:fillRect/>
          </a:stretch>
        </p:blipFill>
        <p:spPr>
          <a:xfrm>
            <a:off x="7743631" y="2502217"/>
            <a:ext cx="228594" cy="177164"/>
          </a:xfrm>
          <a:prstGeom prst="rect">
            <a:avLst/>
          </a:prstGeom>
        </p:spPr>
      </p:pic>
      <p:sp>
        <p:nvSpPr>
          <p:cNvPr id="9" name="TextBox 8"/>
          <p:cNvSpPr txBox="1"/>
          <p:nvPr/>
        </p:nvSpPr>
        <p:spPr>
          <a:xfrm>
            <a:off x="8115097" y="2407526"/>
            <a:ext cx="2580194" cy="357021"/>
          </a:xfrm>
          <a:prstGeom prst="rect">
            <a:avLst/>
          </a:prstGeom>
          <a:noFill/>
        </p:spPr>
        <p:txBody>
          <a:bodyPr wrap="none" lIns="73152" tIns="54864" rIns="73152" bIns="54864" anchor="ctr">
            <a:spAutoFit/>
          </a:bodyPr>
          <a:lstStyle/>
          <a:p>
            <a:pPr algn="l">
              <a:spcBef>
                <a:spcPts val="0"/>
              </a:spcBef>
              <a:spcAft>
                <a:spcPts val="0"/>
              </a:spcAft>
            </a:pPr>
            <a:r>
              <a:rPr sz="1600" b="1">
                <a:solidFill>
                  <a:srgbClr val="FFFFFF"/>
                </a:solidFill>
              </a:rPr>
              <a:t>Interactive Cultural Mapping</a:t>
            </a:r>
            <a:endParaRPr sz="1600" b="1">
              <a:solidFill>
                <a:srgbClr val="FFFFFF"/>
              </a:solidFill>
            </a:endParaRPr>
          </a:p>
        </p:txBody>
      </p:sp>
      <p:pic>
        <p:nvPicPr>
          <p:cNvPr id="10" name="Picture 9" descr="image.png"/>
          <p:cNvPicPr>
            <a:picLocks noChangeAspect="1"/>
          </p:cNvPicPr>
          <p:nvPr/>
        </p:nvPicPr>
        <p:blipFill>
          <a:blip r:embed="rId3"/>
          <a:stretch>
            <a:fillRect/>
          </a:stretch>
        </p:blipFill>
        <p:spPr>
          <a:xfrm>
            <a:off x="7743631" y="2912745"/>
            <a:ext cx="228594" cy="194309"/>
          </a:xfrm>
          <a:prstGeom prst="rect">
            <a:avLst/>
          </a:prstGeom>
        </p:spPr>
      </p:pic>
      <p:sp>
        <p:nvSpPr>
          <p:cNvPr id="11" name="TextBox 10"/>
          <p:cNvSpPr txBox="1"/>
          <p:nvPr/>
        </p:nvSpPr>
        <p:spPr>
          <a:xfrm>
            <a:off x="8115097" y="2826627"/>
            <a:ext cx="2444515" cy="357021"/>
          </a:xfrm>
          <a:prstGeom prst="rect">
            <a:avLst/>
          </a:prstGeom>
          <a:noFill/>
        </p:spPr>
        <p:txBody>
          <a:bodyPr wrap="none" lIns="73152" tIns="54864" rIns="73152" bIns="54864" anchor="ctr">
            <a:spAutoFit/>
          </a:bodyPr>
          <a:lstStyle/>
          <a:p>
            <a:pPr algn="l">
              <a:spcBef>
                <a:spcPts val="0"/>
              </a:spcBef>
              <a:spcAft>
                <a:spcPts val="0"/>
              </a:spcAft>
            </a:pPr>
            <a:r>
              <a:rPr sz="1600" b="1">
                <a:solidFill>
                  <a:srgbClr val="FFFFFF"/>
                </a:solidFill>
              </a:rPr>
              <a:t>Tourism Information Portal</a:t>
            </a:r>
            <a:endParaRPr sz="1600" b="1">
              <a:solidFill>
                <a:srgbClr val="FFFFFF"/>
              </a:solidFill>
            </a:endParaRPr>
          </a:p>
        </p:txBody>
      </p:sp>
      <p:pic>
        <p:nvPicPr>
          <p:cNvPr id="12" name="Picture 11" descr="image.png"/>
          <p:cNvPicPr>
            <a:picLocks noChangeAspect="1"/>
          </p:cNvPicPr>
          <p:nvPr/>
        </p:nvPicPr>
        <p:blipFill>
          <a:blip r:embed="rId4"/>
          <a:stretch>
            <a:fillRect/>
          </a:stretch>
        </p:blipFill>
        <p:spPr>
          <a:xfrm>
            <a:off x="7743631" y="3330416"/>
            <a:ext cx="228594" cy="197167"/>
          </a:xfrm>
          <a:prstGeom prst="rect">
            <a:avLst/>
          </a:prstGeom>
        </p:spPr>
      </p:pic>
      <p:sp>
        <p:nvSpPr>
          <p:cNvPr id="13" name="TextBox 12"/>
          <p:cNvSpPr txBox="1"/>
          <p:nvPr/>
        </p:nvSpPr>
        <p:spPr>
          <a:xfrm>
            <a:off x="8115097" y="3245727"/>
            <a:ext cx="2415918" cy="357021"/>
          </a:xfrm>
          <a:prstGeom prst="rect">
            <a:avLst/>
          </a:prstGeom>
          <a:noFill/>
        </p:spPr>
        <p:txBody>
          <a:bodyPr wrap="none" lIns="73152" tIns="54864" rIns="73152" bIns="54864" anchor="ctr">
            <a:spAutoFit/>
          </a:bodyPr>
          <a:lstStyle/>
          <a:p>
            <a:pPr algn="l">
              <a:spcBef>
                <a:spcPts val="0"/>
              </a:spcBef>
              <a:spcAft>
                <a:spcPts val="0"/>
              </a:spcAft>
            </a:pPr>
            <a:r>
              <a:rPr sz="1600" b="1">
                <a:solidFill>
                  <a:srgbClr val="FFFFFF"/>
                </a:solidFill>
              </a:rPr>
              <a:t>Events &amp; Festival Directory</a:t>
            </a:r>
            <a:endParaRPr sz="1600" b="1">
              <a:solidFill>
                <a:srgbClr val="FFFFFF"/>
              </a:solidFill>
            </a:endParaRPr>
          </a:p>
        </p:txBody>
      </p:sp>
      <p:pic>
        <p:nvPicPr>
          <p:cNvPr id="14" name="Picture 13" descr="image.png"/>
          <p:cNvPicPr>
            <a:picLocks noChangeAspect="1"/>
          </p:cNvPicPr>
          <p:nvPr/>
        </p:nvPicPr>
        <p:blipFill>
          <a:blip r:embed="rId5"/>
          <a:stretch>
            <a:fillRect/>
          </a:stretch>
        </p:blipFill>
        <p:spPr>
          <a:xfrm>
            <a:off x="7743631" y="3750944"/>
            <a:ext cx="228594" cy="194309"/>
          </a:xfrm>
          <a:prstGeom prst="rect">
            <a:avLst/>
          </a:prstGeom>
        </p:spPr>
      </p:pic>
      <p:sp>
        <p:nvSpPr>
          <p:cNvPr id="15" name="TextBox 14"/>
          <p:cNvSpPr txBox="1"/>
          <p:nvPr/>
        </p:nvSpPr>
        <p:spPr>
          <a:xfrm>
            <a:off x="8115097" y="3664826"/>
            <a:ext cx="1791709" cy="357021"/>
          </a:xfrm>
          <a:prstGeom prst="rect">
            <a:avLst/>
          </a:prstGeom>
          <a:noFill/>
        </p:spPr>
        <p:txBody>
          <a:bodyPr wrap="none" lIns="73152" tIns="54864" rIns="73152" bIns="54864" anchor="ctr">
            <a:spAutoFit/>
          </a:bodyPr>
          <a:lstStyle/>
          <a:p>
            <a:pPr algn="l">
              <a:spcBef>
                <a:spcPts val="0"/>
              </a:spcBef>
              <a:spcAft>
                <a:spcPts val="0"/>
              </a:spcAft>
            </a:pPr>
            <a:r>
              <a:rPr sz="1600" b="1">
                <a:solidFill>
                  <a:srgbClr val="FFFFFF"/>
                </a:solidFill>
              </a:rPr>
              <a:t>Multimedia Gallery</a:t>
            </a:r>
            <a:endParaRPr sz="1600" b="1">
              <a:solidFill>
                <a:srgbClr val="FFFFFF"/>
              </a:solidFill>
            </a:endParaRPr>
          </a:p>
        </p:txBody>
      </p:sp>
      <p:pic>
        <p:nvPicPr>
          <p:cNvPr id="16" name="Picture 15" descr="image.png"/>
          <p:cNvPicPr>
            <a:picLocks noChangeAspect="1"/>
          </p:cNvPicPr>
          <p:nvPr/>
        </p:nvPicPr>
        <p:blipFill>
          <a:blip r:embed="rId6"/>
          <a:stretch>
            <a:fillRect/>
          </a:stretch>
        </p:blipFill>
        <p:spPr>
          <a:xfrm>
            <a:off x="7743631" y="4180046"/>
            <a:ext cx="228594" cy="174307"/>
          </a:xfrm>
          <a:prstGeom prst="rect">
            <a:avLst/>
          </a:prstGeom>
        </p:spPr>
      </p:pic>
      <p:sp>
        <p:nvSpPr>
          <p:cNvPr id="17" name="TextBox 16"/>
          <p:cNvSpPr txBox="1"/>
          <p:nvPr/>
        </p:nvSpPr>
        <p:spPr>
          <a:xfrm>
            <a:off x="8115097" y="4083927"/>
            <a:ext cx="2763321" cy="357021"/>
          </a:xfrm>
          <a:prstGeom prst="rect">
            <a:avLst/>
          </a:prstGeom>
          <a:noFill/>
        </p:spPr>
        <p:txBody>
          <a:bodyPr wrap="none" lIns="73152" tIns="54864" rIns="73152" bIns="54864" anchor="ctr">
            <a:spAutoFit/>
          </a:bodyPr>
          <a:lstStyle/>
          <a:p>
            <a:pPr algn="l">
              <a:spcBef>
                <a:spcPts val="0"/>
              </a:spcBef>
              <a:spcAft>
                <a:spcPts val="0"/>
              </a:spcAft>
            </a:pPr>
            <a:r>
              <a:rPr sz="1600" b="1" dirty="0">
                <a:solidFill>
                  <a:srgbClr val="FFFFFF"/>
                </a:solidFill>
              </a:rPr>
              <a:t>Advanced Search &amp; Filter Tools</a:t>
            </a:r>
            <a:endParaRPr sz="1600" b="1" dirty="0">
              <a:solidFill>
                <a:srgbClr val="FFFFFF"/>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 name="TextBox 2"/>
          <p:cNvSpPr txBox="1"/>
          <p:nvPr/>
        </p:nvSpPr>
        <p:spPr>
          <a:xfrm>
            <a:off x="666733" y="317503"/>
            <a:ext cx="6202724" cy="603242"/>
          </a:xfrm>
          <a:prstGeom prst="rect">
            <a:avLst/>
          </a:prstGeom>
          <a:noFill/>
        </p:spPr>
        <p:txBody>
          <a:bodyPr wrap="none" lIns="73152" tIns="54864" rIns="73152" bIns="54864" anchor="ctr">
            <a:spAutoFit/>
          </a:bodyPr>
          <a:lstStyle/>
          <a:p>
            <a:pPr algn="l">
              <a:spcBef>
                <a:spcPts val="0"/>
              </a:spcBef>
              <a:spcAft>
                <a:spcPts val="650"/>
              </a:spcAft>
            </a:pPr>
            <a:r>
              <a:rPr sz="3200" b="1">
                <a:solidFill>
                  <a:srgbClr val="FFFFFF"/>
                </a:solidFill>
              </a:rPr>
              <a:t>Company/Organization Background</a:t>
            </a:r>
            <a:endParaRPr sz="3200" b="1">
              <a:solidFill>
                <a:srgbClr val="FFFFFF"/>
              </a:solidFill>
            </a:endParaRPr>
          </a:p>
        </p:txBody>
      </p:sp>
      <p:sp>
        <p:nvSpPr>
          <p:cNvPr id="4" name="Rounded Rectangle 3"/>
          <p:cNvSpPr/>
          <p:nvPr/>
        </p:nvSpPr>
        <p:spPr>
          <a:xfrm>
            <a:off x="666733" y="1428750"/>
            <a:ext cx="5686282" cy="2676524"/>
          </a:xfrm>
          <a:prstGeom prst="roundRect">
            <a:avLst>
              <a:gd name="adj" fmla="val 5693"/>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pic>
        <p:nvPicPr>
          <p:cNvPr id="5" name="Picture 4" descr="image.png"/>
          <p:cNvPicPr>
            <a:picLocks noChangeAspect="1"/>
          </p:cNvPicPr>
          <p:nvPr/>
        </p:nvPicPr>
        <p:blipFill>
          <a:blip r:embed="rId1"/>
          <a:stretch>
            <a:fillRect/>
          </a:stretch>
        </p:blipFill>
        <p:spPr>
          <a:xfrm>
            <a:off x="857228" y="1659731"/>
            <a:ext cx="228594" cy="185737"/>
          </a:xfrm>
          <a:prstGeom prst="rect">
            <a:avLst/>
          </a:prstGeom>
        </p:spPr>
      </p:pic>
      <p:sp>
        <p:nvSpPr>
          <p:cNvPr id="6" name="TextBox 5"/>
          <p:cNvSpPr txBox="1"/>
          <p:nvPr/>
        </p:nvSpPr>
        <p:spPr>
          <a:xfrm>
            <a:off x="1181070" y="1558701"/>
            <a:ext cx="2501967" cy="387798"/>
          </a:xfrm>
          <a:prstGeom prst="rect">
            <a:avLst/>
          </a:prstGeom>
          <a:noFill/>
        </p:spPr>
        <p:txBody>
          <a:bodyPr wrap="none" lIns="73152" tIns="54864" rIns="73152" bIns="54864" anchor="ctr">
            <a:spAutoFit/>
          </a:bodyPr>
          <a:lstStyle/>
          <a:p>
            <a:pPr algn="l">
              <a:spcBef>
                <a:spcPts val="0"/>
              </a:spcBef>
              <a:spcAft>
                <a:spcPts val="0"/>
              </a:spcAft>
            </a:pPr>
            <a:r>
              <a:rPr b="1">
                <a:solidFill>
                  <a:srgbClr val="00897B"/>
                </a:solidFill>
              </a:rPr>
              <a:t>Mangatarem LGU Profile</a:t>
            </a:r>
            <a:endParaRPr b="1">
              <a:solidFill>
                <a:srgbClr val="00897B"/>
              </a:solidFill>
            </a:endParaRPr>
          </a:p>
        </p:txBody>
      </p:sp>
      <p:pic>
        <p:nvPicPr>
          <p:cNvPr id="7" name="Picture 6" descr="image.png"/>
          <p:cNvPicPr>
            <a:picLocks noChangeAspect="1"/>
          </p:cNvPicPr>
          <p:nvPr/>
        </p:nvPicPr>
        <p:blipFill>
          <a:blip r:embed="rId2"/>
          <a:stretch>
            <a:fillRect/>
          </a:stretch>
        </p:blipFill>
        <p:spPr>
          <a:xfrm>
            <a:off x="857228" y="2061882"/>
            <a:ext cx="190495" cy="162485"/>
          </a:xfrm>
          <a:prstGeom prst="rect">
            <a:avLst/>
          </a:prstGeom>
        </p:spPr>
      </p:pic>
      <p:sp>
        <p:nvSpPr>
          <p:cNvPr id="8" name="TextBox 7"/>
          <p:cNvSpPr txBox="1"/>
          <p:nvPr/>
        </p:nvSpPr>
        <p:spPr>
          <a:xfrm>
            <a:off x="1142971" y="1975242"/>
            <a:ext cx="3588868" cy="326243"/>
          </a:xfrm>
          <a:prstGeom prst="rect">
            <a:avLst/>
          </a:prstGeom>
          <a:noFill/>
        </p:spPr>
        <p:txBody>
          <a:bodyPr wrap="none" lIns="73152" tIns="54864" rIns="73152" bIns="54864" anchor="ctr">
            <a:spAutoFit/>
          </a:bodyPr>
          <a:lstStyle/>
          <a:p>
            <a:pPr algn="l">
              <a:spcBef>
                <a:spcPts val="0"/>
              </a:spcBef>
              <a:spcAft>
                <a:spcPts val="0"/>
              </a:spcAft>
            </a:pPr>
            <a:r>
              <a:rPr sz="1400" b="1">
                <a:solidFill>
                  <a:srgbClr val="00897B"/>
                </a:solidFill>
              </a:rPr>
              <a:t>1st-class</a:t>
            </a:r>
            <a:r>
              <a:rPr sz="1400" b="0">
                <a:solidFill>
                  <a:srgbClr val="333333"/>
                </a:solidFill>
              </a:rPr>
              <a:t> landlocked municipality in Pangasinan</a:t>
            </a:r>
            <a:endParaRPr sz="1400" b="0">
              <a:solidFill>
                <a:srgbClr val="333333"/>
              </a:solidFill>
            </a:endParaRPr>
          </a:p>
        </p:txBody>
      </p:sp>
      <p:pic>
        <p:nvPicPr>
          <p:cNvPr id="9" name="Picture 8" descr="image.png"/>
          <p:cNvPicPr>
            <a:picLocks noChangeAspect="1"/>
          </p:cNvPicPr>
          <p:nvPr/>
        </p:nvPicPr>
        <p:blipFill>
          <a:blip r:embed="rId3"/>
          <a:stretch>
            <a:fillRect/>
          </a:stretch>
        </p:blipFill>
        <p:spPr>
          <a:xfrm>
            <a:off x="857228" y="2423272"/>
            <a:ext cx="190495" cy="106455"/>
          </a:xfrm>
          <a:prstGeom prst="rect">
            <a:avLst/>
          </a:prstGeom>
        </p:spPr>
      </p:pic>
      <p:sp>
        <p:nvSpPr>
          <p:cNvPr id="10" name="TextBox 9"/>
          <p:cNvSpPr txBox="1"/>
          <p:nvPr/>
        </p:nvSpPr>
        <p:spPr>
          <a:xfrm>
            <a:off x="1142971" y="2308616"/>
            <a:ext cx="4059766" cy="326243"/>
          </a:xfrm>
          <a:prstGeom prst="rect">
            <a:avLst/>
          </a:prstGeom>
          <a:noFill/>
        </p:spPr>
        <p:txBody>
          <a:bodyPr wrap="none" lIns="73152" tIns="54864" rIns="73152" bIns="54864" anchor="ctr">
            <a:spAutoFit/>
          </a:bodyPr>
          <a:lstStyle/>
          <a:p>
            <a:pPr algn="l">
              <a:spcBef>
                <a:spcPts val="0"/>
              </a:spcBef>
              <a:spcAft>
                <a:spcPts val="0"/>
              </a:spcAft>
            </a:pPr>
            <a:r>
              <a:rPr sz="1400" b="1">
                <a:solidFill>
                  <a:srgbClr val="00897B"/>
                </a:solidFill>
              </a:rPr>
              <a:t>Largest town</a:t>
            </a:r>
            <a:r>
              <a:rPr sz="1400" b="0">
                <a:solidFill>
                  <a:srgbClr val="333333"/>
                </a:solidFill>
              </a:rPr>
              <a:t> in Pangasinan by land area (317.50 km²)</a:t>
            </a:r>
            <a:endParaRPr sz="1400" b="0">
              <a:solidFill>
                <a:srgbClr val="333333"/>
              </a:solidFill>
            </a:endParaRPr>
          </a:p>
        </p:txBody>
      </p:sp>
      <p:pic>
        <p:nvPicPr>
          <p:cNvPr id="11" name="Picture 10" descr="image.png"/>
          <p:cNvPicPr>
            <a:picLocks noChangeAspect="1"/>
          </p:cNvPicPr>
          <p:nvPr/>
        </p:nvPicPr>
        <p:blipFill>
          <a:blip r:embed="rId4"/>
          <a:stretch>
            <a:fillRect/>
          </a:stretch>
        </p:blipFill>
        <p:spPr>
          <a:xfrm>
            <a:off x="857228" y="2756647"/>
            <a:ext cx="190495" cy="106455"/>
          </a:xfrm>
          <a:prstGeom prst="rect">
            <a:avLst/>
          </a:prstGeom>
        </p:spPr>
      </p:pic>
      <p:sp>
        <p:nvSpPr>
          <p:cNvPr id="12" name="TextBox 11"/>
          <p:cNvSpPr txBox="1"/>
          <p:nvPr/>
        </p:nvSpPr>
        <p:spPr>
          <a:xfrm>
            <a:off x="1142971" y="2641992"/>
            <a:ext cx="3849387" cy="326243"/>
          </a:xfrm>
          <a:prstGeom prst="rect">
            <a:avLst/>
          </a:prstGeom>
          <a:noFill/>
        </p:spPr>
        <p:txBody>
          <a:bodyPr wrap="none" lIns="73152" tIns="54864" rIns="73152" bIns="54864" anchor="ctr">
            <a:spAutoFit/>
          </a:bodyPr>
          <a:lstStyle/>
          <a:p>
            <a:pPr algn="l">
              <a:spcBef>
                <a:spcPts val="0"/>
              </a:spcBef>
              <a:spcAft>
                <a:spcPts val="0"/>
              </a:spcAft>
            </a:pPr>
            <a:r>
              <a:rPr sz="1400" b="0">
                <a:solidFill>
                  <a:srgbClr val="333333"/>
                </a:solidFill>
              </a:rPr>
              <a:t>Population: </a:t>
            </a:r>
            <a:r>
              <a:rPr sz="1400" b="1">
                <a:solidFill>
                  <a:srgbClr val="00897B"/>
                </a:solidFill>
              </a:rPr>
              <a:t>79,323-79,648</a:t>
            </a:r>
            <a:r>
              <a:rPr sz="1400" b="0">
                <a:solidFill>
                  <a:srgbClr val="333333"/>
                </a:solidFill>
              </a:rPr>
              <a:t> residents (2020 census)</a:t>
            </a:r>
            <a:endParaRPr sz="1400" b="0">
              <a:solidFill>
                <a:srgbClr val="333333"/>
              </a:solidFill>
            </a:endParaRPr>
          </a:p>
        </p:txBody>
      </p:sp>
      <p:pic>
        <p:nvPicPr>
          <p:cNvPr id="13" name="Picture 12" descr="image.png"/>
          <p:cNvPicPr>
            <a:picLocks noChangeAspect="1"/>
          </p:cNvPicPr>
          <p:nvPr/>
        </p:nvPicPr>
        <p:blipFill>
          <a:blip r:embed="rId5"/>
          <a:stretch>
            <a:fillRect/>
          </a:stretch>
        </p:blipFill>
        <p:spPr>
          <a:xfrm>
            <a:off x="857228" y="3062007"/>
            <a:ext cx="190495" cy="162485"/>
          </a:xfrm>
          <a:prstGeom prst="rect">
            <a:avLst/>
          </a:prstGeom>
        </p:spPr>
      </p:pic>
      <p:sp>
        <p:nvSpPr>
          <p:cNvPr id="14" name="TextBox 13"/>
          <p:cNvSpPr txBox="1"/>
          <p:nvPr/>
        </p:nvSpPr>
        <p:spPr>
          <a:xfrm>
            <a:off x="1142971" y="2975367"/>
            <a:ext cx="2842445" cy="326243"/>
          </a:xfrm>
          <a:prstGeom prst="rect">
            <a:avLst/>
          </a:prstGeom>
          <a:noFill/>
        </p:spPr>
        <p:txBody>
          <a:bodyPr wrap="none" lIns="73152" tIns="54864" rIns="73152" bIns="54864" anchor="ctr">
            <a:spAutoFit/>
          </a:bodyPr>
          <a:lstStyle/>
          <a:p>
            <a:pPr algn="l">
              <a:spcBef>
                <a:spcPts val="0"/>
              </a:spcBef>
              <a:spcAft>
                <a:spcPts val="0"/>
              </a:spcAft>
            </a:pPr>
            <a:r>
              <a:rPr sz="1400" b="1">
                <a:solidFill>
                  <a:srgbClr val="00897B"/>
                </a:solidFill>
              </a:rPr>
              <a:t>82 barangays</a:t>
            </a:r>
            <a:r>
              <a:rPr sz="1400" b="0">
                <a:solidFill>
                  <a:srgbClr val="333333"/>
                </a:solidFill>
              </a:rPr>
              <a:t> across the municipality</a:t>
            </a:r>
            <a:endParaRPr sz="1400" b="0">
              <a:solidFill>
                <a:srgbClr val="333333"/>
              </a:solidFill>
            </a:endParaRPr>
          </a:p>
        </p:txBody>
      </p:sp>
      <p:pic>
        <p:nvPicPr>
          <p:cNvPr id="15" name="Picture 14" descr="image.png"/>
          <p:cNvPicPr>
            <a:picLocks noChangeAspect="1"/>
          </p:cNvPicPr>
          <p:nvPr/>
        </p:nvPicPr>
        <p:blipFill>
          <a:blip r:embed="rId6"/>
          <a:stretch>
            <a:fillRect/>
          </a:stretch>
        </p:blipFill>
        <p:spPr>
          <a:xfrm>
            <a:off x="857228" y="3395382"/>
            <a:ext cx="190495" cy="162485"/>
          </a:xfrm>
          <a:prstGeom prst="rect">
            <a:avLst/>
          </a:prstGeom>
        </p:spPr>
      </p:pic>
      <p:sp>
        <p:nvSpPr>
          <p:cNvPr id="16" name="TextBox 15"/>
          <p:cNvSpPr txBox="1"/>
          <p:nvPr/>
        </p:nvSpPr>
        <p:spPr>
          <a:xfrm>
            <a:off x="1142971" y="3310556"/>
            <a:ext cx="5019549" cy="541687"/>
          </a:xfrm>
          <a:prstGeom prst="rect">
            <a:avLst/>
          </a:prstGeom>
          <a:noFill/>
        </p:spPr>
        <p:txBody>
          <a:bodyPr wrap="square" lIns="73152" tIns="54864" rIns="73152" bIns="54864" anchor="ctr">
            <a:spAutoFit/>
          </a:bodyPr>
          <a:lstStyle/>
          <a:p>
            <a:pPr algn="l">
              <a:spcBef>
                <a:spcPts val="0"/>
              </a:spcBef>
              <a:spcAft>
                <a:spcPts val="0"/>
              </a:spcAft>
            </a:pPr>
            <a:r>
              <a:rPr sz="1400" b="0">
                <a:solidFill>
                  <a:srgbClr val="333333"/>
                </a:solidFill>
              </a:rPr>
              <a:t>Promotes </a:t>
            </a:r>
            <a:r>
              <a:rPr sz="1400" b="1">
                <a:solidFill>
                  <a:srgbClr val="00897B"/>
                </a:solidFill>
              </a:rPr>
              <a:t>eco-tourism initiatives</a:t>
            </a:r>
            <a:r>
              <a:rPr sz="1400" b="0">
                <a:solidFill>
                  <a:srgbClr val="333333"/>
                </a:solidFill>
              </a:rPr>
              <a:t> and hosts festivals like the Tupig Festival</a:t>
            </a:r>
            <a:endParaRPr sz="1400" b="0">
              <a:solidFill>
                <a:srgbClr val="333333"/>
              </a:solidFill>
            </a:endParaRPr>
          </a:p>
        </p:txBody>
      </p:sp>
      <p:sp>
        <p:nvSpPr>
          <p:cNvPr id="17" name="Rounded Rectangle 16"/>
          <p:cNvSpPr/>
          <p:nvPr/>
        </p:nvSpPr>
        <p:spPr>
          <a:xfrm>
            <a:off x="666733" y="4295774"/>
            <a:ext cx="5686282" cy="1152524"/>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Rounded Rectangle 17"/>
          <p:cNvSpPr/>
          <p:nvPr/>
        </p:nvSpPr>
        <p:spPr>
          <a:xfrm>
            <a:off x="857228" y="4495799"/>
            <a:ext cx="761980" cy="761999"/>
          </a:xfrm>
          <a:prstGeom prst="roundRect">
            <a:avLst>
              <a:gd name="adj" fmla="val 50000"/>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pic>
        <p:nvPicPr>
          <p:cNvPr id="19" name="Picture 18" descr="image.png"/>
          <p:cNvPicPr>
            <a:picLocks noChangeAspect="1"/>
          </p:cNvPicPr>
          <p:nvPr/>
        </p:nvPicPr>
        <p:blipFill>
          <a:blip r:embed="rId7"/>
          <a:stretch>
            <a:fillRect/>
          </a:stretch>
        </p:blipFill>
        <p:spPr>
          <a:xfrm>
            <a:off x="1047723" y="4742854"/>
            <a:ext cx="380990" cy="267890"/>
          </a:xfrm>
          <a:prstGeom prst="rect">
            <a:avLst/>
          </a:prstGeom>
        </p:spPr>
      </p:pic>
      <p:sp>
        <p:nvSpPr>
          <p:cNvPr id="20" name="TextBox 19"/>
          <p:cNvSpPr txBox="1"/>
          <p:nvPr/>
        </p:nvSpPr>
        <p:spPr>
          <a:xfrm>
            <a:off x="1809704" y="4425726"/>
            <a:ext cx="2121606" cy="387798"/>
          </a:xfrm>
          <a:prstGeom prst="rect">
            <a:avLst/>
          </a:prstGeom>
          <a:noFill/>
        </p:spPr>
        <p:txBody>
          <a:bodyPr wrap="none" lIns="73152" tIns="54864" rIns="73152" bIns="54864" anchor="ctr">
            <a:spAutoFit/>
          </a:bodyPr>
          <a:lstStyle/>
          <a:p>
            <a:pPr algn="l">
              <a:spcBef>
                <a:spcPts val="0"/>
              </a:spcBef>
              <a:spcAft>
                <a:spcPts val="325"/>
              </a:spcAft>
            </a:pPr>
            <a:r>
              <a:rPr b="1">
                <a:solidFill>
                  <a:srgbClr val="00897B"/>
                </a:solidFill>
              </a:rPr>
              <a:t>Rachelle T. Cabornay</a:t>
            </a:r>
            <a:endParaRPr b="1">
              <a:solidFill>
                <a:srgbClr val="00897B"/>
              </a:solidFill>
            </a:endParaRPr>
          </a:p>
        </p:txBody>
      </p:sp>
      <p:sp>
        <p:nvSpPr>
          <p:cNvPr id="21" name="TextBox 20"/>
          <p:cNvSpPr txBox="1"/>
          <p:nvPr/>
        </p:nvSpPr>
        <p:spPr>
          <a:xfrm>
            <a:off x="1809704" y="4747017"/>
            <a:ext cx="2615781" cy="326243"/>
          </a:xfrm>
          <a:prstGeom prst="rect">
            <a:avLst/>
          </a:prstGeom>
          <a:noFill/>
        </p:spPr>
        <p:txBody>
          <a:bodyPr wrap="none" lIns="73152" tIns="54864" rIns="73152" bIns="54864" anchor="ctr">
            <a:spAutoFit/>
          </a:bodyPr>
          <a:lstStyle/>
          <a:p>
            <a:pPr algn="l">
              <a:spcBef>
                <a:spcPts val="0"/>
              </a:spcBef>
              <a:spcAft>
                <a:spcPts val="325"/>
              </a:spcAft>
            </a:pPr>
            <a:r>
              <a:rPr sz="1400" b="0">
                <a:solidFill>
                  <a:srgbClr val="333333"/>
                </a:solidFill>
              </a:rPr>
              <a:t>Senior Tourism Operations Officer</a:t>
            </a:r>
            <a:endParaRPr sz="1400" b="0">
              <a:solidFill>
                <a:srgbClr val="333333"/>
              </a:solidFill>
            </a:endParaRPr>
          </a:p>
        </p:txBody>
      </p:sp>
      <p:sp>
        <p:nvSpPr>
          <p:cNvPr id="22" name="TextBox 21"/>
          <p:cNvSpPr txBox="1"/>
          <p:nvPr/>
        </p:nvSpPr>
        <p:spPr>
          <a:xfrm>
            <a:off x="1809704" y="5022511"/>
            <a:ext cx="2799100" cy="280077"/>
          </a:xfrm>
          <a:prstGeom prst="rect">
            <a:avLst/>
          </a:prstGeom>
          <a:noFill/>
        </p:spPr>
        <p:txBody>
          <a:bodyPr wrap="none" lIns="73152" tIns="54864" rIns="73152" bIns="54864" anchor="ctr">
            <a:spAutoFit/>
          </a:bodyPr>
          <a:lstStyle/>
          <a:p>
            <a:pPr algn="l">
              <a:spcBef>
                <a:spcPts val="0"/>
              </a:spcBef>
              <a:spcAft>
                <a:spcPts val="0"/>
              </a:spcAft>
            </a:pPr>
            <a:r>
              <a:rPr sz="1100" b="0">
                <a:solidFill>
                  <a:srgbClr val="666666"/>
                </a:solidFill>
              </a:rPr>
              <a:t>Municipal Economic Enterprise Office (M.E.O.)</a:t>
            </a:r>
            <a:endParaRPr sz="1100" b="0">
              <a:solidFill>
                <a:srgbClr val="666666"/>
              </a:solidFill>
            </a:endParaRPr>
          </a:p>
        </p:txBody>
      </p:sp>
      <p:sp>
        <p:nvSpPr>
          <p:cNvPr id="23" name="Rectangle 22"/>
          <p:cNvSpPr/>
          <p:nvPr/>
        </p:nvSpPr>
        <p:spPr>
          <a:xfrm>
            <a:off x="6638759" y="1428750"/>
            <a:ext cx="4886202" cy="3047999"/>
          </a:xfrm>
          <a:prstGeom prst="rect">
            <a:avLst/>
          </a:prstGeom>
          <a:blipFill>
            <a:blip r:embed="rId8"/>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Rounded Rectangle 23"/>
          <p:cNvSpPr/>
          <p:nvPr/>
        </p:nvSpPr>
        <p:spPr>
          <a:xfrm>
            <a:off x="6638759" y="4667249"/>
            <a:ext cx="4886202" cy="2124075"/>
          </a:xfrm>
          <a:prstGeom prst="roundRect">
            <a:avLst>
              <a:gd name="adj" fmla="val 7174"/>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pic>
        <p:nvPicPr>
          <p:cNvPr id="25" name="Picture 24" descr="image.png"/>
          <p:cNvPicPr>
            <a:picLocks noChangeAspect="1"/>
          </p:cNvPicPr>
          <p:nvPr/>
        </p:nvPicPr>
        <p:blipFill>
          <a:blip r:embed="rId9"/>
          <a:stretch>
            <a:fillRect/>
          </a:stretch>
        </p:blipFill>
        <p:spPr>
          <a:xfrm>
            <a:off x="6829254" y="4893945"/>
            <a:ext cx="228594" cy="194309"/>
          </a:xfrm>
          <a:prstGeom prst="rect">
            <a:avLst/>
          </a:prstGeom>
        </p:spPr>
      </p:pic>
      <p:sp>
        <p:nvSpPr>
          <p:cNvPr id="26" name="TextBox 25"/>
          <p:cNvSpPr txBox="1"/>
          <p:nvPr/>
        </p:nvSpPr>
        <p:spPr>
          <a:xfrm>
            <a:off x="7153096" y="4797201"/>
            <a:ext cx="1924822" cy="387798"/>
          </a:xfrm>
          <a:prstGeom prst="rect">
            <a:avLst/>
          </a:prstGeom>
          <a:noFill/>
        </p:spPr>
        <p:txBody>
          <a:bodyPr wrap="none" lIns="73152" tIns="54864" rIns="73152" bIns="54864" anchor="ctr">
            <a:spAutoFit/>
          </a:bodyPr>
          <a:lstStyle/>
          <a:p>
            <a:pPr algn="l">
              <a:spcBef>
                <a:spcPts val="0"/>
              </a:spcBef>
              <a:spcAft>
                <a:spcPts val="0"/>
              </a:spcAft>
            </a:pPr>
            <a:r>
              <a:rPr b="1">
                <a:solidFill>
                  <a:srgbClr val="00897B"/>
                </a:solidFill>
              </a:rPr>
              <a:t>Tourism Relevance</a:t>
            </a:r>
            <a:endParaRPr b="1">
              <a:solidFill>
                <a:srgbClr val="00897B"/>
              </a:solidFill>
            </a:endParaRPr>
          </a:p>
        </p:txBody>
      </p:sp>
      <p:pic>
        <p:nvPicPr>
          <p:cNvPr id="27" name="Picture 26" descr="image.png"/>
          <p:cNvPicPr>
            <a:picLocks noChangeAspect="1"/>
          </p:cNvPicPr>
          <p:nvPr/>
        </p:nvPicPr>
        <p:blipFill>
          <a:blip r:embed="rId10"/>
          <a:stretch>
            <a:fillRect/>
          </a:stretch>
        </p:blipFill>
        <p:spPr>
          <a:xfrm>
            <a:off x="6829254" y="5298981"/>
            <a:ext cx="190495" cy="165286"/>
          </a:xfrm>
          <a:prstGeom prst="rect">
            <a:avLst/>
          </a:prstGeom>
        </p:spPr>
      </p:pic>
      <p:sp>
        <p:nvSpPr>
          <p:cNvPr id="28" name="TextBox 27"/>
          <p:cNvSpPr txBox="1"/>
          <p:nvPr/>
        </p:nvSpPr>
        <p:spPr>
          <a:xfrm>
            <a:off x="7114997" y="5213741"/>
            <a:ext cx="3477812" cy="326243"/>
          </a:xfrm>
          <a:prstGeom prst="rect">
            <a:avLst/>
          </a:prstGeom>
          <a:noFill/>
        </p:spPr>
        <p:txBody>
          <a:bodyPr wrap="none" lIns="73152" tIns="54864" rIns="73152" bIns="54864" anchor="ctr">
            <a:spAutoFit/>
          </a:bodyPr>
          <a:lstStyle/>
          <a:p>
            <a:pPr algn="l">
              <a:spcBef>
                <a:spcPts val="0"/>
              </a:spcBef>
              <a:spcAft>
                <a:spcPts val="0"/>
              </a:spcAft>
            </a:pPr>
            <a:r>
              <a:rPr sz="1400" b="0">
                <a:solidFill>
                  <a:srgbClr val="333333"/>
                </a:solidFill>
              </a:rPr>
              <a:t>Hosts </a:t>
            </a:r>
            <a:r>
              <a:rPr sz="1400" b="1">
                <a:solidFill>
                  <a:srgbClr val="00897B"/>
                </a:solidFill>
              </a:rPr>
              <a:t>Tupig Festival</a:t>
            </a:r>
            <a:r>
              <a:rPr sz="1400" b="0">
                <a:solidFill>
                  <a:srgbClr val="333333"/>
                </a:solidFill>
              </a:rPr>
              <a:t> highlighting local farmers</a:t>
            </a:r>
            <a:endParaRPr sz="1400" b="0">
              <a:solidFill>
                <a:srgbClr val="333333"/>
              </a:solidFill>
            </a:endParaRPr>
          </a:p>
        </p:txBody>
      </p:sp>
      <p:pic>
        <p:nvPicPr>
          <p:cNvPr id="29" name="Picture 28" descr="image.png"/>
          <p:cNvPicPr>
            <a:picLocks noChangeAspect="1"/>
          </p:cNvPicPr>
          <p:nvPr/>
        </p:nvPicPr>
        <p:blipFill>
          <a:blip r:embed="rId11"/>
          <a:stretch>
            <a:fillRect/>
          </a:stretch>
        </p:blipFill>
        <p:spPr>
          <a:xfrm>
            <a:off x="6829254" y="5644963"/>
            <a:ext cx="190495" cy="140073"/>
          </a:xfrm>
          <a:prstGeom prst="rect">
            <a:avLst/>
          </a:prstGeom>
        </p:spPr>
      </p:pic>
      <p:sp>
        <p:nvSpPr>
          <p:cNvPr id="30" name="TextBox 29"/>
          <p:cNvSpPr txBox="1"/>
          <p:nvPr/>
        </p:nvSpPr>
        <p:spPr>
          <a:xfrm>
            <a:off x="7114997" y="5547117"/>
            <a:ext cx="3735574" cy="326243"/>
          </a:xfrm>
          <a:prstGeom prst="rect">
            <a:avLst/>
          </a:prstGeom>
          <a:noFill/>
        </p:spPr>
        <p:txBody>
          <a:bodyPr wrap="none" lIns="73152" tIns="54864" rIns="73152" bIns="54864" anchor="ctr">
            <a:spAutoFit/>
          </a:bodyPr>
          <a:lstStyle/>
          <a:p>
            <a:pPr algn="l">
              <a:spcBef>
                <a:spcPts val="0"/>
              </a:spcBef>
              <a:spcAft>
                <a:spcPts val="0"/>
              </a:spcAft>
            </a:pPr>
            <a:r>
              <a:rPr sz="1400" b="0">
                <a:solidFill>
                  <a:srgbClr val="333333"/>
                </a:solidFill>
              </a:rPr>
              <a:t>Develops </a:t>
            </a:r>
            <a:r>
              <a:rPr sz="1400" b="1">
                <a:solidFill>
                  <a:srgbClr val="00897B"/>
                </a:solidFill>
              </a:rPr>
              <a:t>eco-tourism sites</a:t>
            </a:r>
            <a:r>
              <a:rPr sz="1400" b="0">
                <a:solidFill>
                  <a:srgbClr val="333333"/>
                </a:solidFill>
              </a:rPr>
              <a:t> like Manleluag Spring</a:t>
            </a:r>
            <a:endParaRPr sz="1400" b="0">
              <a:solidFill>
                <a:srgbClr val="333333"/>
              </a:solidFill>
            </a:endParaRPr>
          </a:p>
        </p:txBody>
      </p:sp>
      <p:pic>
        <p:nvPicPr>
          <p:cNvPr id="31" name="Picture 30" descr="image.png"/>
          <p:cNvPicPr>
            <a:picLocks noChangeAspect="1"/>
          </p:cNvPicPr>
          <p:nvPr/>
        </p:nvPicPr>
        <p:blipFill>
          <a:blip r:embed="rId3"/>
          <a:stretch>
            <a:fillRect/>
          </a:stretch>
        </p:blipFill>
        <p:spPr>
          <a:xfrm>
            <a:off x="6829254" y="5995147"/>
            <a:ext cx="190495" cy="106455"/>
          </a:xfrm>
          <a:prstGeom prst="rect">
            <a:avLst/>
          </a:prstGeom>
        </p:spPr>
      </p:pic>
      <p:sp>
        <p:nvSpPr>
          <p:cNvPr id="32" name="TextBox 31"/>
          <p:cNvSpPr txBox="1"/>
          <p:nvPr/>
        </p:nvSpPr>
        <p:spPr>
          <a:xfrm>
            <a:off x="7114997" y="5880492"/>
            <a:ext cx="4343753" cy="326243"/>
          </a:xfrm>
          <a:prstGeom prst="rect">
            <a:avLst/>
          </a:prstGeom>
          <a:noFill/>
        </p:spPr>
        <p:txBody>
          <a:bodyPr wrap="none" lIns="73152" tIns="54864" rIns="73152" bIns="54864" anchor="ctr">
            <a:spAutoFit/>
          </a:bodyPr>
          <a:lstStyle/>
          <a:p>
            <a:pPr algn="l">
              <a:spcBef>
                <a:spcPts val="0"/>
              </a:spcBef>
              <a:spcAft>
                <a:spcPts val="0"/>
              </a:spcAft>
            </a:pPr>
            <a:r>
              <a:rPr sz="1400" b="0">
                <a:solidFill>
                  <a:srgbClr val="333333"/>
                </a:solidFill>
              </a:rPr>
              <a:t>Features scenic </a:t>
            </a:r>
            <a:r>
              <a:rPr sz="1400" b="1">
                <a:solidFill>
                  <a:srgbClr val="00897B"/>
                </a:solidFill>
              </a:rPr>
              <a:t>Daang Kalikasan</a:t>
            </a:r>
            <a:r>
              <a:rPr sz="1400" b="0">
                <a:solidFill>
                  <a:srgbClr val="333333"/>
                </a:solidFill>
              </a:rPr>
              <a:t> road linking to Zambales</a:t>
            </a:r>
            <a:endParaRPr sz="1400" b="0">
              <a:solidFill>
                <a:srgbClr val="333333"/>
              </a:solidFill>
            </a:endParaRPr>
          </a:p>
        </p:txBody>
      </p:sp>
      <p:pic>
        <p:nvPicPr>
          <p:cNvPr id="33" name="Picture 32" descr="image.png"/>
          <p:cNvPicPr>
            <a:picLocks noChangeAspect="1"/>
          </p:cNvPicPr>
          <p:nvPr/>
        </p:nvPicPr>
        <p:blipFill>
          <a:blip r:embed="rId12"/>
          <a:stretch>
            <a:fillRect/>
          </a:stretch>
        </p:blipFill>
        <p:spPr>
          <a:xfrm>
            <a:off x="6829254" y="6306110"/>
            <a:ext cx="190495" cy="151279"/>
          </a:xfrm>
          <a:prstGeom prst="rect">
            <a:avLst/>
          </a:prstGeom>
        </p:spPr>
      </p:pic>
      <p:sp>
        <p:nvSpPr>
          <p:cNvPr id="34" name="TextBox 33"/>
          <p:cNvSpPr txBox="1"/>
          <p:nvPr/>
        </p:nvSpPr>
        <p:spPr>
          <a:xfrm>
            <a:off x="7114997" y="6213866"/>
            <a:ext cx="3913828" cy="326243"/>
          </a:xfrm>
          <a:prstGeom prst="rect">
            <a:avLst/>
          </a:prstGeom>
          <a:noFill/>
        </p:spPr>
        <p:txBody>
          <a:bodyPr wrap="none" lIns="73152" tIns="54864" rIns="73152" bIns="54864" anchor="ctr">
            <a:spAutoFit/>
          </a:bodyPr>
          <a:lstStyle/>
          <a:p>
            <a:pPr algn="l">
              <a:spcBef>
                <a:spcPts val="0"/>
              </a:spcBef>
              <a:spcAft>
                <a:spcPts val="0"/>
              </a:spcAft>
            </a:pPr>
            <a:r>
              <a:rPr sz="1400" b="0">
                <a:solidFill>
                  <a:srgbClr val="333333"/>
                </a:solidFill>
              </a:rPr>
              <a:t>Participates in </a:t>
            </a:r>
            <a:r>
              <a:rPr sz="1400" b="1">
                <a:solidFill>
                  <a:srgbClr val="00897B"/>
                </a:solidFill>
              </a:rPr>
              <a:t>Pangasinan-wide agri-tourism expos</a:t>
            </a:r>
            <a:endParaRPr sz="1400" b="1">
              <a:solidFill>
                <a:srgbClr val="00897B"/>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grpSp>
        <p:nvGrpSpPr>
          <p:cNvPr id="36" name="Group 35"/>
          <p:cNvGrpSpPr/>
          <p:nvPr/>
        </p:nvGrpSpPr>
        <p:grpSpPr>
          <a:xfrm>
            <a:off x="0" y="0"/>
            <a:ext cx="12191695" cy="1143000"/>
            <a:chOff x="0" y="0"/>
            <a:chExt cx="12191695" cy="114300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 name="TextBox 2"/>
            <p:cNvSpPr txBox="1"/>
            <p:nvPr/>
          </p:nvSpPr>
          <p:spPr>
            <a:xfrm>
              <a:off x="666733" y="317503"/>
              <a:ext cx="5573705" cy="603242"/>
            </a:xfrm>
            <a:prstGeom prst="rect">
              <a:avLst/>
            </a:prstGeom>
            <a:noFill/>
          </p:spPr>
          <p:txBody>
            <a:bodyPr wrap="none" lIns="73152" tIns="54864" rIns="73152" bIns="54864" anchor="ctr">
              <a:spAutoFit/>
            </a:bodyPr>
            <a:lstStyle/>
            <a:p>
              <a:pPr algn="l">
                <a:spcBef>
                  <a:spcPts val="0"/>
                </a:spcBef>
                <a:spcAft>
                  <a:spcPts val="650"/>
                </a:spcAft>
              </a:pPr>
              <a:r>
                <a:rPr sz="3200" b="1" dirty="0">
                  <a:solidFill>
                    <a:srgbClr val="FFFFFF"/>
                  </a:solidFill>
                </a:rPr>
                <a:t>Issues and Challenges Identified</a:t>
              </a:r>
              <a:endParaRPr sz="3200" b="1" dirty="0">
                <a:solidFill>
                  <a:srgbClr val="FFFFFF"/>
                </a:solidFill>
              </a:endParaRPr>
            </a:p>
          </p:txBody>
        </p:sp>
      </p:grpSp>
      <p:pic>
        <p:nvPicPr>
          <p:cNvPr id="5" name="Picture 4" descr="image.png"/>
          <p:cNvPicPr>
            <a:picLocks noChangeAspect="1"/>
          </p:cNvPicPr>
          <p:nvPr/>
        </p:nvPicPr>
        <p:blipFill>
          <a:blip r:embed="rId1"/>
          <a:stretch>
            <a:fillRect/>
          </a:stretch>
        </p:blipFill>
        <p:spPr>
          <a:xfrm>
            <a:off x="904852" y="1696692"/>
            <a:ext cx="266693" cy="226115"/>
          </a:xfrm>
          <a:prstGeom prst="rect">
            <a:avLst/>
          </a:prstGeom>
        </p:spPr>
      </p:pic>
      <p:pic>
        <p:nvPicPr>
          <p:cNvPr id="8" name="Picture 7" descr="image.png"/>
          <p:cNvPicPr>
            <a:picLocks noChangeAspect="1"/>
          </p:cNvPicPr>
          <p:nvPr/>
        </p:nvPicPr>
        <p:blipFill>
          <a:blip r:embed="rId2"/>
          <a:stretch>
            <a:fillRect/>
          </a:stretch>
        </p:blipFill>
        <p:spPr>
          <a:xfrm>
            <a:off x="904852" y="2194354"/>
            <a:ext cx="209544" cy="164241"/>
          </a:xfrm>
          <a:prstGeom prst="rect">
            <a:avLst/>
          </a:prstGeom>
        </p:spPr>
      </p:pic>
      <p:pic>
        <p:nvPicPr>
          <p:cNvPr id="10" name="Picture 9" descr="image.png"/>
          <p:cNvPicPr>
            <a:picLocks noChangeAspect="1"/>
          </p:cNvPicPr>
          <p:nvPr/>
        </p:nvPicPr>
        <p:blipFill>
          <a:blip r:embed="rId2"/>
          <a:stretch>
            <a:fillRect/>
          </a:stretch>
        </p:blipFill>
        <p:spPr>
          <a:xfrm>
            <a:off x="904852" y="2823004"/>
            <a:ext cx="209544" cy="164241"/>
          </a:xfrm>
          <a:prstGeom prst="rect">
            <a:avLst/>
          </a:prstGeom>
        </p:spPr>
      </p:pic>
      <p:pic>
        <p:nvPicPr>
          <p:cNvPr id="12" name="Picture 11" descr="image.png"/>
          <p:cNvPicPr>
            <a:picLocks noChangeAspect="1"/>
          </p:cNvPicPr>
          <p:nvPr/>
        </p:nvPicPr>
        <p:blipFill>
          <a:blip r:embed="rId2"/>
          <a:stretch>
            <a:fillRect/>
          </a:stretch>
        </p:blipFill>
        <p:spPr>
          <a:xfrm>
            <a:off x="904852" y="3451654"/>
            <a:ext cx="209544" cy="164241"/>
          </a:xfrm>
          <a:prstGeom prst="rect">
            <a:avLst/>
          </a:prstGeom>
        </p:spPr>
      </p:pic>
      <p:grpSp>
        <p:nvGrpSpPr>
          <p:cNvPr id="34" name="Group 33"/>
          <p:cNvGrpSpPr/>
          <p:nvPr/>
        </p:nvGrpSpPr>
        <p:grpSpPr>
          <a:xfrm>
            <a:off x="666750" y="1428750"/>
            <a:ext cx="6863080" cy="5144770"/>
            <a:chOff x="666733" y="1428750"/>
            <a:chExt cx="5924399" cy="3476624"/>
          </a:xfrm>
        </p:grpSpPr>
        <p:sp>
          <p:nvSpPr>
            <p:cNvPr id="4" name="Rounded Rectangle 3"/>
            <p:cNvSpPr/>
            <p:nvPr/>
          </p:nvSpPr>
          <p:spPr>
            <a:xfrm>
              <a:off x="666733" y="1428750"/>
              <a:ext cx="5686282" cy="3476624"/>
            </a:xfrm>
            <a:prstGeom prst="roundRect">
              <a:avLst>
                <a:gd name="adj" fmla="val 438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p>
          </p:txBody>
        </p:sp>
        <p:sp>
          <p:nvSpPr>
            <p:cNvPr id="6" name="TextBox 5"/>
            <p:cNvSpPr txBox="1"/>
            <p:nvPr/>
          </p:nvSpPr>
          <p:spPr>
            <a:xfrm>
              <a:off x="1285842" y="1673765"/>
              <a:ext cx="4389920" cy="281494"/>
            </a:xfrm>
            <a:prstGeom prst="rect">
              <a:avLst/>
            </a:prstGeom>
            <a:noFill/>
          </p:spPr>
          <p:txBody>
            <a:bodyPr wrap="square" lIns="73152" tIns="54864" rIns="73152" bIns="54864" anchor="ctr">
              <a:spAutoFit/>
            </a:bodyPr>
            <a:lstStyle/>
            <a:p>
              <a:pPr algn="l">
                <a:spcBef>
                  <a:spcPts val="0"/>
                </a:spcBef>
                <a:spcAft>
                  <a:spcPts val="0"/>
                </a:spcAft>
              </a:pPr>
              <a:r>
                <a:rPr sz="2000" b="1">
                  <a:solidFill>
                    <a:srgbClr val="00897B"/>
                  </a:solidFill>
                </a:rPr>
                <a:t>Current Tourism Information Challenges</a:t>
              </a:r>
              <a:endParaRPr sz="2000" b="1">
                <a:solidFill>
                  <a:srgbClr val="00897B"/>
                </a:solidFill>
              </a:endParaRPr>
            </a:p>
          </p:txBody>
        </p:sp>
        <p:sp>
          <p:nvSpPr>
            <p:cNvPr id="7" name="TextBox 6"/>
            <p:cNvSpPr txBox="1"/>
            <p:nvPr/>
          </p:nvSpPr>
          <p:spPr>
            <a:xfrm>
              <a:off x="904851" y="2187593"/>
              <a:ext cx="5686281" cy="406364"/>
            </a:xfrm>
            <a:prstGeom prst="rect">
              <a:avLst/>
            </a:prstGeom>
            <a:noFill/>
          </p:spPr>
          <p:txBody>
            <a:bodyPr wrap="square" lIns="182880" tIns="54864" rIns="73152" bIns="54864" anchor="ctr">
              <a:spAutoFit/>
            </a:bodyPr>
            <a:lstStyle/>
            <a:p>
              <a:pPr>
                <a:spcAft>
                  <a:spcPts val="1040"/>
                </a:spcAft>
              </a:pPr>
              <a:r>
                <a:rPr lang="en-GB" sz="1600" dirty="0"/>
                <a:t>Information management is currently </a:t>
              </a:r>
              <a:r>
                <a:rPr lang="en-GB" sz="1600" b="1" dirty="0"/>
                <a:t>fragmented and largely manual</a:t>
              </a:r>
              <a:r>
                <a:rPr lang="en-GB" sz="1600" dirty="0"/>
                <a:t>, resulting in irregularly updated online content</a:t>
              </a:r>
              <a:endParaRPr sz="1600" b="0" dirty="0">
                <a:solidFill>
                  <a:srgbClr val="333333"/>
                </a:solidFill>
              </a:endParaRPr>
            </a:p>
          </p:txBody>
        </p:sp>
        <p:sp>
          <p:nvSpPr>
            <p:cNvPr id="9" name="TextBox 8"/>
            <p:cNvSpPr txBox="1"/>
            <p:nvPr/>
          </p:nvSpPr>
          <p:spPr>
            <a:xfrm>
              <a:off x="904852" y="2732998"/>
              <a:ext cx="5210044" cy="572858"/>
            </a:xfrm>
            <a:prstGeom prst="rect">
              <a:avLst/>
            </a:prstGeom>
            <a:noFill/>
          </p:spPr>
          <p:txBody>
            <a:bodyPr wrap="square" lIns="182880" tIns="54864" rIns="73152" bIns="54864" anchor="ctr">
              <a:spAutoFit/>
            </a:bodyPr>
            <a:lstStyle/>
            <a:p>
              <a:pPr>
                <a:spcAft>
                  <a:spcPts val="1040"/>
                </a:spcAft>
              </a:pPr>
              <a:r>
                <a:rPr lang="en-US" altLang="en-US" sz="1600" b="1" dirty="0">
                  <a:solidFill>
                    <a:srgbClr val="333333"/>
                  </a:solidFill>
                </a:rPr>
                <a:t>Lack of a Unified Hub</a:t>
              </a:r>
              <a:r>
                <a:rPr lang="en-US" altLang="en-US" sz="1600" b="0" dirty="0">
                  <a:solidFill>
                    <a:srgbClr val="333333"/>
                  </a:solidFill>
                </a:rPr>
                <a:t> </a:t>
              </a:r>
              <a:r>
                <a:rPr lang="en-US" altLang="en-US" sz="1600" b="0" dirty="0">
                  <a:solidFill>
                    <a:schemeClr val="tx1"/>
                  </a:solidFill>
                </a:rPr>
                <a:t>There is no single "</a:t>
              </a:r>
              <a:r>
                <a:rPr lang="en-US" altLang="en-US" sz="1600" b="1" dirty="0">
                  <a:solidFill>
                    <a:schemeClr val="tx1"/>
                  </a:solidFill>
                </a:rPr>
                <a:t>source of truth" </a:t>
              </a:r>
              <a:r>
                <a:rPr lang="en-US" altLang="en-US" sz="1600" b="0" dirty="0">
                  <a:solidFill>
                    <a:schemeClr val="tx1"/>
                  </a:solidFill>
                </a:rPr>
                <a:t>for Mangatarem’s tourism. Information is </a:t>
              </a:r>
              <a:r>
                <a:rPr lang="en-US" altLang="en-US" sz="1600" b="1" dirty="0">
                  <a:solidFill>
                    <a:schemeClr val="tx1"/>
                  </a:solidFill>
                </a:rPr>
                <a:t>scattered</a:t>
              </a:r>
              <a:r>
                <a:rPr lang="en-US" altLang="en-US" sz="1600" b="0" dirty="0">
                  <a:solidFill>
                    <a:schemeClr val="tx1"/>
                  </a:solidFill>
                </a:rPr>
                <a:t> across various unofficial social media pages.</a:t>
              </a:r>
              <a:endParaRPr lang="en-US" altLang="en-US" sz="1600" b="0" dirty="0">
                <a:solidFill>
                  <a:schemeClr val="tx1"/>
                </a:solidFill>
              </a:endParaRPr>
            </a:p>
          </p:txBody>
        </p:sp>
        <p:sp>
          <p:nvSpPr>
            <p:cNvPr id="11" name="TextBox 10"/>
            <p:cNvSpPr txBox="1"/>
            <p:nvPr/>
          </p:nvSpPr>
          <p:spPr>
            <a:xfrm>
              <a:off x="904852" y="3444893"/>
              <a:ext cx="5210044" cy="406364"/>
            </a:xfrm>
            <a:prstGeom prst="rect">
              <a:avLst/>
            </a:prstGeom>
            <a:noFill/>
          </p:spPr>
          <p:txBody>
            <a:bodyPr wrap="square" lIns="182880" tIns="54864" rIns="73152" bIns="54864" anchor="ctr">
              <a:spAutoFit/>
            </a:bodyPr>
            <a:lstStyle/>
            <a:p>
              <a:pPr>
                <a:spcAft>
                  <a:spcPts val="1040"/>
                </a:spcAft>
              </a:pPr>
              <a:r>
                <a:rPr lang="en-GB" sz="1600" dirty="0"/>
                <a:t>Slow coordination with stakeholders relying on </a:t>
              </a:r>
              <a:r>
                <a:rPr lang="en-GB" sz="1600" b="1" dirty="0"/>
                <a:t>traditional communication methods</a:t>
              </a:r>
              <a:r>
                <a:rPr lang="en-GB" sz="1600" dirty="0"/>
                <a:t> delays the sharing of accurate information</a:t>
              </a:r>
              <a:endParaRPr sz="1600" b="0" dirty="0">
                <a:solidFill>
                  <a:srgbClr val="333333"/>
                </a:solidFill>
              </a:endParaRPr>
            </a:p>
          </p:txBody>
        </p:sp>
        <p:sp>
          <p:nvSpPr>
            <p:cNvPr id="13" name="TextBox 12"/>
            <p:cNvSpPr txBox="1"/>
            <p:nvPr/>
          </p:nvSpPr>
          <p:spPr>
            <a:xfrm>
              <a:off x="904852" y="4073542"/>
              <a:ext cx="5210044" cy="406364"/>
            </a:xfrm>
            <a:prstGeom prst="rect">
              <a:avLst/>
            </a:prstGeom>
            <a:noFill/>
          </p:spPr>
          <p:txBody>
            <a:bodyPr wrap="square" lIns="182880" tIns="54864" rIns="73152" bIns="54864" anchor="ctr">
              <a:spAutoFit/>
            </a:bodyPr>
            <a:lstStyle/>
            <a:p>
              <a:pPr algn="l">
                <a:spcBef>
                  <a:spcPts val="0"/>
                </a:spcBef>
                <a:spcAft>
                  <a:spcPts val="1040"/>
                </a:spcAft>
              </a:pPr>
              <a:r>
                <a:rPr sz="1600" b="1" dirty="0"/>
                <a:t>Limited accessibility</a:t>
              </a:r>
              <a:r>
                <a:rPr sz="1600" b="0" dirty="0"/>
                <a:t> </a:t>
              </a:r>
              <a:r>
                <a:rPr sz="1600" b="0" dirty="0">
                  <a:solidFill>
                    <a:srgbClr val="333333"/>
                  </a:solidFill>
                </a:rPr>
                <a:t>f</a:t>
              </a:r>
              <a:r>
                <a:rPr sz="1600" b="0" dirty="0">
                  <a:solidFill>
                    <a:schemeClr val="tx1"/>
                  </a:solidFill>
                </a:rPr>
                <a:t>or students and researchers seeking cultural information </a:t>
              </a:r>
              <a:endParaRPr sz="1600" b="0" dirty="0">
                <a:solidFill>
                  <a:schemeClr val="tx1"/>
                </a:solidFill>
              </a:endParaRPr>
            </a:p>
          </p:txBody>
        </p:sp>
      </p:grpSp>
      <p:sp>
        <p:nvSpPr>
          <p:cNvPr id="33" name="Rectangle 32"/>
          <p:cNvSpPr/>
          <p:nvPr/>
        </p:nvSpPr>
        <p:spPr>
          <a:xfrm>
            <a:off x="7567295" y="1536700"/>
            <a:ext cx="4081145" cy="4984750"/>
          </a:xfrm>
          <a:prstGeom prst="rect">
            <a:avLst/>
          </a:prstGeom>
          <a:blipFill>
            <a:blip r:embed="rId3"/>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6733" y="379058"/>
            <a:ext cx="3287438" cy="480131"/>
          </a:xfrm>
          <a:prstGeom prst="rect">
            <a:avLst/>
          </a:prstGeom>
          <a:noFill/>
        </p:spPr>
        <p:txBody>
          <a:bodyPr wrap="none" lIns="73152" tIns="54864" rIns="73152" bIns="54864" anchor="ctr">
            <a:spAutoFit/>
          </a:bodyPr>
          <a:lstStyle/>
          <a:p>
            <a:r>
              <a:rPr lang="en-US" sz="2400" b="1" dirty="0">
                <a:solidFill>
                  <a:schemeClr val="bg1"/>
                </a:solidFill>
              </a:rPr>
              <a:t>Background of the Study</a:t>
            </a:r>
            <a:endParaRPr lang="en-US" sz="2400" b="1" dirty="0">
              <a:solidFill>
                <a:schemeClr val="bg1"/>
              </a:solidFill>
            </a:endParaRPr>
          </a:p>
        </p:txBody>
      </p:sp>
      <p:sp>
        <p:nvSpPr>
          <p:cNvPr id="4" name="Rounded Rectangle 3"/>
          <p:cNvSpPr/>
          <p:nvPr/>
        </p:nvSpPr>
        <p:spPr>
          <a:xfrm>
            <a:off x="673722" y="1333500"/>
            <a:ext cx="10787099" cy="5300662"/>
          </a:xfrm>
          <a:prstGeom prst="roundRect">
            <a:avLst>
              <a:gd name="adj" fmla="val 268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5" name="Picture 4" descr="image.png"/>
          <p:cNvPicPr>
            <a:picLocks noChangeAspect="1"/>
          </p:cNvPicPr>
          <p:nvPr/>
        </p:nvPicPr>
        <p:blipFill>
          <a:blip r:embed="rId1"/>
          <a:stretch>
            <a:fillRect/>
          </a:stretch>
        </p:blipFill>
        <p:spPr>
          <a:xfrm>
            <a:off x="904852" y="1696692"/>
            <a:ext cx="266693" cy="226115"/>
          </a:xfrm>
          <a:prstGeom prst="rect">
            <a:avLst/>
          </a:prstGeom>
        </p:spPr>
      </p:pic>
      <p:sp>
        <p:nvSpPr>
          <p:cNvPr id="6" name="TextBox 5"/>
          <p:cNvSpPr txBox="1"/>
          <p:nvPr/>
        </p:nvSpPr>
        <p:spPr>
          <a:xfrm>
            <a:off x="1285842" y="1574447"/>
            <a:ext cx="3726661" cy="480131"/>
          </a:xfrm>
          <a:prstGeom prst="rect">
            <a:avLst/>
          </a:prstGeom>
          <a:noFill/>
        </p:spPr>
        <p:txBody>
          <a:bodyPr wrap="none" lIns="73152" tIns="54864" rIns="73152" bIns="54864" anchor="ctr">
            <a:spAutoFit/>
          </a:bodyPr>
          <a:lstStyle/>
          <a:p>
            <a:r>
              <a:rPr lang="en-US" sz="2400" b="1" dirty="0">
                <a:solidFill>
                  <a:srgbClr val="26A69A"/>
                </a:solidFill>
              </a:rPr>
              <a:t>The Problem (Current State)</a:t>
            </a:r>
            <a:endParaRPr lang="en-US" sz="2400" dirty="0">
              <a:solidFill>
                <a:srgbClr val="26A69A"/>
              </a:solidFill>
            </a:endParaRPr>
          </a:p>
        </p:txBody>
      </p:sp>
      <p:sp>
        <p:nvSpPr>
          <p:cNvPr id="7" name="TextBox 6"/>
          <p:cNvSpPr txBox="1"/>
          <p:nvPr/>
        </p:nvSpPr>
        <p:spPr>
          <a:xfrm>
            <a:off x="1285842" y="2148906"/>
            <a:ext cx="10187010" cy="1884875"/>
          </a:xfrm>
          <a:prstGeom prst="rect">
            <a:avLst/>
          </a:prstGeom>
          <a:noFill/>
        </p:spPr>
        <p:txBody>
          <a:bodyPr wrap="square" lIns="73152" tIns="54864" rIns="73152" bIns="54864" anchor="ctr">
            <a:spAutoFit/>
          </a:bodyPr>
          <a:lstStyle/>
          <a:p>
            <a:r>
              <a:rPr lang="en-US" sz="2400" b="1" dirty="0"/>
              <a:t>Fragmented &amp; Manual:</a:t>
            </a:r>
            <a:r>
              <a:rPr lang="en-US" sz="2400" dirty="0"/>
              <a:t> Reliance on disconnected, non-digital processes.</a:t>
            </a:r>
            <a:endParaRPr lang="en-US" sz="2400" dirty="0"/>
          </a:p>
          <a:p>
            <a:r>
              <a:rPr lang="en-US" sz="2400" b="1" dirty="0"/>
              <a:t>Data Inconsistency:</a:t>
            </a:r>
            <a:r>
              <a:rPr lang="en-US" sz="2400" dirty="0"/>
              <a:t> Conflict in information across various tourism platforms.</a:t>
            </a:r>
            <a:endParaRPr lang="en-US" sz="2400" dirty="0"/>
          </a:p>
          <a:p>
            <a:r>
              <a:rPr lang="en-US" sz="2400" b="1" dirty="0"/>
              <a:t>Information Lag:</a:t>
            </a:r>
            <a:r>
              <a:rPr lang="en-US" sz="2400" dirty="0"/>
              <a:t> Slow coordination and delayed updates for travelers.</a:t>
            </a:r>
            <a:endParaRPr lang="en-US" sz="2400" dirty="0"/>
          </a:p>
          <a:p>
            <a:r>
              <a:rPr lang="en-US" sz="2400" b="1" dirty="0"/>
              <a:t>Accessibility Barriers:</a:t>
            </a:r>
            <a:r>
              <a:rPr lang="en-US" sz="2400" dirty="0"/>
              <a:t> Limited resources for students, researchers, and tourists.</a:t>
            </a:r>
            <a:endParaRPr lang="en-US" sz="2400" dirty="0"/>
          </a:p>
          <a:p>
            <a:pPr algn="l">
              <a:lnSpc>
                <a:spcPts val="2080"/>
              </a:lnSpc>
              <a:spcBef>
                <a:spcPts val="0"/>
              </a:spcBef>
              <a:spcAft>
                <a:spcPts val="1300"/>
              </a:spcAft>
            </a:pPr>
            <a:endParaRPr lang="en-US" sz="3200" b="0" dirty="0">
              <a:solidFill>
                <a:srgbClr val="333333"/>
              </a:solidFill>
            </a:endParaRPr>
          </a:p>
        </p:txBody>
      </p:sp>
      <p:sp>
        <p:nvSpPr>
          <p:cNvPr id="8" name="Rounded Rectangle 7"/>
          <p:cNvSpPr/>
          <p:nvPr/>
        </p:nvSpPr>
        <p:spPr>
          <a:xfrm>
            <a:off x="666733" y="8753475"/>
            <a:ext cx="5686282" cy="1638299"/>
          </a:xfrm>
          <a:prstGeom prst="roundRect">
            <a:avLst>
              <a:gd name="adj" fmla="val 9302"/>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857228" y="9004935"/>
            <a:ext cx="228594" cy="125729"/>
          </a:xfrm>
          <a:prstGeom prst="rect">
            <a:avLst/>
          </a:prstGeom>
        </p:spPr>
      </p:pic>
      <p:sp>
        <p:nvSpPr>
          <p:cNvPr id="10" name="TextBox 9"/>
          <p:cNvSpPr txBox="1"/>
          <p:nvPr/>
        </p:nvSpPr>
        <p:spPr>
          <a:xfrm>
            <a:off x="1181070" y="8943975"/>
            <a:ext cx="2238319" cy="238124"/>
          </a:xfrm>
          <a:prstGeom prst="rect">
            <a:avLst/>
          </a:prstGeom>
          <a:noFill/>
        </p:spPr>
        <p:txBody>
          <a:bodyPr wrap="none" lIns="73152" tIns="54864" rIns="73152" bIns="54864" anchor="ctr">
            <a:spAutoFit/>
          </a:bodyPr>
          <a:lstStyle/>
          <a:p>
            <a:pPr algn="l">
              <a:spcBef>
                <a:spcPts val="0"/>
              </a:spcBef>
              <a:spcAft>
                <a:spcPts val="0"/>
              </a:spcAft>
            </a:pPr>
            <a:r>
              <a:rPr sz="1195" b="1">
                <a:solidFill>
                  <a:srgbClr val="00897B"/>
                </a:solidFill>
              </a:rPr>
              <a:t>Cost-Effective Technologies</a:t>
            </a:r>
            <a:endParaRPr sz="1195" b="1">
              <a:solidFill>
                <a:srgbClr val="00897B"/>
              </a:solidFill>
            </a:endParaRPr>
          </a:p>
        </p:txBody>
      </p:sp>
      <p:sp>
        <p:nvSpPr>
          <p:cNvPr id="11" name="Rounded Rectangle 10"/>
          <p:cNvSpPr/>
          <p:nvPr/>
        </p:nvSpPr>
        <p:spPr>
          <a:xfrm>
            <a:off x="857228" y="9324975"/>
            <a:ext cx="1476338"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1000099" y="9432822"/>
            <a:ext cx="171445" cy="127204"/>
          </a:xfrm>
          <a:prstGeom prst="rect">
            <a:avLst/>
          </a:prstGeom>
        </p:spPr>
      </p:pic>
      <p:sp>
        <p:nvSpPr>
          <p:cNvPr id="13" name="TextBox 12"/>
          <p:cNvSpPr txBox="1"/>
          <p:nvPr/>
        </p:nvSpPr>
        <p:spPr>
          <a:xfrm>
            <a:off x="1247743" y="9401175"/>
            <a:ext cx="942951"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333333"/>
                </a:solidFill>
              </a:rPr>
              <a:t>Python (Flask)</a:t>
            </a:r>
            <a:endParaRPr sz="955" b="1">
              <a:solidFill>
                <a:srgbClr val="333333"/>
              </a:solidFill>
            </a:endParaRPr>
          </a:p>
        </p:txBody>
      </p:sp>
      <p:sp>
        <p:nvSpPr>
          <p:cNvPr id="14" name="Rounded Rectangle 13"/>
          <p:cNvSpPr/>
          <p:nvPr/>
        </p:nvSpPr>
        <p:spPr>
          <a:xfrm>
            <a:off x="2428814" y="9324975"/>
            <a:ext cx="1133446"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4"/>
          <a:stretch>
            <a:fillRect/>
          </a:stretch>
        </p:blipFill>
        <p:spPr>
          <a:xfrm>
            <a:off x="2571685" y="9427291"/>
            <a:ext cx="171445" cy="138266"/>
          </a:xfrm>
          <a:prstGeom prst="rect">
            <a:avLst/>
          </a:prstGeom>
        </p:spPr>
      </p:pic>
      <p:sp>
        <p:nvSpPr>
          <p:cNvPr id="16" name="TextBox 15"/>
          <p:cNvSpPr txBox="1"/>
          <p:nvPr/>
        </p:nvSpPr>
        <p:spPr>
          <a:xfrm>
            <a:off x="2819329" y="9401175"/>
            <a:ext cx="600059"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333333"/>
                </a:solidFill>
              </a:rPr>
              <a:t>Leaflet.js</a:t>
            </a:r>
            <a:endParaRPr sz="955" b="1">
              <a:solidFill>
                <a:srgbClr val="333333"/>
              </a:solidFill>
            </a:endParaRPr>
          </a:p>
        </p:txBody>
      </p:sp>
      <p:sp>
        <p:nvSpPr>
          <p:cNvPr id="17" name="Rounded Rectangle 16"/>
          <p:cNvSpPr/>
          <p:nvPr/>
        </p:nvSpPr>
        <p:spPr>
          <a:xfrm>
            <a:off x="3657508" y="9324975"/>
            <a:ext cx="1466813"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5"/>
          <a:stretch>
            <a:fillRect/>
          </a:stretch>
        </p:blipFill>
        <p:spPr>
          <a:xfrm>
            <a:off x="3800379" y="9432822"/>
            <a:ext cx="171445" cy="127204"/>
          </a:xfrm>
          <a:prstGeom prst="rect">
            <a:avLst/>
          </a:prstGeom>
        </p:spPr>
      </p:pic>
      <p:sp>
        <p:nvSpPr>
          <p:cNvPr id="19" name="TextBox 18"/>
          <p:cNvSpPr txBox="1"/>
          <p:nvPr/>
        </p:nvSpPr>
        <p:spPr>
          <a:xfrm>
            <a:off x="4048023" y="9401175"/>
            <a:ext cx="933426" cy="190499"/>
          </a:xfrm>
          <a:prstGeom prst="rect">
            <a:avLst/>
          </a:prstGeom>
          <a:noFill/>
        </p:spPr>
        <p:txBody>
          <a:bodyPr wrap="none" lIns="73152" tIns="54864" rIns="73152" bIns="54864" anchor="ctr">
            <a:spAutoFit/>
          </a:bodyPr>
          <a:lstStyle/>
          <a:p>
            <a:pPr algn="l">
              <a:spcBef>
                <a:spcPts val="0"/>
              </a:spcBef>
              <a:spcAft>
                <a:spcPts val="0"/>
              </a:spcAft>
            </a:pPr>
            <a:r>
              <a:rPr sz="955" b="1" dirty="0">
                <a:solidFill>
                  <a:srgbClr val="333333"/>
                </a:solidFill>
              </a:rPr>
              <a:t>SQLite/MySQL</a:t>
            </a:r>
            <a:endParaRPr sz="955" b="1" dirty="0">
              <a:solidFill>
                <a:srgbClr val="333333"/>
              </a:solidFill>
            </a:endParaRPr>
          </a:p>
        </p:txBody>
      </p:sp>
      <p:sp>
        <p:nvSpPr>
          <p:cNvPr id="20" name="Rounded Rectangle 19"/>
          <p:cNvSpPr/>
          <p:nvPr/>
        </p:nvSpPr>
        <p:spPr>
          <a:xfrm>
            <a:off x="857228" y="9763124"/>
            <a:ext cx="1209644"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6"/>
          <a:stretch>
            <a:fillRect/>
          </a:stretch>
        </p:blipFill>
        <p:spPr>
          <a:xfrm>
            <a:off x="1000099" y="9904156"/>
            <a:ext cx="171445" cy="60837"/>
          </a:xfrm>
          <a:prstGeom prst="rect">
            <a:avLst/>
          </a:prstGeom>
        </p:spPr>
      </p:pic>
      <p:sp>
        <p:nvSpPr>
          <p:cNvPr id="22" name="TextBox 21"/>
          <p:cNvSpPr txBox="1"/>
          <p:nvPr/>
        </p:nvSpPr>
        <p:spPr>
          <a:xfrm>
            <a:off x="1247743" y="9839325"/>
            <a:ext cx="676258"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333333"/>
                </a:solidFill>
              </a:rPr>
              <a:t>HTML/CSS</a:t>
            </a:r>
            <a:endParaRPr sz="955" b="1">
              <a:solidFill>
                <a:srgbClr val="333333"/>
              </a:solidFill>
            </a:endParaRPr>
          </a:p>
        </p:txBody>
      </p:sp>
      <p:sp>
        <p:nvSpPr>
          <p:cNvPr id="23" name="Rounded Rectangle 22"/>
          <p:cNvSpPr/>
          <p:nvPr/>
        </p:nvSpPr>
        <p:spPr>
          <a:xfrm>
            <a:off x="2162120" y="9763124"/>
            <a:ext cx="1228694"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7"/>
          <a:stretch>
            <a:fillRect/>
          </a:stretch>
        </p:blipFill>
        <p:spPr>
          <a:xfrm>
            <a:off x="2304992" y="9904156"/>
            <a:ext cx="171445" cy="60837"/>
          </a:xfrm>
          <a:prstGeom prst="rect">
            <a:avLst/>
          </a:prstGeom>
        </p:spPr>
      </p:pic>
      <p:sp>
        <p:nvSpPr>
          <p:cNvPr id="25" name="TextBox 24"/>
          <p:cNvSpPr txBox="1"/>
          <p:nvPr/>
        </p:nvSpPr>
        <p:spPr>
          <a:xfrm>
            <a:off x="2552636" y="9839325"/>
            <a:ext cx="695307"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333333"/>
                </a:solidFill>
              </a:rPr>
              <a:t>JavaScript</a:t>
            </a:r>
            <a:endParaRPr sz="955" b="1">
              <a:solidFill>
                <a:srgbClr val="333333"/>
              </a:solidFill>
            </a:endParaRPr>
          </a:p>
        </p:txBody>
      </p:sp>
      <p:sp>
        <p:nvSpPr>
          <p:cNvPr id="27" name="Rounded Rectangle 26"/>
          <p:cNvSpPr/>
          <p:nvPr/>
        </p:nvSpPr>
        <p:spPr>
          <a:xfrm>
            <a:off x="6638759" y="8762999"/>
            <a:ext cx="4886202" cy="1628775"/>
          </a:xfrm>
          <a:prstGeom prst="roundRect">
            <a:avLst>
              <a:gd name="adj" fmla="val 9356"/>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829254" y="9296400"/>
            <a:ext cx="285742" cy="571500"/>
          </a:xfrm>
          <a:prstGeom prst="roundRect">
            <a:avLst>
              <a:gd name="adj" fmla="val 50000"/>
            </a:avLst>
          </a:prstGeom>
          <a:solidFill>
            <a:srgbClr val="FFFF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8"/>
          <a:stretch>
            <a:fillRect/>
          </a:stretch>
        </p:blipFill>
        <p:spPr>
          <a:xfrm>
            <a:off x="6829254" y="9493897"/>
            <a:ext cx="285742" cy="157454"/>
          </a:xfrm>
          <a:prstGeom prst="rect">
            <a:avLst/>
          </a:prstGeom>
        </p:spPr>
      </p:pic>
      <p:sp>
        <p:nvSpPr>
          <p:cNvPr id="30" name="TextBox 29"/>
          <p:cNvSpPr txBox="1"/>
          <p:nvPr/>
        </p:nvSpPr>
        <p:spPr>
          <a:xfrm>
            <a:off x="7305492" y="9220199"/>
            <a:ext cx="1628734" cy="723900"/>
          </a:xfrm>
          <a:prstGeom prst="rect">
            <a:avLst/>
          </a:prstGeom>
          <a:noFill/>
        </p:spPr>
        <p:txBody>
          <a:bodyPr wrap="square" lIns="73152" tIns="54864" rIns="73152" bIns="54864" anchor="ctr">
            <a:spAutoFit/>
          </a:bodyPr>
          <a:lstStyle/>
          <a:p>
            <a:pPr algn="l">
              <a:lnSpc>
                <a:spcPts val="1625"/>
              </a:lnSpc>
              <a:spcBef>
                <a:spcPts val="0"/>
              </a:spcBef>
              <a:spcAft>
                <a:spcPts val="0"/>
              </a:spcAft>
            </a:pPr>
            <a:r>
              <a:rPr sz="1075" b="1">
                <a:solidFill>
                  <a:srgbClr val="FFFFFF"/>
                </a:solidFill>
              </a:rPr>
              <a:t>Stimulates local economic activity and cultural awareness</a:t>
            </a:r>
            <a:endParaRPr sz="1075" b="1">
              <a:solidFill>
                <a:srgbClr val="FFFFFF"/>
              </a:solidFill>
            </a:endParaRPr>
          </a:p>
        </p:txBody>
      </p:sp>
      <p:sp>
        <p:nvSpPr>
          <p:cNvPr id="31" name="Rounded Rectangle 30"/>
          <p:cNvSpPr/>
          <p:nvPr/>
        </p:nvSpPr>
        <p:spPr>
          <a:xfrm>
            <a:off x="8934226" y="9096375"/>
            <a:ext cx="2362140" cy="304800"/>
          </a:xfrm>
          <a:prstGeom prst="roundRect">
            <a:avLst>
              <a:gd name="adj" fmla="val 125000"/>
            </a:avLst>
          </a:prstGeom>
          <a:solidFill>
            <a:srgbClr val="FFFFFF">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9"/>
          <a:stretch>
            <a:fillRect/>
          </a:stretch>
        </p:blipFill>
        <p:spPr>
          <a:xfrm>
            <a:off x="9048523" y="9190703"/>
            <a:ext cx="171445" cy="116143"/>
          </a:xfrm>
          <a:prstGeom prst="rect">
            <a:avLst/>
          </a:prstGeom>
        </p:spPr>
      </p:pic>
      <p:sp>
        <p:nvSpPr>
          <p:cNvPr id="33" name="TextBox 32"/>
          <p:cNvSpPr txBox="1"/>
          <p:nvPr/>
        </p:nvSpPr>
        <p:spPr>
          <a:xfrm>
            <a:off x="9277118" y="9153525"/>
            <a:ext cx="1904952"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FFFFFF"/>
                </a:solidFill>
              </a:rPr>
              <a:t>Increased attraction visibility</a:t>
            </a:r>
            <a:endParaRPr sz="955" b="1">
              <a:solidFill>
                <a:srgbClr val="FFFFFF"/>
              </a:solidFill>
            </a:endParaRPr>
          </a:p>
        </p:txBody>
      </p:sp>
      <p:sp>
        <p:nvSpPr>
          <p:cNvPr id="34" name="Rounded Rectangle 33"/>
          <p:cNvSpPr/>
          <p:nvPr/>
        </p:nvSpPr>
        <p:spPr>
          <a:xfrm>
            <a:off x="8934226" y="9496425"/>
            <a:ext cx="1838279" cy="304800"/>
          </a:xfrm>
          <a:prstGeom prst="roundRect">
            <a:avLst>
              <a:gd name="adj" fmla="val 125000"/>
            </a:avLst>
          </a:prstGeom>
          <a:solidFill>
            <a:srgbClr val="FFFFFF">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10"/>
          <a:stretch>
            <a:fillRect/>
          </a:stretch>
        </p:blipFill>
        <p:spPr>
          <a:xfrm>
            <a:off x="9048523" y="9579691"/>
            <a:ext cx="171445" cy="138266"/>
          </a:xfrm>
          <a:prstGeom prst="rect">
            <a:avLst/>
          </a:prstGeom>
        </p:spPr>
      </p:pic>
      <p:sp>
        <p:nvSpPr>
          <p:cNvPr id="36" name="TextBox 35"/>
          <p:cNvSpPr txBox="1"/>
          <p:nvPr/>
        </p:nvSpPr>
        <p:spPr>
          <a:xfrm>
            <a:off x="9277118" y="9553575"/>
            <a:ext cx="1381090"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FFFFFF"/>
                </a:solidFill>
              </a:rPr>
              <a:t>Educational resource</a:t>
            </a:r>
            <a:endParaRPr sz="955" b="1">
              <a:solidFill>
                <a:srgbClr val="FFFFFF"/>
              </a:solidFill>
            </a:endParaRPr>
          </a:p>
        </p:txBody>
      </p:sp>
      <p:sp>
        <p:nvSpPr>
          <p:cNvPr id="37" name="Rounded Rectangle 36"/>
          <p:cNvSpPr/>
          <p:nvPr/>
        </p:nvSpPr>
        <p:spPr>
          <a:xfrm>
            <a:off x="8934226" y="9896475"/>
            <a:ext cx="1847803" cy="304800"/>
          </a:xfrm>
          <a:prstGeom prst="roundRect">
            <a:avLst>
              <a:gd name="adj" fmla="val 125000"/>
            </a:avLst>
          </a:prstGeom>
          <a:solidFill>
            <a:srgbClr val="FFFFFF">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11"/>
          <a:stretch>
            <a:fillRect/>
          </a:stretch>
        </p:blipFill>
        <p:spPr>
          <a:xfrm>
            <a:off x="9048523" y="9974211"/>
            <a:ext cx="171445" cy="149327"/>
          </a:xfrm>
          <a:prstGeom prst="rect">
            <a:avLst/>
          </a:prstGeom>
        </p:spPr>
      </p:pic>
      <p:sp>
        <p:nvSpPr>
          <p:cNvPr id="39" name="TextBox 38"/>
          <p:cNvSpPr txBox="1"/>
          <p:nvPr/>
        </p:nvSpPr>
        <p:spPr>
          <a:xfrm>
            <a:off x="9277118" y="9953625"/>
            <a:ext cx="1390615"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FFFFFF"/>
                </a:solidFill>
              </a:rPr>
              <a:t>Cultural preservation</a:t>
            </a:r>
            <a:endParaRPr sz="955" b="1">
              <a:solidFill>
                <a:srgbClr val="FFFFFF"/>
              </a:solidFill>
            </a:endParaRPr>
          </a:p>
        </p:txBody>
      </p:sp>
      <p:pic>
        <p:nvPicPr>
          <p:cNvPr id="41" name="Picture 40" descr="image.png"/>
          <p:cNvPicPr>
            <a:picLocks noChangeAspect="1"/>
          </p:cNvPicPr>
          <p:nvPr/>
        </p:nvPicPr>
        <p:blipFill>
          <a:blip r:embed="rId1"/>
          <a:stretch>
            <a:fillRect/>
          </a:stretch>
        </p:blipFill>
        <p:spPr>
          <a:xfrm>
            <a:off x="790554" y="3954061"/>
            <a:ext cx="266693" cy="226115"/>
          </a:xfrm>
          <a:prstGeom prst="rect">
            <a:avLst/>
          </a:prstGeom>
        </p:spPr>
      </p:pic>
      <p:sp>
        <p:nvSpPr>
          <p:cNvPr id="42" name="TextBox 41"/>
          <p:cNvSpPr txBox="1"/>
          <p:nvPr/>
        </p:nvSpPr>
        <p:spPr>
          <a:xfrm>
            <a:off x="1171544" y="3831816"/>
            <a:ext cx="4206857" cy="480131"/>
          </a:xfrm>
          <a:prstGeom prst="rect">
            <a:avLst/>
          </a:prstGeom>
          <a:noFill/>
        </p:spPr>
        <p:txBody>
          <a:bodyPr wrap="none" lIns="73152" tIns="54864" rIns="73152" bIns="54864" anchor="ctr">
            <a:spAutoFit/>
          </a:bodyPr>
          <a:lstStyle/>
          <a:p>
            <a:r>
              <a:rPr lang="en-US" sz="2400" b="1" dirty="0">
                <a:solidFill>
                  <a:srgbClr val="26A69A"/>
                </a:solidFill>
              </a:rPr>
              <a:t>The Solution (Proposed System)</a:t>
            </a:r>
            <a:endParaRPr lang="en-US" sz="3200" dirty="0">
              <a:solidFill>
                <a:srgbClr val="26A69A"/>
              </a:solidFill>
            </a:endParaRPr>
          </a:p>
        </p:txBody>
      </p:sp>
      <p:sp>
        <p:nvSpPr>
          <p:cNvPr id="43" name="TextBox 42"/>
          <p:cNvSpPr txBox="1"/>
          <p:nvPr/>
        </p:nvSpPr>
        <p:spPr>
          <a:xfrm>
            <a:off x="1171544" y="4452979"/>
            <a:ext cx="10187010" cy="1588127"/>
          </a:xfrm>
          <a:prstGeom prst="rect">
            <a:avLst/>
          </a:prstGeom>
          <a:noFill/>
        </p:spPr>
        <p:txBody>
          <a:bodyPr wrap="square" lIns="73152" tIns="54864" rIns="73152" bIns="54864" anchor="ctr">
            <a:spAutoFit/>
          </a:bodyPr>
          <a:lstStyle/>
          <a:p>
            <a:r>
              <a:rPr lang="en-US" sz="2400" b="1" dirty="0"/>
              <a:t>Centralized Platform:</a:t>
            </a:r>
            <a:r>
              <a:rPr lang="en-US" sz="2400" dirty="0"/>
              <a:t> A unified Interactive Digital Cultural Map.</a:t>
            </a:r>
            <a:endParaRPr lang="en-US" sz="2400" dirty="0"/>
          </a:p>
          <a:p>
            <a:r>
              <a:rPr lang="en-US" sz="2400" b="1" dirty="0"/>
              <a:t>Digital Preservation:</a:t>
            </a:r>
            <a:r>
              <a:rPr lang="en-US" sz="2400" dirty="0"/>
              <a:t> Modernizing the documentation of </a:t>
            </a:r>
            <a:r>
              <a:rPr lang="en-US" sz="2400" dirty="0" err="1"/>
              <a:t>Mangatarem’s</a:t>
            </a:r>
            <a:r>
              <a:rPr lang="en-US" sz="2400" dirty="0"/>
              <a:t> heritage.</a:t>
            </a:r>
            <a:endParaRPr lang="en-US" sz="2400" dirty="0"/>
          </a:p>
          <a:p>
            <a:r>
              <a:rPr lang="en-US" sz="2400" b="1" dirty="0"/>
              <a:t>Enhanced Accuracy:</a:t>
            </a:r>
            <a:r>
              <a:rPr lang="en-US" sz="2400" dirty="0"/>
              <a:t> Real-time, standardized updates for the LGU and public.</a:t>
            </a:r>
            <a:endParaRPr lang="en-US" sz="2400" dirty="0"/>
          </a:p>
          <a:p>
            <a:r>
              <a:rPr lang="en-US" sz="2400" b="1" dirty="0"/>
              <a:t>Efficient Promotion:</a:t>
            </a:r>
            <a:r>
              <a:rPr lang="en-US" sz="2400" dirty="0"/>
              <a:t> Streamlined tourism management and local data access.</a:t>
            </a:r>
            <a:endParaRPr lang="en-US" sz="2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6733" y="380999"/>
            <a:ext cx="10858228" cy="476249"/>
          </a:xfrm>
          <a:prstGeom prst="rect">
            <a:avLst/>
          </a:prstGeom>
          <a:noFill/>
        </p:spPr>
        <p:txBody>
          <a:bodyPr wrap="none" lIns="73152" tIns="54864" rIns="73152" bIns="54864" anchor="ctr">
            <a:spAutoFit/>
          </a:bodyPr>
          <a:lstStyle/>
          <a:p>
            <a:pPr algn="l">
              <a:spcBef>
                <a:spcPts val="0"/>
              </a:spcBef>
              <a:spcAft>
                <a:spcPts val="650"/>
              </a:spcAft>
            </a:pPr>
            <a:r>
              <a:rPr sz="2390" b="1" dirty="0">
                <a:solidFill>
                  <a:srgbClr val="FFFFFF"/>
                </a:solidFill>
              </a:rPr>
              <a:t>Main Objective/Purpose of the System</a:t>
            </a:r>
            <a:endParaRPr sz="2390" b="1" dirty="0">
              <a:solidFill>
                <a:srgbClr val="FFFFFF"/>
              </a:solidFill>
            </a:endParaRPr>
          </a:p>
        </p:txBody>
      </p:sp>
      <p:sp>
        <p:nvSpPr>
          <p:cNvPr id="4" name="Rounded Rectangle 3"/>
          <p:cNvSpPr/>
          <p:nvPr/>
        </p:nvSpPr>
        <p:spPr>
          <a:xfrm>
            <a:off x="673722" y="1333500"/>
            <a:ext cx="10787099" cy="5300662"/>
          </a:xfrm>
          <a:prstGeom prst="roundRect">
            <a:avLst>
              <a:gd name="adj" fmla="val 268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5" name="Picture 4" descr="image.png"/>
          <p:cNvPicPr>
            <a:picLocks noChangeAspect="1"/>
          </p:cNvPicPr>
          <p:nvPr/>
        </p:nvPicPr>
        <p:blipFill>
          <a:blip r:embed="rId1"/>
          <a:stretch>
            <a:fillRect/>
          </a:stretch>
        </p:blipFill>
        <p:spPr>
          <a:xfrm>
            <a:off x="904852" y="1696692"/>
            <a:ext cx="266693" cy="226115"/>
          </a:xfrm>
          <a:prstGeom prst="rect">
            <a:avLst/>
          </a:prstGeom>
        </p:spPr>
      </p:pic>
      <p:sp>
        <p:nvSpPr>
          <p:cNvPr id="6" name="TextBox 5"/>
          <p:cNvSpPr txBox="1"/>
          <p:nvPr/>
        </p:nvSpPr>
        <p:spPr>
          <a:xfrm>
            <a:off x="1285842" y="1574447"/>
            <a:ext cx="2178032" cy="480131"/>
          </a:xfrm>
          <a:prstGeom prst="rect">
            <a:avLst/>
          </a:prstGeom>
          <a:noFill/>
        </p:spPr>
        <p:txBody>
          <a:bodyPr wrap="none" lIns="73152" tIns="54864" rIns="73152" bIns="54864" anchor="ctr">
            <a:spAutoFit/>
          </a:bodyPr>
          <a:lstStyle/>
          <a:p>
            <a:pPr algn="l">
              <a:spcBef>
                <a:spcPts val="0"/>
              </a:spcBef>
              <a:spcAft>
                <a:spcPts val="0"/>
              </a:spcAft>
            </a:pPr>
            <a:r>
              <a:rPr sz="2400" b="1" dirty="0">
                <a:solidFill>
                  <a:srgbClr val="00897B"/>
                </a:solidFill>
              </a:rPr>
              <a:t>System Purpose</a:t>
            </a:r>
            <a:endParaRPr sz="2400" b="1" dirty="0">
              <a:solidFill>
                <a:srgbClr val="00897B"/>
              </a:solidFill>
            </a:endParaRPr>
          </a:p>
        </p:txBody>
      </p:sp>
      <p:sp>
        <p:nvSpPr>
          <p:cNvPr id="7" name="TextBox 6"/>
          <p:cNvSpPr txBox="1"/>
          <p:nvPr/>
        </p:nvSpPr>
        <p:spPr>
          <a:xfrm>
            <a:off x="1038198" y="1939603"/>
            <a:ext cx="10187010" cy="4433586"/>
          </a:xfrm>
          <a:prstGeom prst="rect">
            <a:avLst/>
          </a:prstGeom>
          <a:noFill/>
        </p:spPr>
        <p:txBody>
          <a:bodyPr wrap="square" lIns="73152" tIns="54864" rIns="73152" bIns="54864" anchor="ctr">
            <a:spAutoFit/>
          </a:bodyPr>
          <a:lstStyle/>
          <a:p>
            <a:pPr algn="l">
              <a:lnSpc>
                <a:spcPts val="2080"/>
              </a:lnSpc>
              <a:spcBef>
                <a:spcPts val="0"/>
              </a:spcBef>
              <a:spcAft>
                <a:spcPts val="1300"/>
              </a:spcAft>
            </a:pPr>
            <a:r>
              <a:rPr sz="2400" b="0" dirty="0">
                <a:solidFill>
                  <a:srgbClr val="333333"/>
                </a:solidFill>
              </a:rPr>
              <a:t> The primary objective of this capstone project is to design and develop the </a:t>
            </a:r>
            <a:r>
              <a:rPr sz="2400" b="1" dirty="0">
                <a:solidFill>
                  <a:srgbClr val="00897B"/>
                </a:solidFill>
              </a:rPr>
              <a:t>Interactive Digital Cultural Map and Local Tourism Information System</a:t>
            </a:r>
            <a:r>
              <a:rPr sz="2400" b="0" dirty="0">
                <a:solidFill>
                  <a:srgbClr val="333333"/>
                </a:solidFill>
              </a:rPr>
              <a:t>, a centralized web-based platform dedicated to showcasing the cultural identity and tourism assets of </a:t>
            </a:r>
            <a:r>
              <a:rPr sz="2400" b="0" dirty="0" err="1">
                <a:solidFill>
                  <a:srgbClr val="333333"/>
                </a:solidFill>
              </a:rPr>
              <a:t>Mangatarem</a:t>
            </a:r>
            <a:r>
              <a:rPr sz="2400" b="0" dirty="0">
                <a:solidFill>
                  <a:srgbClr val="333333"/>
                </a:solidFill>
              </a:rPr>
              <a:t>, Pangasinan. This system addresses the </a:t>
            </a:r>
            <a:r>
              <a:rPr sz="2400" b="1" dirty="0">
                <a:solidFill>
                  <a:srgbClr val="00897B"/>
                </a:solidFill>
              </a:rPr>
              <a:t>information gap</a:t>
            </a:r>
            <a:r>
              <a:rPr sz="2400" b="0" dirty="0">
                <a:solidFill>
                  <a:srgbClr val="333333"/>
                </a:solidFill>
              </a:rPr>
              <a:t> by integrating an interactive mapping interface with a comprehensive information portal, allowing users to easily locate and explore barangay-level cultural spots, historical landmarks, and local festivities. Built using </a:t>
            </a:r>
            <a:r>
              <a:rPr sz="2400" b="1" dirty="0">
                <a:solidFill>
                  <a:srgbClr val="00897B"/>
                </a:solidFill>
              </a:rPr>
              <a:t>cost-effective and scalable</a:t>
            </a:r>
            <a:r>
              <a:rPr sz="2400" b="0" dirty="0">
                <a:solidFill>
                  <a:srgbClr val="333333"/>
                </a:solidFill>
              </a:rPr>
              <a:t> open-source technologies like Python (Flask) and Leaflet.js</a:t>
            </a:r>
            <a:r>
              <a:rPr lang="en-US" sz="2400" b="0" dirty="0">
                <a:solidFill>
                  <a:srgbClr val="333333"/>
                </a:solidFill>
              </a:rPr>
              <a:t> or </a:t>
            </a:r>
            <a:r>
              <a:rPr lang="en-US" sz="2400" b="0" dirty="0" err="1">
                <a:solidFill>
                  <a:srgbClr val="333333"/>
                </a:solidFill>
              </a:rPr>
              <a:t>mapbox</a:t>
            </a:r>
            <a:r>
              <a:rPr sz="2400" b="0" dirty="0">
                <a:solidFill>
                  <a:srgbClr val="333333"/>
                </a:solidFill>
              </a:rPr>
              <a:t>, the system provides a viable solution for implementation by the Local Government Unit. The significance of this project lies in its ability to bridge the information gap for tourists requiring navigation and students conducting cultural research, thereby </a:t>
            </a:r>
            <a:r>
              <a:rPr sz="2400" b="1" dirty="0">
                <a:solidFill>
                  <a:srgbClr val="00897B"/>
                </a:solidFill>
              </a:rPr>
              <a:t>transforming how local heritage</a:t>
            </a:r>
            <a:r>
              <a:rPr sz="2400" b="0" dirty="0">
                <a:solidFill>
                  <a:srgbClr val="333333"/>
                </a:solidFill>
              </a:rPr>
              <a:t> is accessed and preserved. Ultimately, the system aims to stimulate local economic activity by increasing the visibility of community attractions while fostering a deeper sense of pride and cultural awareness among the residents of </a:t>
            </a:r>
            <a:r>
              <a:rPr sz="2400" b="0" dirty="0" err="1">
                <a:solidFill>
                  <a:srgbClr val="333333"/>
                </a:solidFill>
              </a:rPr>
              <a:t>Mangatarem</a:t>
            </a:r>
            <a:r>
              <a:rPr sz="2400" b="0" dirty="0">
                <a:solidFill>
                  <a:srgbClr val="333333"/>
                </a:solidFill>
              </a:rPr>
              <a:t>. </a:t>
            </a:r>
            <a:endParaRPr sz="2400" b="0" dirty="0">
              <a:solidFill>
                <a:srgbClr val="333333"/>
              </a:solidFill>
            </a:endParaRPr>
          </a:p>
        </p:txBody>
      </p:sp>
      <p:sp>
        <p:nvSpPr>
          <p:cNvPr id="8" name="Rounded Rectangle 7"/>
          <p:cNvSpPr/>
          <p:nvPr/>
        </p:nvSpPr>
        <p:spPr>
          <a:xfrm>
            <a:off x="666733" y="8753475"/>
            <a:ext cx="5686282" cy="1638299"/>
          </a:xfrm>
          <a:prstGeom prst="roundRect">
            <a:avLst>
              <a:gd name="adj" fmla="val 9302"/>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857228" y="9004935"/>
            <a:ext cx="228594" cy="125729"/>
          </a:xfrm>
          <a:prstGeom prst="rect">
            <a:avLst/>
          </a:prstGeom>
        </p:spPr>
      </p:pic>
      <p:sp>
        <p:nvSpPr>
          <p:cNvPr id="10" name="TextBox 9"/>
          <p:cNvSpPr txBox="1"/>
          <p:nvPr/>
        </p:nvSpPr>
        <p:spPr>
          <a:xfrm>
            <a:off x="1181070" y="8943975"/>
            <a:ext cx="2238319" cy="238124"/>
          </a:xfrm>
          <a:prstGeom prst="rect">
            <a:avLst/>
          </a:prstGeom>
          <a:noFill/>
        </p:spPr>
        <p:txBody>
          <a:bodyPr wrap="none" lIns="73152" tIns="54864" rIns="73152" bIns="54864" anchor="ctr">
            <a:spAutoFit/>
          </a:bodyPr>
          <a:lstStyle/>
          <a:p>
            <a:pPr algn="l">
              <a:spcBef>
                <a:spcPts val="0"/>
              </a:spcBef>
              <a:spcAft>
                <a:spcPts val="0"/>
              </a:spcAft>
            </a:pPr>
            <a:r>
              <a:rPr sz="1195" b="1">
                <a:solidFill>
                  <a:srgbClr val="00897B"/>
                </a:solidFill>
              </a:rPr>
              <a:t>Cost-Effective Technologies</a:t>
            </a:r>
            <a:endParaRPr sz="1195" b="1">
              <a:solidFill>
                <a:srgbClr val="00897B"/>
              </a:solidFill>
            </a:endParaRPr>
          </a:p>
        </p:txBody>
      </p:sp>
      <p:sp>
        <p:nvSpPr>
          <p:cNvPr id="11" name="Rounded Rectangle 10"/>
          <p:cNvSpPr/>
          <p:nvPr/>
        </p:nvSpPr>
        <p:spPr>
          <a:xfrm>
            <a:off x="857228" y="9324975"/>
            <a:ext cx="1476338"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1000099" y="9432822"/>
            <a:ext cx="171445" cy="127204"/>
          </a:xfrm>
          <a:prstGeom prst="rect">
            <a:avLst/>
          </a:prstGeom>
        </p:spPr>
      </p:pic>
      <p:sp>
        <p:nvSpPr>
          <p:cNvPr id="13" name="TextBox 12"/>
          <p:cNvSpPr txBox="1"/>
          <p:nvPr/>
        </p:nvSpPr>
        <p:spPr>
          <a:xfrm>
            <a:off x="1247743" y="9401175"/>
            <a:ext cx="942951"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333333"/>
                </a:solidFill>
              </a:rPr>
              <a:t>Python (Flask)</a:t>
            </a:r>
            <a:endParaRPr sz="955" b="1">
              <a:solidFill>
                <a:srgbClr val="333333"/>
              </a:solidFill>
            </a:endParaRPr>
          </a:p>
        </p:txBody>
      </p:sp>
      <p:sp>
        <p:nvSpPr>
          <p:cNvPr id="14" name="Rounded Rectangle 13"/>
          <p:cNvSpPr/>
          <p:nvPr/>
        </p:nvSpPr>
        <p:spPr>
          <a:xfrm>
            <a:off x="2428814" y="9324975"/>
            <a:ext cx="1133446"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4"/>
          <a:stretch>
            <a:fillRect/>
          </a:stretch>
        </p:blipFill>
        <p:spPr>
          <a:xfrm>
            <a:off x="2571685" y="9427291"/>
            <a:ext cx="171445" cy="138266"/>
          </a:xfrm>
          <a:prstGeom prst="rect">
            <a:avLst/>
          </a:prstGeom>
        </p:spPr>
      </p:pic>
      <p:sp>
        <p:nvSpPr>
          <p:cNvPr id="16" name="TextBox 15"/>
          <p:cNvSpPr txBox="1"/>
          <p:nvPr/>
        </p:nvSpPr>
        <p:spPr>
          <a:xfrm>
            <a:off x="2819329" y="9401175"/>
            <a:ext cx="600059"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333333"/>
                </a:solidFill>
              </a:rPr>
              <a:t>Leaflet.js</a:t>
            </a:r>
            <a:endParaRPr sz="955" b="1">
              <a:solidFill>
                <a:srgbClr val="333333"/>
              </a:solidFill>
            </a:endParaRPr>
          </a:p>
        </p:txBody>
      </p:sp>
      <p:sp>
        <p:nvSpPr>
          <p:cNvPr id="17" name="Rounded Rectangle 16"/>
          <p:cNvSpPr/>
          <p:nvPr/>
        </p:nvSpPr>
        <p:spPr>
          <a:xfrm>
            <a:off x="3657508" y="9324975"/>
            <a:ext cx="1466813"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5"/>
          <a:stretch>
            <a:fillRect/>
          </a:stretch>
        </p:blipFill>
        <p:spPr>
          <a:xfrm>
            <a:off x="3800379" y="9432822"/>
            <a:ext cx="171445" cy="127204"/>
          </a:xfrm>
          <a:prstGeom prst="rect">
            <a:avLst/>
          </a:prstGeom>
        </p:spPr>
      </p:pic>
      <p:sp>
        <p:nvSpPr>
          <p:cNvPr id="19" name="TextBox 18"/>
          <p:cNvSpPr txBox="1"/>
          <p:nvPr/>
        </p:nvSpPr>
        <p:spPr>
          <a:xfrm>
            <a:off x="4048023" y="9401175"/>
            <a:ext cx="933426" cy="190499"/>
          </a:xfrm>
          <a:prstGeom prst="rect">
            <a:avLst/>
          </a:prstGeom>
          <a:noFill/>
        </p:spPr>
        <p:txBody>
          <a:bodyPr wrap="none" lIns="73152" tIns="54864" rIns="73152" bIns="54864" anchor="ctr">
            <a:spAutoFit/>
          </a:bodyPr>
          <a:lstStyle/>
          <a:p>
            <a:pPr algn="l">
              <a:spcBef>
                <a:spcPts val="0"/>
              </a:spcBef>
              <a:spcAft>
                <a:spcPts val="0"/>
              </a:spcAft>
            </a:pPr>
            <a:r>
              <a:rPr sz="955" b="1" dirty="0">
                <a:solidFill>
                  <a:srgbClr val="333333"/>
                </a:solidFill>
              </a:rPr>
              <a:t>SQLite/MySQL</a:t>
            </a:r>
            <a:endParaRPr sz="955" b="1" dirty="0">
              <a:solidFill>
                <a:srgbClr val="333333"/>
              </a:solidFill>
            </a:endParaRPr>
          </a:p>
        </p:txBody>
      </p:sp>
      <p:sp>
        <p:nvSpPr>
          <p:cNvPr id="20" name="Rounded Rectangle 19"/>
          <p:cNvSpPr/>
          <p:nvPr/>
        </p:nvSpPr>
        <p:spPr>
          <a:xfrm>
            <a:off x="857228" y="9763124"/>
            <a:ext cx="1209644"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6"/>
          <a:stretch>
            <a:fillRect/>
          </a:stretch>
        </p:blipFill>
        <p:spPr>
          <a:xfrm>
            <a:off x="1000099" y="9904156"/>
            <a:ext cx="171445" cy="60837"/>
          </a:xfrm>
          <a:prstGeom prst="rect">
            <a:avLst/>
          </a:prstGeom>
        </p:spPr>
      </p:pic>
      <p:sp>
        <p:nvSpPr>
          <p:cNvPr id="22" name="TextBox 21"/>
          <p:cNvSpPr txBox="1"/>
          <p:nvPr/>
        </p:nvSpPr>
        <p:spPr>
          <a:xfrm>
            <a:off x="1247743" y="9839325"/>
            <a:ext cx="676258"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333333"/>
                </a:solidFill>
              </a:rPr>
              <a:t>HTML/CSS</a:t>
            </a:r>
            <a:endParaRPr sz="955" b="1">
              <a:solidFill>
                <a:srgbClr val="333333"/>
              </a:solidFill>
            </a:endParaRPr>
          </a:p>
        </p:txBody>
      </p:sp>
      <p:sp>
        <p:nvSpPr>
          <p:cNvPr id="23" name="Rounded Rectangle 22"/>
          <p:cNvSpPr/>
          <p:nvPr/>
        </p:nvSpPr>
        <p:spPr>
          <a:xfrm>
            <a:off x="2162120" y="9763124"/>
            <a:ext cx="1228694"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7"/>
          <a:stretch>
            <a:fillRect/>
          </a:stretch>
        </p:blipFill>
        <p:spPr>
          <a:xfrm>
            <a:off x="2304992" y="9904156"/>
            <a:ext cx="171445" cy="60837"/>
          </a:xfrm>
          <a:prstGeom prst="rect">
            <a:avLst/>
          </a:prstGeom>
        </p:spPr>
      </p:pic>
      <p:sp>
        <p:nvSpPr>
          <p:cNvPr id="25" name="TextBox 24"/>
          <p:cNvSpPr txBox="1"/>
          <p:nvPr/>
        </p:nvSpPr>
        <p:spPr>
          <a:xfrm>
            <a:off x="2552636" y="9839325"/>
            <a:ext cx="695307"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333333"/>
                </a:solidFill>
              </a:rPr>
              <a:t>JavaScript</a:t>
            </a:r>
            <a:endParaRPr sz="955" b="1">
              <a:solidFill>
                <a:srgbClr val="333333"/>
              </a:solidFill>
            </a:endParaRPr>
          </a:p>
        </p:txBody>
      </p:sp>
      <p:sp>
        <p:nvSpPr>
          <p:cNvPr id="27" name="Rounded Rectangle 26"/>
          <p:cNvSpPr/>
          <p:nvPr/>
        </p:nvSpPr>
        <p:spPr>
          <a:xfrm>
            <a:off x="6638759" y="8762999"/>
            <a:ext cx="4886202" cy="1628775"/>
          </a:xfrm>
          <a:prstGeom prst="roundRect">
            <a:avLst>
              <a:gd name="adj" fmla="val 9356"/>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829254" y="9296400"/>
            <a:ext cx="285742" cy="571500"/>
          </a:xfrm>
          <a:prstGeom prst="roundRect">
            <a:avLst>
              <a:gd name="adj" fmla="val 50000"/>
            </a:avLst>
          </a:prstGeom>
          <a:solidFill>
            <a:srgbClr val="FFFF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8"/>
          <a:stretch>
            <a:fillRect/>
          </a:stretch>
        </p:blipFill>
        <p:spPr>
          <a:xfrm>
            <a:off x="6829254" y="9493897"/>
            <a:ext cx="285742" cy="157454"/>
          </a:xfrm>
          <a:prstGeom prst="rect">
            <a:avLst/>
          </a:prstGeom>
        </p:spPr>
      </p:pic>
      <p:sp>
        <p:nvSpPr>
          <p:cNvPr id="30" name="TextBox 29"/>
          <p:cNvSpPr txBox="1"/>
          <p:nvPr/>
        </p:nvSpPr>
        <p:spPr>
          <a:xfrm>
            <a:off x="7305492" y="9220199"/>
            <a:ext cx="1628734" cy="723900"/>
          </a:xfrm>
          <a:prstGeom prst="rect">
            <a:avLst/>
          </a:prstGeom>
          <a:noFill/>
        </p:spPr>
        <p:txBody>
          <a:bodyPr wrap="square" lIns="73152" tIns="54864" rIns="73152" bIns="54864" anchor="ctr">
            <a:spAutoFit/>
          </a:bodyPr>
          <a:lstStyle/>
          <a:p>
            <a:pPr algn="l">
              <a:lnSpc>
                <a:spcPts val="1625"/>
              </a:lnSpc>
              <a:spcBef>
                <a:spcPts val="0"/>
              </a:spcBef>
              <a:spcAft>
                <a:spcPts val="0"/>
              </a:spcAft>
            </a:pPr>
            <a:r>
              <a:rPr sz="1075" b="1">
                <a:solidFill>
                  <a:srgbClr val="FFFFFF"/>
                </a:solidFill>
              </a:rPr>
              <a:t>Stimulates local economic activity and cultural awareness</a:t>
            </a:r>
            <a:endParaRPr sz="1075" b="1">
              <a:solidFill>
                <a:srgbClr val="FFFFFF"/>
              </a:solidFill>
            </a:endParaRPr>
          </a:p>
        </p:txBody>
      </p:sp>
      <p:sp>
        <p:nvSpPr>
          <p:cNvPr id="31" name="Rounded Rectangle 30"/>
          <p:cNvSpPr/>
          <p:nvPr/>
        </p:nvSpPr>
        <p:spPr>
          <a:xfrm>
            <a:off x="8934226" y="9096375"/>
            <a:ext cx="2362140" cy="304800"/>
          </a:xfrm>
          <a:prstGeom prst="roundRect">
            <a:avLst>
              <a:gd name="adj" fmla="val 125000"/>
            </a:avLst>
          </a:prstGeom>
          <a:solidFill>
            <a:srgbClr val="FFFFFF">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9"/>
          <a:stretch>
            <a:fillRect/>
          </a:stretch>
        </p:blipFill>
        <p:spPr>
          <a:xfrm>
            <a:off x="9048523" y="9190703"/>
            <a:ext cx="171445" cy="116143"/>
          </a:xfrm>
          <a:prstGeom prst="rect">
            <a:avLst/>
          </a:prstGeom>
        </p:spPr>
      </p:pic>
      <p:sp>
        <p:nvSpPr>
          <p:cNvPr id="33" name="TextBox 32"/>
          <p:cNvSpPr txBox="1"/>
          <p:nvPr/>
        </p:nvSpPr>
        <p:spPr>
          <a:xfrm>
            <a:off x="9277118" y="9153525"/>
            <a:ext cx="1904952"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FFFFFF"/>
                </a:solidFill>
              </a:rPr>
              <a:t>Increased attraction visibility</a:t>
            </a:r>
            <a:endParaRPr sz="955" b="1">
              <a:solidFill>
                <a:srgbClr val="FFFFFF"/>
              </a:solidFill>
            </a:endParaRPr>
          </a:p>
        </p:txBody>
      </p:sp>
      <p:sp>
        <p:nvSpPr>
          <p:cNvPr id="34" name="Rounded Rectangle 33"/>
          <p:cNvSpPr/>
          <p:nvPr/>
        </p:nvSpPr>
        <p:spPr>
          <a:xfrm>
            <a:off x="8934226" y="9496425"/>
            <a:ext cx="1838279" cy="304800"/>
          </a:xfrm>
          <a:prstGeom prst="roundRect">
            <a:avLst>
              <a:gd name="adj" fmla="val 125000"/>
            </a:avLst>
          </a:prstGeom>
          <a:solidFill>
            <a:srgbClr val="FFFFFF">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10"/>
          <a:stretch>
            <a:fillRect/>
          </a:stretch>
        </p:blipFill>
        <p:spPr>
          <a:xfrm>
            <a:off x="9048523" y="9579691"/>
            <a:ext cx="171445" cy="138266"/>
          </a:xfrm>
          <a:prstGeom prst="rect">
            <a:avLst/>
          </a:prstGeom>
        </p:spPr>
      </p:pic>
      <p:sp>
        <p:nvSpPr>
          <p:cNvPr id="36" name="TextBox 35"/>
          <p:cNvSpPr txBox="1"/>
          <p:nvPr/>
        </p:nvSpPr>
        <p:spPr>
          <a:xfrm>
            <a:off x="9277118" y="9553575"/>
            <a:ext cx="1381090"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FFFFFF"/>
                </a:solidFill>
              </a:rPr>
              <a:t>Educational resource</a:t>
            </a:r>
            <a:endParaRPr sz="955" b="1">
              <a:solidFill>
                <a:srgbClr val="FFFFFF"/>
              </a:solidFill>
            </a:endParaRPr>
          </a:p>
        </p:txBody>
      </p:sp>
      <p:sp>
        <p:nvSpPr>
          <p:cNvPr id="37" name="Rounded Rectangle 36"/>
          <p:cNvSpPr/>
          <p:nvPr/>
        </p:nvSpPr>
        <p:spPr>
          <a:xfrm>
            <a:off x="8934226" y="9896475"/>
            <a:ext cx="1847803" cy="304800"/>
          </a:xfrm>
          <a:prstGeom prst="roundRect">
            <a:avLst>
              <a:gd name="adj" fmla="val 125000"/>
            </a:avLst>
          </a:prstGeom>
          <a:solidFill>
            <a:srgbClr val="FFFFFF">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11"/>
          <a:stretch>
            <a:fillRect/>
          </a:stretch>
        </p:blipFill>
        <p:spPr>
          <a:xfrm>
            <a:off x="9048523" y="9974211"/>
            <a:ext cx="171445" cy="149327"/>
          </a:xfrm>
          <a:prstGeom prst="rect">
            <a:avLst/>
          </a:prstGeom>
        </p:spPr>
      </p:pic>
      <p:sp>
        <p:nvSpPr>
          <p:cNvPr id="39" name="TextBox 38"/>
          <p:cNvSpPr txBox="1"/>
          <p:nvPr/>
        </p:nvSpPr>
        <p:spPr>
          <a:xfrm>
            <a:off x="9277118" y="9953625"/>
            <a:ext cx="1390615"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FFFFFF"/>
                </a:solidFill>
              </a:rPr>
              <a:t>Cultural preservation</a:t>
            </a:r>
            <a:endParaRPr sz="955" b="1">
              <a:solidFill>
                <a:srgbClr val="FFFFFF"/>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6733" y="380998"/>
            <a:ext cx="2493010" cy="476250"/>
          </a:xfrm>
          <a:prstGeom prst="rect">
            <a:avLst/>
          </a:prstGeom>
          <a:noFill/>
        </p:spPr>
        <p:txBody>
          <a:bodyPr wrap="none" lIns="73152" tIns="54864" rIns="73152" bIns="54864" anchor="ctr">
            <a:spAutoFit/>
          </a:bodyPr>
          <a:lstStyle/>
          <a:p>
            <a:pPr algn="l">
              <a:spcBef>
                <a:spcPts val="0"/>
              </a:spcBef>
              <a:spcAft>
                <a:spcPts val="650"/>
              </a:spcAft>
            </a:pPr>
            <a:r>
              <a:rPr lang="en-US" sz="2390" b="1" dirty="0">
                <a:solidFill>
                  <a:srgbClr val="FFFFFF"/>
                </a:solidFill>
              </a:rPr>
              <a:t>Specific Objectives</a:t>
            </a:r>
            <a:endParaRPr lang="en-US" sz="2390" b="1" dirty="0">
              <a:solidFill>
                <a:srgbClr val="FFFFFF"/>
              </a:solidFill>
            </a:endParaRPr>
          </a:p>
        </p:txBody>
      </p:sp>
      <p:sp>
        <p:nvSpPr>
          <p:cNvPr id="4" name="Rounded Rectangle 3"/>
          <p:cNvSpPr/>
          <p:nvPr/>
        </p:nvSpPr>
        <p:spPr>
          <a:xfrm>
            <a:off x="666750" y="2592705"/>
            <a:ext cx="9985375" cy="4004945"/>
          </a:xfrm>
          <a:prstGeom prst="roundRect">
            <a:avLst>
              <a:gd name="adj" fmla="val 268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altLang="en-US" sz="1600" dirty="0">
                <a:solidFill>
                  <a:schemeClr val="tx1"/>
                </a:solidFill>
              </a:rPr>
              <a:t>1. Digitized Cultural Repository</a:t>
            </a:r>
            <a:endParaRPr lang="en-US" altLang="en-US" sz="1600" dirty="0">
              <a:solidFill>
                <a:schemeClr val="tx1"/>
              </a:solidFill>
            </a:endParaRPr>
          </a:p>
          <a:p>
            <a:pPr algn="l"/>
            <a:r>
              <a:rPr lang="en-US" altLang="en-US" sz="1600" dirty="0">
                <a:solidFill>
                  <a:schemeClr val="tx1"/>
                </a:solidFill>
              </a:rPr>
              <a:t>To design and develop a centralized database that stores and organizes Mangatarem’s cultural heritage data and tourism information, replacing fragmented manual records.</a:t>
            </a:r>
            <a:endParaRPr lang="en-US" altLang="en-US" sz="1600" dirty="0">
              <a:solidFill>
                <a:schemeClr val="tx1"/>
              </a:solidFill>
            </a:endParaRPr>
          </a:p>
          <a:p>
            <a:pPr algn="l"/>
            <a:endParaRPr lang="en-US" altLang="en-US" sz="1600" dirty="0">
              <a:solidFill>
                <a:schemeClr val="tx1"/>
              </a:solidFill>
            </a:endParaRPr>
          </a:p>
          <a:p>
            <a:pPr algn="l"/>
            <a:r>
              <a:rPr lang="en-US" altLang="en-US" sz="1600" dirty="0">
                <a:solidFill>
                  <a:schemeClr val="tx1"/>
                </a:solidFill>
              </a:rPr>
              <a:t>2. Interactive Geospatial Mapping</a:t>
            </a:r>
            <a:endParaRPr lang="en-US" altLang="en-US" sz="1600" dirty="0">
              <a:solidFill>
                <a:schemeClr val="tx1"/>
              </a:solidFill>
            </a:endParaRPr>
          </a:p>
          <a:p>
            <a:pPr algn="l"/>
            <a:r>
              <a:rPr lang="en-US" altLang="en-US" sz="1600" dirty="0">
                <a:solidFill>
                  <a:schemeClr val="tx1"/>
                </a:solidFill>
              </a:rPr>
              <a:t>To implement an interactive digital map interface using [mention tech like Leaflet or Mapbox] that allows users to visualize and navigate local tourist spots and heritage sites in real-time.</a:t>
            </a:r>
            <a:endParaRPr lang="en-US" altLang="en-US" sz="1600" dirty="0">
              <a:solidFill>
                <a:schemeClr val="tx1"/>
              </a:solidFill>
            </a:endParaRPr>
          </a:p>
          <a:p>
            <a:pPr algn="l"/>
            <a:endParaRPr lang="en-US" altLang="en-US" sz="1600" dirty="0">
              <a:solidFill>
                <a:schemeClr val="tx1"/>
              </a:solidFill>
            </a:endParaRPr>
          </a:p>
          <a:p>
            <a:pPr algn="l"/>
            <a:r>
              <a:rPr lang="en-US" altLang="en-US" sz="1600" dirty="0">
                <a:solidFill>
                  <a:schemeClr val="tx1"/>
                </a:solidFill>
              </a:rPr>
              <a:t>3. Unified Information Hub</a:t>
            </a:r>
            <a:endParaRPr lang="en-US" altLang="en-US" sz="1600" dirty="0">
              <a:solidFill>
                <a:schemeClr val="tx1"/>
              </a:solidFill>
            </a:endParaRPr>
          </a:p>
          <a:p>
            <a:pPr algn="l"/>
            <a:r>
              <a:rPr lang="en-US" altLang="en-US" sz="1600" dirty="0">
                <a:solidFill>
                  <a:schemeClr val="tx1"/>
                </a:solidFill>
              </a:rPr>
              <a:t>To create a web-based portal that serves as the "Official Source" of tourism information, providing verified details, history, and directions for both local and foreign travelers.</a:t>
            </a:r>
            <a:endParaRPr lang="en-US" altLang="en-US" sz="1600" dirty="0">
              <a:solidFill>
                <a:schemeClr val="tx1"/>
              </a:solidFill>
            </a:endParaRPr>
          </a:p>
          <a:p>
            <a:pPr algn="l"/>
            <a:endParaRPr lang="en-US" altLang="en-US" sz="1600" dirty="0">
              <a:solidFill>
                <a:schemeClr val="tx1"/>
              </a:solidFill>
            </a:endParaRPr>
          </a:p>
        </p:txBody>
      </p:sp>
      <p:pic>
        <p:nvPicPr>
          <p:cNvPr id="5" name="Picture 4" descr="image.png"/>
          <p:cNvPicPr>
            <a:picLocks noChangeAspect="1"/>
          </p:cNvPicPr>
          <p:nvPr/>
        </p:nvPicPr>
        <p:blipFill>
          <a:blip r:embed="rId1"/>
          <a:stretch>
            <a:fillRect/>
          </a:stretch>
        </p:blipFill>
        <p:spPr>
          <a:xfrm>
            <a:off x="981052" y="1957042"/>
            <a:ext cx="266693" cy="226115"/>
          </a:xfrm>
          <a:prstGeom prst="rect">
            <a:avLst/>
          </a:prstGeom>
        </p:spPr>
      </p:pic>
      <p:sp>
        <p:nvSpPr>
          <p:cNvPr id="6" name="TextBox 5"/>
          <p:cNvSpPr txBox="1"/>
          <p:nvPr/>
        </p:nvSpPr>
        <p:spPr>
          <a:xfrm>
            <a:off x="1247775" y="1143000"/>
            <a:ext cx="10240010" cy="1854200"/>
          </a:xfrm>
          <a:prstGeom prst="rect">
            <a:avLst/>
          </a:prstGeom>
          <a:noFill/>
        </p:spPr>
        <p:txBody>
          <a:bodyPr wrap="none" lIns="73152" tIns="54864" rIns="73152" bIns="54864" anchor="ctr">
            <a:noAutofit/>
          </a:bodyPr>
          <a:lstStyle/>
          <a:p>
            <a:pPr algn="l">
              <a:spcBef>
                <a:spcPts val="0"/>
              </a:spcBef>
              <a:spcAft>
                <a:spcPts val="0"/>
              </a:spcAft>
            </a:pPr>
            <a:r>
              <a:rPr lang="en-US" altLang="en-US" sz="2400" b="1" dirty="0">
                <a:solidFill>
                  <a:srgbClr val="00897B"/>
                </a:solidFill>
              </a:rPr>
              <a:t>The primary goal of this study is to develop a comprehensive digital platform </a:t>
            </a:r>
            <a:endParaRPr lang="en-US" altLang="en-US" sz="2400" b="1" dirty="0">
              <a:solidFill>
                <a:srgbClr val="00897B"/>
              </a:solidFill>
            </a:endParaRPr>
          </a:p>
          <a:p>
            <a:pPr algn="l">
              <a:spcBef>
                <a:spcPts val="0"/>
              </a:spcBef>
              <a:spcAft>
                <a:spcPts val="0"/>
              </a:spcAft>
            </a:pPr>
            <a:r>
              <a:rPr lang="en-US" altLang="en-US" sz="2400" b="1" dirty="0">
                <a:solidFill>
                  <a:srgbClr val="00897B"/>
                </a:solidFill>
              </a:rPr>
              <a:t>for Mangatarem. Specifically, it aims to:</a:t>
            </a:r>
            <a:endParaRPr lang="en-US" altLang="en-US" sz="2400" b="1" dirty="0">
              <a:solidFill>
                <a:srgbClr val="00897B"/>
              </a:solidFill>
            </a:endParaRPr>
          </a:p>
        </p:txBody>
      </p:sp>
      <p:sp>
        <p:nvSpPr>
          <p:cNvPr id="8" name="Rounded Rectangle 7"/>
          <p:cNvSpPr/>
          <p:nvPr/>
        </p:nvSpPr>
        <p:spPr>
          <a:xfrm>
            <a:off x="666733" y="8753475"/>
            <a:ext cx="5686282" cy="1638299"/>
          </a:xfrm>
          <a:prstGeom prst="roundRect">
            <a:avLst>
              <a:gd name="adj" fmla="val 9302"/>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857228" y="9004935"/>
            <a:ext cx="228594" cy="125729"/>
          </a:xfrm>
          <a:prstGeom prst="rect">
            <a:avLst/>
          </a:prstGeom>
        </p:spPr>
      </p:pic>
      <p:sp>
        <p:nvSpPr>
          <p:cNvPr id="10" name="TextBox 9"/>
          <p:cNvSpPr txBox="1"/>
          <p:nvPr/>
        </p:nvSpPr>
        <p:spPr>
          <a:xfrm>
            <a:off x="1181070" y="8943975"/>
            <a:ext cx="2238319" cy="238124"/>
          </a:xfrm>
          <a:prstGeom prst="rect">
            <a:avLst/>
          </a:prstGeom>
          <a:noFill/>
        </p:spPr>
        <p:txBody>
          <a:bodyPr wrap="none" lIns="73152" tIns="54864" rIns="73152" bIns="54864" anchor="ctr">
            <a:spAutoFit/>
          </a:bodyPr>
          <a:lstStyle/>
          <a:p>
            <a:pPr algn="l">
              <a:spcBef>
                <a:spcPts val="0"/>
              </a:spcBef>
              <a:spcAft>
                <a:spcPts val="0"/>
              </a:spcAft>
            </a:pPr>
            <a:r>
              <a:rPr sz="1195" b="1">
                <a:solidFill>
                  <a:srgbClr val="00897B"/>
                </a:solidFill>
              </a:rPr>
              <a:t>Cost-Effective Technologies</a:t>
            </a:r>
            <a:endParaRPr sz="1195" b="1">
              <a:solidFill>
                <a:srgbClr val="00897B"/>
              </a:solidFill>
            </a:endParaRPr>
          </a:p>
        </p:txBody>
      </p:sp>
      <p:sp>
        <p:nvSpPr>
          <p:cNvPr id="11" name="Rounded Rectangle 10"/>
          <p:cNvSpPr/>
          <p:nvPr/>
        </p:nvSpPr>
        <p:spPr>
          <a:xfrm>
            <a:off x="857228" y="9324975"/>
            <a:ext cx="1476338"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1000099" y="9432822"/>
            <a:ext cx="171445" cy="127204"/>
          </a:xfrm>
          <a:prstGeom prst="rect">
            <a:avLst/>
          </a:prstGeom>
        </p:spPr>
      </p:pic>
      <p:sp>
        <p:nvSpPr>
          <p:cNvPr id="13" name="TextBox 12"/>
          <p:cNvSpPr txBox="1"/>
          <p:nvPr/>
        </p:nvSpPr>
        <p:spPr>
          <a:xfrm>
            <a:off x="1247743" y="9401175"/>
            <a:ext cx="942951"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333333"/>
                </a:solidFill>
              </a:rPr>
              <a:t>Python (Flask)</a:t>
            </a:r>
            <a:endParaRPr sz="955" b="1">
              <a:solidFill>
                <a:srgbClr val="333333"/>
              </a:solidFill>
            </a:endParaRPr>
          </a:p>
        </p:txBody>
      </p:sp>
      <p:sp>
        <p:nvSpPr>
          <p:cNvPr id="14" name="Rounded Rectangle 13"/>
          <p:cNvSpPr/>
          <p:nvPr/>
        </p:nvSpPr>
        <p:spPr>
          <a:xfrm>
            <a:off x="2428814" y="9324975"/>
            <a:ext cx="1133446"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4"/>
          <a:stretch>
            <a:fillRect/>
          </a:stretch>
        </p:blipFill>
        <p:spPr>
          <a:xfrm>
            <a:off x="2571685" y="9427291"/>
            <a:ext cx="171445" cy="138266"/>
          </a:xfrm>
          <a:prstGeom prst="rect">
            <a:avLst/>
          </a:prstGeom>
        </p:spPr>
      </p:pic>
      <p:sp>
        <p:nvSpPr>
          <p:cNvPr id="16" name="TextBox 15"/>
          <p:cNvSpPr txBox="1"/>
          <p:nvPr/>
        </p:nvSpPr>
        <p:spPr>
          <a:xfrm>
            <a:off x="2819329" y="9401175"/>
            <a:ext cx="600059"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333333"/>
                </a:solidFill>
              </a:rPr>
              <a:t>Leaflet.js</a:t>
            </a:r>
            <a:endParaRPr sz="955" b="1">
              <a:solidFill>
                <a:srgbClr val="333333"/>
              </a:solidFill>
            </a:endParaRPr>
          </a:p>
        </p:txBody>
      </p:sp>
      <p:sp>
        <p:nvSpPr>
          <p:cNvPr id="17" name="Rounded Rectangle 16"/>
          <p:cNvSpPr/>
          <p:nvPr/>
        </p:nvSpPr>
        <p:spPr>
          <a:xfrm>
            <a:off x="3657508" y="9324975"/>
            <a:ext cx="1466813"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5"/>
          <a:stretch>
            <a:fillRect/>
          </a:stretch>
        </p:blipFill>
        <p:spPr>
          <a:xfrm>
            <a:off x="3800379" y="9432822"/>
            <a:ext cx="171445" cy="127204"/>
          </a:xfrm>
          <a:prstGeom prst="rect">
            <a:avLst/>
          </a:prstGeom>
        </p:spPr>
      </p:pic>
      <p:sp>
        <p:nvSpPr>
          <p:cNvPr id="19" name="TextBox 18"/>
          <p:cNvSpPr txBox="1"/>
          <p:nvPr/>
        </p:nvSpPr>
        <p:spPr>
          <a:xfrm>
            <a:off x="4048023" y="9401175"/>
            <a:ext cx="933426" cy="190499"/>
          </a:xfrm>
          <a:prstGeom prst="rect">
            <a:avLst/>
          </a:prstGeom>
          <a:noFill/>
        </p:spPr>
        <p:txBody>
          <a:bodyPr wrap="none" lIns="73152" tIns="54864" rIns="73152" bIns="54864" anchor="ctr">
            <a:spAutoFit/>
          </a:bodyPr>
          <a:lstStyle/>
          <a:p>
            <a:pPr algn="l">
              <a:spcBef>
                <a:spcPts val="0"/>
              </a:spcBef>
              <a:spcAft>
                <a:spcPts val="0"/>
              </a:spcAft>
            </a:pPr>
            <a:r>
              <a:rPr sz="955" b="1" dirty="0">
                <a:solidFill>
                  <a:srgbClr val="333333"/>
                </a:solidFill>
              </a:rPr>
              <a:t>SQLite/MySQL</a:t>
            </a:r>
            <a:endParaRPr sz="955" b="1" dirty="0">
              <a:solidFill>
                <a:srgbClr val="333333"/>
              </a:solidFill>
            </a:endParaRPr>
          </a:p>
        </p:txBody>
      </p:sp>
      <p:sp>
        <p:nvSpPr>
          <p:cNvPr id="20" name="Rounded Rectangle 19"/>
          <p:cNvSpPr/>
          <p:nvPr/>
        </p:nvSpPr>
        <p:spPr>
          <a:xfrm>
            <a:off x="857228" y="9763124"/>
            <a:ext cx="1209644"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6"/>
          <a:stretch>
            <a:fillRect/>
          </a:stretch>
        </p:blipFill>
        <p:spPr>
          <a:xfrm>
            <a:off x="1000099" y="9904156"/>
            <a:ext cx="171445" cy="60837"/>
          </a:xfrm>
          <a:prstGeom prst="rect">
            <a:avLst/>
          </a:prstGeom>
        </p:spPr>
      </p:pic>
      <p:sp>
        <p:nvSpPr>
          <p:cNvPr id="22" name="TextBox 21"/>
          <p:cNvSpPr txBox="1"/>
          <p:nvPr/>
        </p:nvSpPr>
        <p:spPr>
          <a:xfrm>
            <a:off x="1247743" y="9839325"/>
            <a:ext cx="676258"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333333"/>
                </a:solidFill>
              </a:rPr>
              <a:t>HTML/CSS</a:t>
            </a:r>
            <a:endParaRPr sz="955" b="1">
              <a:solidFill>
                <a:srgbClr val="333333"/>
              </a:solidFill>
            </a:endParaRPr>
          </a:p>
        </p:txBody>
      </p:sp>
      <p:sp>
        <p:nvSpPr>
          <p:cNvPr id="23" name="Rounded Rectangle 22"/>
          <p:cNvSpPr/>
          <p:nvPr/>
        </p:nvSpPr>
        <p:spPr>
          <a:xfrm>
            <a:off x="2162120" y="9763124"/>
            <a:ext cx="1228694"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7"/>
          <a:stretch>
            <a:fillRect/>
          </a:stretch>
        </p:blipFill>
        <p:spPr>
          <a:xfrm>
            <a:off x="2304992" y="9904156"/>
            <a:ext cx="171445" cy="60837"/>
          </a:xfrm>
          <a:prstGeom prst="rect">
            <a:avLst/>
          </a:prstGeom>
        </p:spPr>
      </p:pic>
      <p:sp>
        <p:nvSpPr>
          <p:cNvPr id="25" name="TextBox 24"/>
          <p:cNvSpPr txBox="1"/>
          <p:nvPr/>
        </p:nvSpPr>
        <p:spPr>
          <a:xfrm>
            <a:off x="2552636" y="9839325"/>
            <a:ext cx="695307"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333333"/>
                </a:solidFill>
              </a:rPr>
              <a:t>JavaScript</a:t>
            </a:r>
            <a:endParaRPr sz="955" b="1">
              <a:solidFill>
                <a:srgbClr val="333333"/>
              </a:solidFill>
            </a:endParaRPr>
          </a:p>
        </p:txBody>
      </p:sp>
      <p:sp>
        <p:nvSpPr>
          <p:cNvPr id="27" name="Rounded Rectangle 26"/>
          <p:cNvSpPr/>
          <p:nvPr/>
        </p:nvSpPr>
        <p:spPr>
          <a:xfrm>
            <a:off x="6638759" y="8762999"/>
            <a:ext cx="4886202" cy="1628775"/>
          </a:xfrm>
          <a:prstGeom prst="roundRect">
            <a:avLst>
              <a:gd name="adj" fmla="val 9356"/>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829254" y="9296400"/>
            <a:ext cx="285742" cy="571500"/>
          </a:xfrm>
          <a:prstGeom prst="roundRect">
            <a:avLst>
              <a:gd name="adj" fmla="val 50000"/>
            </a:avLst>
          </a:prstGeom>
          <a:solidFill>
            <a:srgbClr val="FFFF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8"/>
          <a:stretch>
            <a:fillRect/>
          </a:stretch>
        </p:blipFill>
        <p:spPr>
          <a:xfrm>
            <a:off x="6829254" y="9493897"/>
            <a:ext cx="285742" cy="157454"/>
          </a:xfrm>
          <a:prstGeom prst="rect">
            <a:avLst/>
          </a:prstGeom>
        </p:spPr>
      </p:pic>
      <p:sp>
        <p:nvSpPr>
          <p:cNvPr id="30" name="TextBox 29"/>
          <p:cNvSpPr txBox="1"/>
          <p:nvPr/>
        </p:nvSpPr>
        <p:spPr>
          <a:xfrm>
            <a:off x="7305492" y="9220199"/>
            <a:ext cx="1628734" cy="723900"/>
          </a:xfrm>
          <a:prstGeom prst="rect">
            <a:avLst/>
          </a:prstGeom>
          <a:noFill/>
        </p:spPr>
        <p:txBody>
          <a:bodyPr wrap="square" lIns="73152" tIns="54864" rIns="73152" bIns="54864" anchor="ctr">
            <a:spAutoFit/>
          </a:bodyPr>
          <a:lstStyle/>
          <a:p>
            <a:pPr algn="l">
              <a:lnSpc>
                <a:spcPts val="1625"/>
              </a:lnSpc>
              <a:spcBef>
                <a:spcPts val="0"/>
              </a:spcBef>
              <a:spcAft>
                <a:spcPts val="0"/>
              </a:spcAft>
            </a:pPr>
            <a:r>
              <a:rPr sz="1075" b="1">
                <a:solidFill>
                  <a:srgbClr val="FFFFFF"/>
                </a:solidFill>
              </a:rPr>
              <a:t>Stimulates local economic activity and cultural awareness</a:t>
            </a:r>
            <a:endParaRPr sz="1075" b="1">
              <a:solidFill>
                <a:srgbClr val="FFFFFF"/>
              </a:solidFill>
            </a:endParaRPr>
          </a:p>
        </p:txBody>
      </p:sp>
      <p:sp>
        <p:nvSpPr>
          <p:cNvPr id="31" name="Rounded Rectangle 30"/>
          <p:cNvSpPr/>
          <p:nvPr/>
        </p:nvSpPr>
        <p:spPr>
          <a:xfrm>
            <a:off x="8934226" y="9096375"/>
            <a:ext cx="2362140" cy="304800"/>
          </a:xfrm>
          <a:prstGeom prst="roundRect">
            <a:avLst>
              <a:gd name="adj" fmla="val 125000"/>
            </a:avLst>
          </a:prstGeom>
          <a:solidFill>
            <a:srgbClr val="FFFFFF">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9"/>
          <a:stretch>
            <a:fillRect/>
          </a:stretch>
        </p:blipFill>
        <p:spPr>
          <a:xfrm>
            <a:off x="9048523" y="9190703"/>
            <a:ext cx="171445" cy="116143"/>
          </a:xfrm>
          <a:prstGeom prst="rect">
            <a:avLst/>
          </a:prstGeom>
        </p:spPr>
      </p:pic>
      <p:sp>
        <p:nvSpPr>
          <p:cNvPr id="33" name="TextBox 32"/>
          <p:cNvSpPr txBox="1"/>
          <p:nvPr/>
        </p:nvSpPr>
        <p:spPr>
          <a:xfrm>
            <a:off x="9277118" y="9153525"/>
            <a:ext cx="1904952"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FFFFFF"/>
                </a:solidFill>
              </a:rPr>
              <a:t>Increased attraction visibility</a:t>
            </a:r>
            <a:endParaRPr sz="955" b="1">
              <a:solidFill>
                <a:srgbClr val="FFFFFF"/>
              </a:solidFill>
            </a:endParaRPr>
          </a:p>
        </p:txBody>
      </p:sp>
      <p:sp>
        <p:nvSpPr>
          <p:cNvPr id="34" name="Rounded Rectangle 33"/>
          <p:cNvSpPr/>
          <p:nvPr/>
        </p:nvSpPr>
        <p:spPr>
          <a:xfrm>
            <a:off x="8934226" y="9496425"/>
            <a:ext cx="1838279" cy="304800"/>
          </a:xfrm>
          <a:prstGeom prst="roundRect">
            <a:avLst>
              <a:gd name="adj" fmla="val 125000"/>
            </a:avLst>
          </a:prstGeom>
          <a:solidFill>
            <a:srgbClr val="FFFFFF">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10"/>
          <a:stretch>
            <a:fillRect/>
          </a:stretch>
        </p:blipFill>
        <p:spPr>
          <a:xfrm>
            <a:off x="9048523" y="9579691"/>
            <a:ext cx="171445" cy="138266"/>
          </a:xfrm>
          <a:prstGeom prst="rect">
            <a:avLst/>
          </a:prstGeom>
        </p:spPr>
      </p:pic>
      <p:sp>
        <p:nvSpPr>
          <p:cNvPr id="36" name="TextBox 35"/>
          <p:cNvSpPr txBox="1"/>
          <p:nvPr/>
        </p:nvSpPr>
        <p:spPr>
          <a:xfrm>
            <a:off x="9277118" y="9553575"/>
            <a:ext cx="1381090"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FFFFFF"/>
                </a:solidFill>
              </a:rPr>
              <a:t>Educational resource</a:t>
            </a:r>
            <a:endParaRPr sz="955" b="1">
              <a:solidFill>
                <a:srgbClr val="FFFFFF"/>
              </a:solidFill>
            </a:endParaRPr>
          </a:p>
        </p:txBody>
      </p:sp>
      <p:sp>
        <p:nvSpPr>
          <p:cNvPr id="37" name="Rounded Rectangle 36"/>
          <p:cNvSpPr/>
          <p:nvPr/>
        </p:nvSpPr>
        <p:spPr>
          <a:xfrm>
            <a:off x="8934226" y="9896475"/>
            <a:ext cx="1847803" cy="304800"/>
          </a:xfrm>
          <a:prstGeom prst="roundRect">
            <a:avLst>
              <a:gd name="adj" fmla="val 125000"/>
            </a:avLst>
          </a:prstGeom>
          <a:solidFill>
            <a:srgbClr val="FFFFFF">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11"/>
          <a:stretch>
            <a:fillRect/>
          </a:stretch>
        </p:blipFill>
        <p:spPr>
          <a:xfrm>
            <a:off x="9048523" y="9974211"/>
            <a:ext cx="171445" cy="149327"/>
          </a:xfrm>
          <a:prstGeom prst="rect">
            <a:avLst/>
          </a:prstGeom>
        </p:spPr>
      </p:pic>
      <p:sp>
        <p:nvSpPr>
          <p:cNvPr id="39" name="TextBox 38"/>
          <p:cNvSpPr txBox="1"/>
          <p:nvPr/>
        </p:nvSpPr>
        <p:spPr>
          <a:xfrm>
            <a:off x="9277118" y="9953625"/>
            <a:ext cx="1390615" cy="190499"/>
          </a:xfrm>
          <a:prstGeom prst="rect">
            <a:avLst/>
          </a:prstGeom>
          <a:noFill/>
        </p:spPr>
        <p:txBody>
          <a:bodyPr wrap="none" lIns="73152" tIns="54864" rIns="73152" bIns="54864" anchor="ctr">
            <a:spAutoFit/>
          </a:bodyPr>
          <a:lstStyle/>
          <a:p>
            <a:pPr algn="l">
              <a:spcBef>
                <a:spcPts val="0"/>
              </a:spcBef>
              <a:spcAft>
                <a:spcPts val="0"/>
              </a:spcAft>
            </a:pPr>
            <a:r>
              <a:rPr sz="955" b="1">
                <a:solidFill>
                  <a:srgbClr val="FFFFFF"/>
                </a:solidFill>
              </a:rPr>
              <a:t>Cultural preservation</a:t>
            </a:r>
            <a:endParaRPr sz="955" b="1">
              <a:solidFill>
                <a:srgbClr val="FFFFFF"/>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 name="TextBox 2"/>
          <p:cNvSpPr txBox="1"/>
          <p:nvPr/>
        </p:nvSpPr>
        <p:spPr>
          <a:xfrm>
            <a:off x="666733" y="255948"/>
            <a:ext cx="4428328" cy="726353"/>
          </a:xfrm>
          <a:prstGeom prst="rect">
            <a:avLst/>
          </a:prstGeom>
          <a:noFill/>
        </p:spPr>
        <p:txBody>
          <a:bodyPr wrap="none" lIns="73152" tIns="54864" rIns="73152" bIns="54864" anchor="ctr">
            <a:spAutoFit/>
          </a:bodyPr>
          <a:lstStyle/>
          <a:p>
            <a:pPr algn="l">
              <a:spcBef>
                <a:spcPts val="0"/>
              </a:spcBef>
              <a:spcAft>
                <a:spcPts val="650"/>
              </a:spcAft>
            </a:pPr>
            <a:r>
              <a:rPr sz="4000" b="1" dirty="0">
                <a:solidFill>
                  <a:srgbClr val="FFFFFF"/>
                </a:solidFill>
              </a:rPr>
              <a:t>Scope of the System</a:t>
            </a:r>
            <a:endParaRPr sz="4000" b="1" dirty="0">
              <a:solidFill>
                <a:srgbClr val="FFFFFF"/>
              </a:solidFill>
            </a:endParaRPr>
          </a:p>
        </p:txBody>
      </p:sp>
      <p:sp>
        <p:nvSpPr>
          <p:cNvPr id="4" name="Rounded Rectangle 3"/>
          <p:cNvSpPr/>
          <p:nvPr/>
        </p:nvSpPr>
        <p:spPr>
          <a:xfrm>
            <a:off x="666733" y="1428750"/>
            <a:ext cx="5333866" cy="1152524"/>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 name="TextBox 6"/>
          <p:cNvSpPr txBox="1"/>
          <p:nvPr/>
        </p:nvSpPr>
        <p:spPr>
          <a:xfrm>
            <a:off x="1581110" y="1512535"/>
            <a:ext cx="3245760" cy="480131"/>
          </a:xfrm>
          <a:prstGeom prst="rect">
            <a:avLst/>
          </a:prstGeom>
          <a:noFill/>
        </p:spPr>
        <p:txBody>
          <a:bodyPr wrap="none" lIns="73152" tIns="54864" rIns="73152" bIns="54864" anchor="ctr">
            <a:spAutoFit/>
          </a:bodyPr>
          <a:lstStyle/>
          <a:p>
            <a:pPr algn="l">
              <a:spcBef>
                <a:spcPts val="0"/>
              </a:spcBef>
              <a:spcAft>
                <a:spcPts val="520"/>
              </a:spcAft>
            </a:pPr>
            <a:r>
              <a:rPr sz="2400" b="1">
                <a:solidFill>
                  <a:srgbClr val="00897B"/>
                </a:solidFill>
              </a:rPr>
              <a:t>Interactive Cultural Map</a:t>
            </a:r>
            <a:endParaRPr sz="2400" b="1">
              <a:solidFill>
                <a:srgbClr val="00897B"/>
              </a:solidFill>
            </a:endParaRPr>
          </a:p>
        </p:txBody>
      </p:sp>
      <p:sp>
        <p:nvSpPr>
          <p:cNvPr id="8" name="TextBox 7"/>
          <p:cNvSpPr txBox="1"/>
          <p:nvPr/>
        </p:nvSpPr>
        <p:spPr>
          <a:xfrm>
            <a:off x="1581110" y="1941526"/>
            <a:ext cx="4228994" cy="469872"/>
          </a:xfrm>
          <a:prstGeom prst="rect">
            <a:avLst/>
          </a:prstGeom>
          <a:noFill/>
        </p:spPr>
        <p:txBody>
          <a:bodyPr wrap="square" lIns="73152" tIns="54864" rIns="73152" bIns="54864" anchor="ctr">
            <a:spAutoFit/>
          </a:bodyPr>
          <a:lstStyle/>
          <a:p>
            <a:pPr algn="l">
              <a:lnSpc>
                <a:spcPts val="1430"/>
              </a:lnSpc>
              <a:spcBef>
                <a:spcPts val="0"/>
              </a:spcBef>
              <a:spcAft>
                <a:spcPts val="0"/>
              </a:spcAft>
            </a:pPr>
            <a:r>
              <a:rPr sz="1400" b="0">
                <a:solidFill>
                  <a:srgbClr val="555555"/>
                </a:solidFill>
              </a:rPr>
              <a:t>Navigable map displaying </a:t>
            </a:r>
            <a:r>
              <a:rPr sz="1400" b="1">
                <a:solidFill>
                  <a:srgbClr val="00897B"/>
                </a:solidFill>
              </a:rPr>
              <a:t>barangay-level cultural highlights</a:t>
            </a:r>
            <a:r>
              <a:rPr sz="1400" b="0">
                <a:solidFill>
                  <a:srgbClr val="555555"/>
                </a:solidFill>
              </a:rPr>
              <a:t> with zoom, pan, and location details</a:t>
            </a:r>
            <a:endParaRPr sz="1400" b="0">
              <a:solidFill>
                <a:srgbClr val="555555"/>
              </a:solidFill>
            </a:endParaRPr>
          </a:p>
        </p:txBody>
      </p:sp>
      <p:sp>
        <p:nvSpPr>
          <p:cNvPr id="9" name="Rounded Rectangle 8"/>
          <p:cNvSpPr/>
          <p:nvPr/>
        </p:nvSpPr>
        <p:spPr>
          <a:xfrm>
            <a:off x="6191095" y="1428750"/>
            <a:ext cx="5333866" cy="1152524"/>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2" name="TextBox 11"/>
          <p:cNvSpPr txBox="1"/>
          <p:nvPr/>
        </p:nvSpPr>
        <p:spPr>
          <a:xfrm>
            <a:off x="7105472" y="1512535"/>
            <a:ext cx="3581493" cy="480131"/>
          </a:xfrm>
          <a:prstGeom prst="rect">
            <a:avLst/>
          </a:prstGeom>
          <a:noFill/>
        </p:spPr>
        <p:txBody>
          <a:bodyPr wrap="none" lIns="73152" tIns="54864" rIns="73152" bIns="54864" anchor="ctr">
            <a:spAutoFit/>
          </a:bodyPr>
          <a:lstStyle/>
          <a:p>
            <a:pPr algn="l">
              <a:spcBef>
                <a:spcPts val="0"/>
              </a:spcBef>
              <a:spcAft>
                <a:spcPts val="520"/>
              </a:spcAft>
            </a:pPr>
            <a:r>
              <a:rPr sz="2400" b="1">
                <a:solidFill>
                  <a:srgbClr val="00897B"/>
                </a:solidFill>
              </a:rPr>
              <a:t>Cultural Information Portal</a:t>
            </a:r>
            <a:endParaRPr sz="2400" b="1">
              <a:solidFill>
                <a:srgbClr val="00897B"/>
              </a:solidFill>
            </a:endParaRPr>
          </a:p>
        </p:txBody>
      </p:sp>
      <p:sp>
        <p:nvSpPr>
          <p:cNvPr id="13" name="TextBox 12"/>
          <p:cNvSpPr txBox="1"/>
          <p:nvPr/>
        </p:nvSpPr>
        <p:spPr>
          <a:xfrm>
            <a:off x="7105472" y="1941526"/>
            <a:ext cx="4228994" cy="469872"/>
          </a:xfrm>
          <a:prstGeom prst="rect">
            <a:avLst/>
          </a:prstGeom>
          <a:noFill/>
        </p:spPr>
        <p:txBody>
          <a:bodyPr wrap="square" lIns="73152" tIns="54864" rIns="73152" bIns="54864" anchor="ctr">
            <a:spAutoFit/>
          </a:bodyPr>
          <a:lstStyle/>
          <a:p>
            <a:pPr algn="l">
              <a:lnSpc>
                <a:spcPts val="1430"/>
              </a:lnSpc>
              <a:spcBef>
                <a:spcPts val="0"/>
              </a:spcBef>
              <a:spcAft>
                <a:spcPts val="0"/>
              </a:spcAft>
            </a:pPr>
            <a:r>
              <a:rPr sz="1400" b="0">
                <a:solidFill>
                  <a:srgbClr val="555555"/>
                </a:solidFill>
              </a:rPr>
              <a:t>Central repository for </a:t>
            </a:r>
            <a:r>
              <a:rPr sz="1400" b="1">
                <a:solidFill>
                  <a:srgbClr val="00897B"/>
                </a:solidFill>
              </a:rPr>
              <a:t>barangay profiles</a:t>
            </a:r>
            <a:r>
              <a:rPr sz="1400" b="0">
                <a:solidFill>
                  <a:srgbClr val="555555"/>
                </a:solidFill>
              </a:rPr>
              <a:t>, cultural assets, traditions, and points of interest</a:t>
            </a:r>
            <a:endParaRPr sz="1400" b="0">
              <a:solidFill>
                <a:srgbClr val="555555"/>
              </a:solidFill>
            </a:endParaRPr>
          </a:p>
        </p:txBody>
      </p:sp>
      <p:sp>
        <p:nvSpPr>
          <p:cNvPr id="14" name="Rounded Rectangle 13"/>
          <p:cNvSpPr/>
          <p:nvPr/>
        </p:nvSpPr>
        <p:spPr>
          <a:xfrm>
            <a:off x="666733" y="2771775"/>
            <a:ext cx="5333866" cy="1152524"/>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1581110" y="2855559"/>
            <a:ext cx="3819379" cy="480131"/>
          </a:xfrm>
          <a:prstGeom prst="rect">
            <a:avLst/>
          </a:prstGeom>
          <a:noFill/>
        </p:spPr>
        <p:txBody>
          <a:bodyPr wrap="none" lIns="73152" tIns="54864" rIns="73152" bIns="54864" anchor="ctr">
            <a:spAutoFit/>
          </a:bodyPr>
          <a:lstStyle/>
          <a:p>
            <a:pPr algn="l">
              <a:spcBef>
                <a:spcPts val="0"/>
              </a:spcBef>
              <a:spcAft>
                <a:spcPts val="520"/>
              </a:spcAft>
            </a:pPr>
            <a:r>
              <a:rPr sz="2400" b="1">
                <a:solidFill>
                  <a:srgbClr val="00897B"/>
                </a:solidFill>
              </a:rPr>
              <a:t>Events and Festival Directory</a:t>
            </a:r>
            <a:endParaRPr sz="2400" b="1">
              <a:solidFill>
                <a:srgbClr val="00897B"/>
              </a:solidFill>
            </a:endParaRPr>
          </a:p>
        </p:txBody>
      </p:sp>
      <p:sp>
        <p:nvSpPr>
          <p:cNvPr id="18" name="TextBox 17"/>
          <p:cNvSpPr txBox="1"/>
          <p:nvPr/>
        </p:nvSpPr>
        <p:spPr>
          <a:xfrm>
            <a:off x="1581110" y="3284551"/>
            <a:ext cx="4228994" cy="469872"/>
          </a:xfrm>
          <a:prstGeom prst="rect">
            <a:avLst/>
          </a:prstGeom>
          <a:noFill/>
        </p:spPr>
        <p:txBody>
          <a:bodyPr wrap="square" lIns="73152" tIns="54864" rIns="73152" bIns="54864" anchor="ctr">
            <a:spAutoFit/>
          </a:bodyPr>
          <a:lstStyle/>
          <a:p>
            <a:pPr algn="l">
              <a:lnSpc>
                <a:spcPts val="1430"/>
              </a:lnSpc>
              <a:spcBef>
                <a:spcPts val="0"/>
              </a:spcBef>
              <a:spcAft>
                <a:spcPts val="0"/>
              </a:spcAft>
            </a:pPr>
            <a:r>
              <a:rPr sz="1400" b="0">
                <a:solidFill>
                  <a:srgbClr val="555555"/>
                </a:solidFill>
              </a:rPr>
              <a:t>Calendar view of </a:t>
            </a:r>
            <a:r>
              <a:rPr sz="1400" b="1">
                <a:solidFill>
                  <a:srgbClr val="00897B"/>
                </a:solidFill>
              </a:rPr>
              <a:t>local festivities</a:t>
            </a:r>
            <a:r>
              <a:rPr sz="1400" b="0">
                <a:solidFill>
                  <a:srgbClr val="555555"/>
                </a:solidFill>
              </a:rPr>
              <a:t> and citywide celebrations with scheduling details</a:t>
            </a:r>
            <a:endParaRPr sz="1400" b="0">
              <a:solidFill>
                <a:srgbClr val="555555"/>
              </a:solidFill>
            </a:endParaRPr>
          </a:p>
        </p:txBody>
      </p:sp>
      <p:sp>
        <p:nvSpPr>
          <p:cNvPr id="19" name="Rounded Rectangle 18"/>
          <p:cNvSpPr/>
          <p:nvPr/>
        </p:nvSpPr>
        <p:spPr>
          <a:xfrm>
            <a:off x="6191095" y="2771775"/>
            <a:ext cx="5333866" cy="1152524"/>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2" name="TextBox 21"/>
          <p:cNvSpPr txBox="1"/>
          <p:nvPr/>
        </p:nvSpPr>
        <p:spPr>
          <a:xfrm>
            <a:off x="7105472" y="2855559"/>
            <a:ext cx="2617704" cy="480131"/>
          </a:xfrm>
          <a:prstGeom prst="rect">
            <a:avLst/>
          </a:prstGeom>
          <a:noFill/>
        </p:spPr>
        <p:txBody>
          <a:bodyPr wrap="none" lIns="73152" tIns="54864" rIns="73152" bIns="54864" anchor="ctr">
            <a:spAutoFit/>
          </a:bodyPr>
          <a:lstStyle/>
          <a:p>
            <a:pPr algn="l">
              <a:spcBef>
                <a:spcPts val="0"/>
              </a:spcBef>
              <a:spcAft>
                <a:spcPts val="520"/>
              </a:spcAft>
            </a:pPr>
            <a:r>
              <a:rPr sz="2400" b="1">
                <a:solidFill>
                  <a:srgbClr val="00897B"/>
                </a:solidFill>
              </a:rPr>
              <a:t>Multimedia Gallery</a:t>
            </a:r>
            <a:endParaRPr sz="2400" b="1">
              <a:solidFill>
                <a:srgbClr val="00897B"/>
              </a:solidFill>
            </a:endParaRPr>
          </a:p>
        </p:txBody>
      </p:sp>
      <p:sp>
        <p:nvSpPr>
          <p:cNvPr id="23" name="TextBox 22"/>
          <p:cNvSpPr txBox="1"/>
          <p:nvPr/>
        </p:nvSpPr>
        <p:spPr>
          <a:xfrm>
            <a:off x="7105472" y="3284551"/>
            <a:ext cx="4228994" cy="469872"/>
          </a:xfrm>
          <a:prstGeom prst="rect">
            <a:avLst/>
          </a:prstGeom>
          <a:noFill/>
        </p:spPr>
        <p:txBody>
          <a:bodyPr wrap="square" lIns="73152" tIns="54864" rIns="73152" bIns="54864" anchor="ctr">
            <a:spAutoFit/>
          </a:bodyPr>
          <a:lstStyle/>
          <a:p>
            <a:pPr algn="l">
              <a:lnSpc>
                <a:spcPts val="1430"/>
              </a:lnSpc>
              <a:spcBef>
                <a:spcPts val="0"/>
              </a:spcBef>
              <a:spcAft>
                <a:spcPts val="0"/>
              </a:spcAft>
            </a:pPr>
            <a:r>
              <a:rPr sz="1400" b="0">
                <a:solidFill>
                  <a:srgbClr val="555555"/>
                </a:solidFill>
              </a:rPr>
              <a:t>Organized collection of </a:t>
            </a:r>
            <a:r>
              <a:rPr sz="1400" b="1">
                <a:solidFill>
                  <a:srgbClr val="00897B"/>
                </a:solidFill>
              </a:rPr>
              <a:t>photos and videos</a:t>
            </a:r>
            <a:r>
              <a:rPr sz="1400" b="0">
                <a:solidFill>
                  <a:srgbClr val="555555"/>
                </a:solidFill>
              </a:rPr>
              <a:t> showcasing local traditions and community activities</a:t>
            </a:r>
            <a:endParaRPr sz="1400" b="0">
              <a:solidFill>
                <a:srgbClr val="555555"/>
              </a:solidFill>
            </a:endParaRPr>
          </a:p>
        </p:txBody>
      </p:sp>
      <p:sp>
        <p:nvSpPr>
          <p:cNvPr id="24" name="Rounded Rectangle 23"/>
          <p:cNvSpPr/>
          <p:nvPr/>
        </p:nvSpPr>
        <p:spPr>
          <a:xfrm>
            <a:off x="666733" y="4114800"/>
            <a:ext cx="5333866" cy="1152524"/>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581110" y="4198585"/>
            <a:ext cx="3003194" cy="480131"/>
          </a:xfrm>
          <a:prstGeom prst="rect">
            <a:avLst/>
          </a:prstGeom>
          <a:noFill/>
        </p:spPr>
        <p:txBody>
          <a:bodyPr wrap="none" lIns="73152" tIns="54864" rIns="73152" bIns="54864" anchor="ctr">
            <a:spAutoFit/>
          </a:bodyPr>
          <a:lstStyle/>
          <a:p>
            <a:pPr algn="l">
              <a:spcBef>
                <a:spcPts val="0"/>
              </a:spcBef>
              <a:spcAft>
                <a:spcPts val="520"/>
              </a:spcAft>
            </a:pPr>
            <a:r>
              <a:rPr sz="2400" b="1">
                <a:solidFill>
                  <a:srgbClr val="00897B"/>
                </a:solidFill>
              </a:rPr>
              <a:t>Search and Filter Tools</a:t>
            </a:r>
            <a:endParaRPr sz="2400" b="1">
              <a:solidFill>
                <a:srgbClr val="00897B"/>
              </a:solidFill>
            </a:endParaRPr>
          </a:p>
        </p:txBody>
      </p:sp>
      <p:sp>
        <p:nvSpPr>
          <p:cNvPr id="28" name="TextBox 27"/>
          <p:cNvSpPr txBox="1"/>
          <p:nvPr/>
        </p:nvSpPr>
        <p:spPr>
          <a:xfrm>
            <a:off x="1581110" y="4627577"/>
            <a:ext cx="4228994" cy="469872"/>
          </a:xfrm>
          <a:prstGeom prst="rect">
            <a:avLst/>
          </a:prstGeom>
          <a:noFill/>
        </p:spPr>
        <p:txBody>
          <a:bodyPr wrap="square" lIns="73152" tIns="54864" rIns="73152" bIns="54864" anchor="ctr">
            <a:spAutoFit/>
          </a:bodyPr>
          <a:lstStyle/>
          <a:p>
            <a:pPr algn="l">
              <a:lnSpc>
                <a:spcPts val="1430"/>
              </a:lnSpc>
              <a:spcBef>
                <a:spcPts val="0"/>
              </a:spcBef>
              <a:spcAft>
                <a:spcPts val="0"/>
              </a:spcAft>
            </a:pPr>
            <a:r>
              <a:rPr sz="1400" b="0">
                <a:solidFill>
                  <a:srgbClr val="555555"/>
                </a:solidFill>
              </a:rPr>
              <a:t>Quick retrieval of information by </a:t>
            </a:r>
            <a:r>
              <a:rPr sz="1400" b="1">
                <a:solidFill>
                  <a:srgbClr val="00897B"/>
                </a:solidFill>
              </a:rPr>
              <a:t>barangay, category</a:t>
            </a:r>
            <a:r>
              <a:rPr sz="1400" b="0">
                <a:solidFill>
                  <a:srgbClr val="555555"/>
                </a:solidFill>
              </a:rPr>
              <a:t>, or attraction type</a:t>
            </a:r>
            <a:endParaRPr sz="1400" b="0">
              <a:solidFill>
                <a:srgbClr val="555555"/>
              </a:solidFill>
            </a:endParaRPr>
          </a:p>
        </p:txBody>
      </p:sp>
      <p:sp>
        <p:nvSpPr>
          <p:cNvPr id="29" name="Rounded Rectangle 28"/>
          <p:cNvSpPr/>
          <p:nvPr/>
        </p:nvSpPr>
        <p:spPr>
          <a:xfrm>
            <a:off x="6191095" y="4114800"/>
            <a:ext cx="5333866" cy="1152524"/>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2" name="TextBox 31"/>
          <p:cNvSpPr txBox="1"/>
          <p:nvPr/>
        </p:nvSpPr>
        <p:spPr>
          <a:xfrm>
            <a:off x="7105472" y="4198585"/>
            <a:ext cx="4165371" cy="480131"/>
          </a:xfrm>
          <a:prstGeom prst="rect">
            <a:avLst/>
          </a:prstGeom>
          <a:noFill/>
        </p:spPr>
        <p:txBody>
          <a:bodyPr wrap="none" lIns="73152" tIns="54864" rIns="73152" bIns="54864" anchor="ctr">
            <a:spAutoFit/>
          </a:bodyPr>
          <a:lstStyle/>
          <a:p>
            <a:pPr algn="l">
              <a:spcBef>
                <a:spcPts val="0"/>
              </a:spcBef>
              <a:spcAft>
                <a:spcPts val="520"/>
              </a:spcAft>
            </a:pPr>
            <a:r>
              <a:rPr sz="2400" b="1">
                <a:solidFill>
                  <a:srgbClr val="00897B"/>
                </a:solidFill>
              </a:rPr>
              <a:t>Admin and Contributor Module</a:t>
            </a:r>
            <a:endParaRPr sz="2400" b="1">
              <a:solidFill>
                <a:srgbClr val="00897B"/>
              </a:solidFill>
            </a:endParaRPr>
          </a:p>
        </p:txBody>
      </p:sp>
      <p:sp>
        <p:nvSpPr>
          <p:cNvPr id="33" name="TextBox 32"/>
          <p:cNvSpPr txBox="1"/>
          <p:nvPr/>
        </p:nvSpPr>
        <p:spPr>
          <a:xfrm>
            <a:off x="7105472" y="4627577"/>
            <a:ext cx="4228994" cy="469872"/>
          </a:xfrm>
          <a:prstGeom prst="rect">
            <a:avLst/>
          </a:prstGeom>
          <a:noFill/>
        </p:spPr>
        <p:txBody>
          <a:bodyPr wrap="square" lIns="73152" tIns="54864" rIns="73152" bIns="54864" anchor="ctr">
            <a:spAutoFit/>
          </a:bodyPr>
          <a:lstStyle/>
          <a:p>
            <a:pPr algn="l">
              <a:lnSpc>
                <a:spcPts val="1430"/>
              </a:lnSpc>
              <a:spcBef>
                <a:spcPts val="0"/>
              </a:spcBef>
              <a:spcAft>
                <a:spcPts val="0"/>
              </a:spcAft>
            </a:pPr>
            <a:r>
              <a:rPr sz="1400" b="0">
                <a:solidFill>
                  <a:srgbClr val="555555"/>
                </a:solidFill>
              </a:rPr>
              <a:t>Content management with </a:t>
            </a:r>
            <a:r>
              <a:rPr sz="1400" b="1">
                <a:solidFill>
                  <a:srgbClr val="00897B"/>
                </a:solidFill>
              </a:rPr>
              <a:t>approval workflow</a:t>
            </a:r>
            <a:r>
              <a:rPr sz="1400" b="0">
                <a:solidFill>
                  <a:srgbClr val="555555"/>
                </a:solidFill>
              </a:rPr>
              <a:t> for authorized barangay representatives</a:t>
            </a:r>
            <a:endParaRPr sz="1400" b="0">
              <a:solidFill>
                <a:srgbClr val="555555"/>
              </a:solidFill>
            </a:endParaRPr>
          </a:p>
        </p:txBody>
      </p:sp>
      <p:sp>
        <p:nvSpPr>
          <p:cNvPr id="34" name="Rounded Rectangle 33"/>
          <p:cNvSpPr/>
          <p:nvPr/>
        </p:nvSpPr>
        <p:spPr>
          <a:xfrm>
            <a:off x="666733" y="5448300"/>
            <a:ext cx="5333866" cy="1152524"/>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581110" y="5532084"/>
            <a:ext cx="3341749" cy="480131"/>
          </a:xfrm>
          <a:prstGeom prst="rect">
            <a:avLst/>
          </a:prstGeom>
          <a:noFill/>
        </p:spPr>
        <p:txBody>
          <a:bodyPr wrap="none" lIns="73152" tIns="54864" rIns="73152" bIns="54864" anchor="ctr">
            <a:spAutoFit/>
          </a:bodyPr>
          <a:lstStyle/>
          <a:p>
            <a:pPr algn="l">
              <a:spcBef>
                <a:spcPts val="0"/>
              </a:spcBef>
              <a:spcAft>
                <a:spcPts val="520"/>
              </a:spcAft>
            </a:pPr>
            <a:r>
              <a:rPr sz="2400" b="1">
                <a:solidFill>
                  <a:srgbClr val="00897B"/>
                </a:solidFill>
              </a:rPr>
              <a:t>Tourist Guide and Routes</a:t>
            </a:r>
            <a:endParaRPr sz="2400" b="1">
              <a:solidFill>
                <a:srgbClr val="00897B"/>
              </a:solidFill>
            </a:endParaRPr>
          </a:p>
        </p:txBody>
      </p:sp>
      <p:sp>
        <p:nvSpPr>
          <p:cNvPr id="38" name="TextBox 37"/>
          <p:cNvSpPr txBox="1"/>
          <p:nvPr/>
        </p:nvSpPr>
        <p:spPr>
          <a:xfrm>
            <a:off x="1581110" y="5961076"/>
            <a:ext cx="4228994" cy="469872"/>
          </a:xfrm>
          <a:prstGeom prst="rect">
            <a:avLst/>
          </a:prstGeom>
          <a:noFill/>
        </p:spPr>
        <p:txBody>
          <a:bodyPr wrap="square" lIns="73152" tIns="54864" rIns="73152" bIns="54864" anchor="ctr">
            <a:spAutoFit/>
          </a:bodyPr>
          <a:lstStyle/>
          <a:p>
            <a:pPr algn="l">
              <a:lnSpc>
                <a:spcPts val="1430"/>
              </a:lnSpc>
              <a:spcBef>
                <a:spcPts val="0"/>
              </a:spcBef>
              <a:spcAft>
                <a:spcPts val="0"/>
              </a:spcAft>
            </a:pPr>
            <a:r>
              <a:rPr sz="1400" b="0">
                <a:solidFill>
                  <a:srgbClr val="555555"/>
                </a:solidFill>
              </a:rPr>
              <a:t>Recommended </a:t>
            </a:r>
            <a:r>
              <a:rPr sz="1400" b="1">
                <a:solidFill>
                  <a:srgbClr val="00897B"/>
                </a:solidFill>
              </a:rPr>
              <a:t>themed itineraries</a:t>
            </a:r>
            <a:r>
              <a:rPr sz="1400" b="0">
                <a:solidFill>
                  <a:srgbClr val="555555"/>
                </a:solidFill>
              </a:rPr>
              <a:t> for exploring the municipality efficiently</a:t>
            </a:r>
            <a:endParaRPr sz="1400" b="0">
              <a:solidFill>
                <a:srgbClr val="555555"/>
              </a:solidFill>
            </a:endParaRPr>
          </a:p>
        </p:txBody>
      </p:sp>
      <p:sp>
        <p:nvSpPr>
          <p:cNvPr id="39" name="Rounded Rectangle 38"/>
          <p:cNvSpPr/>
          <p:nvPr/>
        </p:nvSpPr>
        <p:spPr>
          <a:xfrm>
            <a:off x="6191095" y="5448300"/>
            <a:ext cx="5333866" cy="1152524"/>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2" name="TextBox 41"/>
          <p:cNvSpPr txBox="1"/>
          <p:nvPr/>
        </p:nvSpPr>
        <p:spPr>
          <a:xfrm>
            <a:off x="7105472" y="5532084"/>
            <a:ext cx="2764731" cy="480131"/>
          </a:xfrm>
          <a:prstGeom prst="rect">
            <a:avLst/>
          </a:prstGeom>
          <a:noFill/>
        </p:spPr>
        <p:txBody>
          <a:bodyPr wrap="none" lIns="73152" tIns="54864" rIns="73152" bIns="54864" anchor="ctr">
            <a:spAutoFit/>
          </a:bodyPr>
          <a:lstStyle/>
          <a:p>
            <a:pPr algn="l">
              <a:spcBef>
                <a:spcPts val="0"/>
              </a:spcBef>
              <a:spcAft>
                <a:spcPts val="520"/>
              </a:spcAft>
            </a:pPr>
            <a:r>
              <a:rPr sz="2400" b="1">
                <a:solidFill>
                  <a:srgbClr val="00897B"/>
                </a:solidFill>
              </a:rPr>
              <a:t>Analytics Dashboard</a:t>
            </a:r>
            <a:endParaRPr sz="2400" b="1">
              <a:solidFill>
                <a:srgbClr val="00897B"/>
              </a:solidFill>
            </a:endParaRPr>
          </a:p>
        </p:txBody>
      </p:sp>
      <p:sp>
        <p:nvSpPr>
          <p:cNvPr id="43" name="TextBox 42"/>
          <p:cNvSpPr txBox="1"/>
          <p:nvPr/>
        </p:nvSpPr>
        <p:spPr>
          <a:xfrm>
            <a:off x="7105472" y="5961076"/>
            <a:ext cx="4228994" cy="469872"/>
          </a:xfrm>
          <a:prstGeom prst="rect">
            <a:avLst/>
          </a:prstGeom>
          <a:noFill/>
        </p:spPr>
        <p:txBody>
          <a:bodyPr wrap="square" lIns="73152" tIns="54864" rIns="73152" bIns="54864" anchor="ctr">
            <a:spAutoFit/>
          </a:bodyPr>
          <a:lstStyle/>
          <a:p>
            <a:pPr algn="l">
              <a:lnSpc>
                <a:spcPts val="1430"/>
              </a:lnSpc>
              <a:spcBef>
                <a:spcPts val="0"/>
              </a:spcBef>
              <a:spcAft>
                <a:spcPts val="0"/>
              </a:spcAft>
            </a:pPr>
            <a:r>
              <a:rPr sz="1400" b="0">
                <a:solidFill>
                  <a:srgbClr val="555555"/>
                </a:solidFill>
              </a:rPr>
              <a:t>Visualizes </a:t>
            </a:r>
            <a:r>
              <a:rPr sz="1400" b="1">
                <a:solidFill>
                  <a:srgbClr val="00897B"/>
                </a:solidFill>
              </a:rPr>
              <a:t>system usage data</a:t>
            </a:r>
            <a:r>
              <a:rPr sz="1400" b="0">
                <a:solidFill>
                  <a:srgbClr val="555555"/>
                </a:solidFill>
              </a:rPr>
              <a:t> and engagement trends for decision-makers</a:t>
            </a:r>
            <a:endParaRPr sz="1400" b="0">
              <a:solidFill>
                <a:srgbClr val="555555"/>
              </a:solidFill>
            </a:endParaRPr>
          </a:p>
        </p:txBody>
      </p:sp>
      <p:pic>
        <p:nvPicPr>
          <p:cNvPr id="44" name="Picture 43"/>
          <p:cNvPicPr>
            <a:picLocks noChangeAspect="1"/>
          </p:cNvPicPr>
          <p:nvPr/>
        </p:nvPicPr>
        <p:blipFill>
          <a:blip r:embed="rId1"/>
          <a:stretch>
            <a:fillRect/>
          </a:stretch>
        </p:blipFill>
        <p:spPr>
          <a:xfrm>
            <a:off x="824542" y="1623098"/>
            <a:ext cx="636855" cy="636855"/>
          </a:xfrm>
          <a:prstGeom prst="rect">
            <a:avLst/>
          </a:prstGeom>
        </p:spPr>
      </p:pic>
      <p:pic>
        <p:nvPicPr>
          <p:cNvPr id="47" name="Picture 46"/>
          <p:cNvPicPr>
            <a:picLocks noChangeAspect="1"/>
          </p:cNvPicPr>
          <p:nvPr/>
        </p:nvPicPr>
        <p:blipFill>
          <a:blip r:embed="rId2"/>
          <a:stretch>
            <a:fillRect/>
          </a:stretch>
        </p:blipFill>
        <p:spPr>
          <a:xfrm>
            <a:off x="857228" y="2990270"/>
            <a:ext cx="667657" cy="667657"/>
          </a:xfrm>
          <a:prstGeom prst="rect">
            <a:avLst/>
          </a:prstGeom>
        </p:spPr>
      </p:pic>
      <p:pic>
        <p:nvPicPr>
          <p:cNvPr id="49" name="Picture 48"/>
          <p:cNvPicPr>
            <a:picLocks noChangeAspect="1"/>
          </p:cNvPicPr>
          <p:nvPr/>
        </p:nvPicPr>
        <p:blipFill>
          <a:blip r:embed="rId3"/>
          <a:stretch>
            <a:fillRect/>
          </a:stretch>
        </p:blipFill>
        <p:spPr>
          <a:xfrm>
            <a:off x="832518" y="4340376"/>
            <a:ext cx="672394" cy="672394"/>
          </a:xfrm>
          <a:prstGeom prst="rect">
            <a:avLst/>
          </a:prstGeom>
        </p:spPr>
      </p:pic>
      <p:pic>
        <p:nvPicPr>
          <p:cNvPr id="51" name="Picture 50"/>
          <p:cNvPicPr>
            <a:picLocks noChangeAspect="1"/>
          </p:cNvPicPr>
          <p:nvPr/>
        </p:nvPicPr>
        <p:blipFill>
          <a:blip r:embed="rId4"/>
          <a:stretch>
            <a:fillRect/>
          </a:stretch>
        </p:blipFill>
        <p:spPr>
          <a:xfrm>
            <a:off x="789176" y="5638799"/>
            <a:ext cx="696686" cy="696686"/>
          </a:xfrm>
          <a:prstGeom prst="rect">
            <a:avLst/>
          </a:prstGeom>
        </p:spPr>
      </p:pic>
      <p:pic>
        <p:nvPicPr>
          <p:cNvPr id="52" name="Picture 51"/>
          <p:cNvPicPr>
            <a:picLocks noChangeAspect="1"/>
          </p:cNvPicPr>
          <p:nvPr/>
        </p:nvPicPr>
        <p:blipFill>
          <a:blip r:embed="rId5"/>
          <a:stretch>
            <a:fillRect/>
          </a:stretch>
        </p:blipFill>
        <p:spPr>
          <a:xfrm>
            <a:off x="6446460" y="1657640"/>
            <a:ext cx="671285" cy="671285"/>
          </a:xfrm>
          <a:prstGeom prst="rect">
            <a:avLst/>
          </a:prstGeom>
        </p:spPr>
      </p:pic>
      <p:pic>
        <p:nvPicPr>
          <p:cNvPr id="54" name="Picture 53"/>
          <p:cNvPicPr>
            <a:picLocks noChangeAspect="1"/>
          </p:cNvPicPr>
          <p:nvPr/>
        </p:nvPicPr>
        <p:blipFill>
          <a:blip r:embed="rId6"/>
          <a:stretch>
            <a:fillRect/>
          </a:stretch>
        </p:blipFill>
        <p:spPr>
          <a:xfrm>
            <a:off x="6271628" y="2855559"/>
            <a:ext cx="878737" cy="878737"/>
          </a:xfrm>
          <a:prstGeom prst="rect">
            <a:avLst/>
          </a:prstGeom>
        </p:spPr>
      </p:pic>
      <p:pic>
        <p:nvPicPr>
          <p:cNvPr id="58" name="Picture 57"/>
          <p:cNvPicPr>
            <a:picLocks noChangeAspect="1"/>
          </p:cNvPicPr>
          <p:nvPr/>
        </p:nvPicPr>
        <p:blipFill>
          <a:blip r:embed="rId7"/>
          <a:stretch>
            <a:fillRect/>
          </a:stretch>
        </p:blipFill>
        <p:spPr>
          <a:xfrm>
            <a:off x="6340760" y="4438650"/>
            <a:ext cx="653143" cy="653143"/>
          </a:xfrm>
          <a:prstGeom prst="rect">
            <a:avLst/>
          </a:prstGeom>
        </p:spPr>
      </p:pic>
      <p:pic>
        <p:nvPicPr>
          <p:cNvPr id="62" name="Picture 61"/>
          <p:cNvPicPr>
            <a:picLocks noChangeAspect="1"/>
          </p:cNvPicPr>
          <p:nvPr/>
        </p:nvPicPr>
        <p:blipFill>
          <a:blip r:embed="rId8"/>
          <a:stretch>
            <a:fillRect/>
          </a:stretch>
        </p:blipFill>
        <p:spPr>
          <a:xfrm>
            <a:off x="6293362" y="5629728"/>
            <a:ext cx="878736" cy="87873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 name="TextBox 2"/>
          <p:cNvSpPr txBox="1"/>
          <p:nvPr/>
        </p:nvSpPr>
        <p:spPr>
          <a:xfrm>
            <a:off x="666733" y="255948"/>
            <a:ext cx="4428328" cy="726353"/>
          </a:xfrm>
          <a:prstGeom prst="rect">
            <a:avLst/>
          </a:prstGeom>
          <a:noFill/>
        </p:spPr>
        <p:txBody>
          <a:bodyPr wrap="none" lIns="73152" tIns="54864" rIns="73152" bIns="54864" anchor="ctr">
            <a:spAutoFit/>
          </a:bodyPr>
          <a:lstStyle/>
          <a:p>
            <a:pPr algn="l">
              <a:spcBef>
                <a:spcPts val="0"/>
              </a:spcBef>
              <a:spcAft>
                <a:spcPts val="650"/>
              </a:spcAft>
            </a:pPr>
            <a:r>
              <a:rPr sz="4000" b="1">
                <a:solidFill>
                  <a:srgbClr val="FFFFFF"/>
                </a:solidFill>
              </a:rPr>
              <a:t>Scope of the System</a:t>
            </a:r>
            <a:endParaRPr sz="4000" b="1">
              <a:solidFill>
                <a:srgbClr val="FFFFFF"/>
              </a:solidFill>
            </a:endParaRPr>
          </a:p>
        </p:txBody>
      </p:sp>
      <p:grpSp>
        <p:nvGrpSpPr>
          <p:cNvPr id="14" name="Group 13"/>
          <p:cNvGrpSpPr/>
          <p:nvPr/>
        </p:nvGrpSpPr>
        <p:grpSpPr>
          <a:xfrm>
            <a:off x="565132" y="1434618"/>
            <a:ext cx="6772003" cy="1239181"/>
            <a:chOff x="565132" y="1434618"/>
            <a:chExt cx="6772003" cy="1239181"/>
          </a:xfrm>
        </p:grpSpPr>
        <p:sp>
          <p:nvSpPr>
            <p:cNvPr id="4" name="Rounded Rectangle 3"/>
            <p:cNvSpPr/>
            <p:nvPr/>
          </p:nvSpPr>
          <p:spPr>
            <a:xfrm>
              <a:off x="565132" y="1434618"/>
              <a:ext cx="6772003" cy="1239181"/>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 name="TextBox 6"/>
            <p:cNvSpPr txBox="1"/>
            <p:nvPr/>
          </p:nvSpPr>
          <p:spPr>
            <a:xfrm>
              <a:off x="1479510" y="1487626"/>
              <a:ext cx="5620449" cy="541687"/>
            </a:xfrm>
            <a:prstGeom prst="rect">
              <a:avLst/>
            </a:prstGeom>
            <a:noFill/>
          </p:spPr>
          <p:txBody>
            <a:bodyPr wrap="none" lIns="73152" tIns="54864" rIns="73152" bIns="54864" anchor="ctr">
              <a:spAutoFit/>
            </a:bodyPr>
            <a:lstStyle/>
            <a:p>
              <a:pPr>
                <a:spcAft>
                  <a:spcPts val="520"/>
                </a:spcAft>
              </a:pPr>
              <a:r>
                <a:rPr lang="en-GB" sz="2800" b="1" dirty="0">
                  <a:solidFill>
                    <a:srgbClr val="00897B"/>
                  </a:solidFill>
                </a:rPr>
                <a:t>82 barangays across the municipality</a:t>
              </a:r>
              <a:endParaRPr lang="en-US" sz="2800" b="1" dirty="0">
                <a:solidFill>
                  <a:srgbClr val="00897B"/>
                </a:solidFill>
              </a:endParaRPr>
            </a:p>
          </p:txBody>
        </p:sp>
        <p:sp>
          <p:nvSpPr>
            <p:cNvPr id="8" name="TextBox 7"/>
            <p:cNvSpPr txBox="1"/>
            <p:nvPr/>
          </p:nvSpPr>
          <p:spPr>
            <a:xfrm>
              <a:off x="1580688" y="1995494"/>
              <a:ext cx="5181469" cy="472373"/>
            </a:xfrm>
            <a:prstGeom prst="rect">
              <a:avLst/>
            </a:prstGeom>
            <a:noFill/>
          </p:spPr>
          <p:txBody>
            <a:bodyPr wrap="square" lIns="73152" tIns="54864" rIns="73152" bIns="54864" anchor="ctr">
              <a:spAutoFit/>
            </a:bodyPr>
            <a:lstStyle/>
            <a:p>
              <a:pPr>
                <a:lnSpc>
                  <a:spcPts val="1430"/>
                </a:lnSpc>
              </a:pPr>
              <a:r>
                <a:rPr lang="en-GB" sz="1400" dirty="0"/>
                <a:t>Enables digital </a:t>
              </a:r>
              <a:r>
                <a:rPr lang="en-GB" sz="1400" b="1" dirty="0"/>
                <a:t>coordination for all 82 barangays</a:t>
              </a:r>
              <a:r>
                <a:rPr lang="en-GB" sz="1400" dirty="0"/>
                <a:t> to independently submit and update their local cultural events and profiles</a:t>
              </a:r>
              <a:endParaRPr sz="1400" b="0" dirty="0">
                <a:solidFill>
                  <a:srgbClr val="555555"/>
                </a:solidFill>
              </a:endParaRPr>
            </a:p>
          </p:txBody>
        </p:sp>
      </p:grpSp>
      <p:grpSp>
        <p:nvGrpSpPr>
          <p:cNvPr id="44" name="Group 43"/>
          <p:cNvGrpSpPr/>
          <p:nvPr/>
        </p:nvGrpSpPr>
        <p:grpSpPr>
          <a:xfrm>
            <a:off x="565132" y="4578712"/>
            <a:ext cx="7804168" cy="1989479"/>
            <a:chOff x="2104869" y="3832246"/>
            <a:chExt cx="5333866" cy="1152524"/>
          </a:xfrm>
        </p:grpSpPr>
        <p:sp>
          <p:nvSpPr>
            <p:cNvPr id="9" name="Rounded Rectangle 8"/>
            <p:cNvSpPr/>
            <p:nvPr/>
          </p:nvSpPr>
          <p:spPr>
            <a:xfrm>
              <a:off x="2104869" y="3832246"/>
              <a:ext cx="5333866" cy="1152524"/>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dirty="0"/>
            </a:p>
          </p:txBody>
        </p:sp>
        <p:sp>
          <p:nvSpPr>
            <p:cNvPr id="12" name="TextBox 11"/>
            <p:cNvSpPr txBox="1"/>
            <p:nvPr/>
          </p:nvSpPr>
          <p:spPr>
            <a:xfrm>
              <a:off x="3002979" y="4063208"/>
              <a:ext cx="2930560" cy="477820"/>
            </a:xfrm>
            <a:prstGeom prst="rect">
              <a:avLst/>
            </a:prstGeom>
            <a:noFill/>
          </p:spPr>
          <p:txBody>
            <a:bodyPr wrap="none" lIns="73152" tIns="54864" rIns="73152" bIns="54864" anchor="ctr">
              <a:spAutoFit/>
            </a:bodyPr>
            <a:lstStyle/>
            <a:p>
              <a:pPr>
                <a:spcAft>
                  <a:spcPts val="520"/>
                </a:spcAft>
              </a:pPr>
              <a:r>
                <a:rPr lang="en-GB" sz="2400" dirty="0">
                  <a:solidFill>
                    <a:srgbClr val="00897B"/>
                  </a:solidFill>
                </a:rPr>
                <a:t>Promotes eco-tourism initiatives and </a:t>
              </a:r>
              <a:br>
                <a:rPr lang="en-GB" sz="2400" dirty="0">
                  <a:solidFill>
                    <a:srgbClr val="00897B"/>
                  </a:solidFill>
                </a:rPr>
              </a:br>
              <a:r>
                <a:rPr lang="en-GB" sz="2400" dirty="0">
                  <a:solidFill>
                    <a:srgbClr val="00897B"/>
                  </a:solidFill>
                </a:rPr>
                <a:t>hosts festivals like the </a:t>
              </a:r>
              <a:r>
                <a:rPr lang="en-GB" sz="2400" dirty="0" err="1">
                  <a:solidFill>
                    <a:srgbClr val="00897B"/>
                  </a:solidFill>
                </a:rPr>
                <a:t>Tupig</a:t>
              </a:r>
              <a:r>
                <a:rPr lang="en-GB" sz="2400" dirty="0">
                  <a:solidFill>
                    <a:srgbClr val="00897B"/>
                  </a:solidFill>
                </a:rPr>
                <a:t> Festiva</a:t>
              </a:r>
              <a:endParaRPr sz="2400" b="1" dirty="0">
                <a:solidFill>
                  <a:srgbClr val="00897B"/>
                </a:solidFill>
              </a:endParaRPr>
            </a:p>
          </p:txBody>
        </p:sp>
        <p:sp>
          <p:nvSpPr>
            <p:cNvPr id="13" name="TextBox 12"/>
            <p:cNvSpPr txBox="1"/>
            <p:nvPr/>
          </p:nvSpPr>
          <p:spPr>
            <a:xfrm>
              <a:off x="3002979" y="4582492"/>
              <a:ext cx="4228994" cy="273318"/>
            </a:xfrm>
            <a:prstGeom prst="rect">
              <a:avLst/>
            </a:prstGeom>
            <a:noFill/>
          </p:spPr>
          <p:txBody>
            <a:bodyPr wrap="square" lIns="73152" tIns="54864" rIns="73152" bIns="54864" anchor="ctr">
              <a:spAutoFit/>
            </a:bodyPr>
            <a:lstStyle/>
            <a:p>
              <a:pPr>
                <a:lnSpc>
                  <a:spcPts val="1430"/>
                </a:lnSpc>
              </a:pPr>
              <a:r>
                <a:rPr lang="en-GB" dirty="0"/>
                <a:t>Facilitates organized planning and efficient sharing of specific cultural events, such as the </a:t>
              </a:r>
              <a:r>
                <a:rPr lang="en-GB" dirty="0" err="1"/>
                <a:t>Tupig</a:t>
              </a:r>
              <a:r>
                <a:rPr lang="en-GB" dirty="0"/>
                <a:t> Festival, directly from the source</a:t>
              </a:r>
              <a:endParaRPr b="0" dirty="0">
                <a:solidFill>
                  <a:srgbClr val="555555"/>
                </a:solidFill>
              </a:endParaRPr>
            </a:p>
          </p:txBody>
        </p:sp>
      </p:grpSp>
      <p:grpSp>
        <p:nvGrpSpPr>
          <p:cNvPr id="15" name="Group 14"/>
          <p:cNvGrpSpPr/>
          <p:nvPr/>
        </p:nvGrpSpPr>
        <p:grpSpPr>
          <a:xfrm>
            <a:off x="565132" y="3082839"/>
            <a:ext cx="7693497" cy="1239181"/>
            <a:chOff x="565132" y="1434618"/>
            <a:chExt cx="6772003" cy="1239181"/>
          </a:xfrm>
        </p:grpSpPr>
        <p:sp>
          <p:nvSpPr>
            <p:cNvPr id="16" name="Rounded Rectangle 3"/>
            <p:cNvSpPr/>
            <p:nvPr/>
          </p:nvSpPr>
          <p:spPr>
            <a:xfrm>
              <a:off x="565132" y="1434618"/>
              <a:ext cx="6772003" cy="1239181"/>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dirty="0"/>
            </a:p>
          </p:txBody>
        </p:sp>
        <p:sp>
          <p:nvSpPr>
            <p:cNvPr id="19" name="TextBox 18"/>
            <p:cNvSpPr txBox="1"/>
            <p:nvPr/>
          </p:nvSpPr>
          <p:spPr>
            <a:xfrm>
              <a:off x="1513873" y="1435379"/>
              <a:ext cx="4477223" cy="541687"/>
            </a:xfrm>
            <a:prstGeom prst="rect">
              <a:avLst/>
            </a:prstGeom>
            <a:noFill/>
          </p:spPr>
          <p:txBody>
            <a:bodyPr wrap="none" lIns="73152" tIns="54864" rIns="73152" bIns="54864" anchor="ctr">
              <a:spAutoFit/>
            </a:bodyPr>
            <a:lstStyle/>
            <a:p>
              <a:pPr>
                <a:spcAft>
                  <a:spcPts val="520"/>
                </a:spcAft>
              </a:pPr>
              <a:r>
                <a:rPr lang="en-US" sz="2800" b="1" i="1" dirty="0">
                  <a:solidFill>
                    <a:srgbClr val="00897B"/>
                  </a:solidFill>
                </a:rPr>
                <a:t>Real-time fare budget estimation</a:t>
              </a:r>
              <a:endParaRPr lang="en-US" sz="2800" b="1" dirty="0">
                <a:solidFill>
                  <a:srgbClr val="00897B"/>
                </a:solidFill>
              </a:endParaRPr>
            </a:p>
          </p:txBody>
        </p:sp>
        <p:sp>
          <p:nvSpPr>
            <p:cNvPr id="20" name="TextBox 19"/>
            <p:cNvSpPr txBox="1"/>
            <p:nvPr/>
          </p:nvSpPr>
          <p:spPr>
            <a:xfrm>
              <a:off x="1580688" y="1988729"/>
              <a:ext cx="5181469" cy="485902"/>
            </a:xfrm>
            <a:prstGeom prst="rect">
              <a:avLst/>
            </a:prstGeom>
            <a:noFill/>
          </p:spPr>
          <p:txBody>
            <a:bodyPr wrap="square" lIns="73152" tIns="54864" rIns="73152" bIns="54864" anchor="ctr">
              <a:spAutoFit/>
            </a:bodyPr>
            <a:lstStyle/>
            <a:p>
              <a:pPr>
                <a:lnSpc>
                  <a:spcPts val="1430"/>
                </a:lnSpc>
              </a:pPr>
              <a:r>
                <a:rPr lang="en-US" i="1" dirty="0"/>
                <a:t>Enables tourists to </a:t>
              </a:r>
              <a:r>
                <a:rPr lang="en-US" b="1" i="1" dirty="0"/>
                <a:t>select attractions and services</a:t>
              </a:r>
              <a:r>
                <a:rPr lang="en-US" i="1" dirty="0"/>
                <a:t> to instantly generate an itemized cost breakdown —tricycle/jeepney fares</a:t>
              </a:r>
              <a:endParaRPr sz="1400" b="0" dirty="0">
                <a:solidFill>
                  <a:srgbClr val="555555"/>
                </a:solidFill>
              </a:endParaRPr>
            </a:p>
          </p:txBody>
        </p:sp>
      </p:grpSp>
      <p:pic>
        <p:nvPicPr>
          <p:cNvPr id="22" name="Picture 21"/>
          <p:cNvPicPr>
            <a:picLocks noChangeAspect="1"/>
          </p:cNvPicPr>
          <p:nvPr/>
        </p:nvPicPr>
        <p:blipFill>
          <a:blip r:embed="rId1"/>
          <a:stretch>
            <a:fillRect/>
          </a:stretch>
        </p:blipFill>
        <p:spPr>
          <a:xfrm flipV="1">
            <a:off x="737135" y="3293241"/>
            <a:ext cx="700947" cy="700947"/>
          </a:xfrm>
          <a:prstGeom prst="rect">
            <a:avLst/>
          </a:prstGeom>
        </p:spPr>
      </p:pic>
      <p:pic>
        <p:nvPicPr>
          <p:cNvPr id="24" name="Picture 23"/>
          <p:cNvPicPr>
            <a:picLocks noChangeAspect="1"/>
          </p:cNvPicPr>
          <p:nvPr/>
        </p:nvPicPr>
        <p:blipFill>
          <a:blip r:embed="rId2"/>
          <a:stretch>
            <a:fillRect/>
          </a:stretch>
        </p:blipFill>
        <p:spPr>
          <a:xfrm>
            <a:off x="743023" y="1594825"/>
            <a:ext cx="636855" cy="636855"/>
          </a:xfrm>
          <a:prstGeom prst="rect">
            <a:avLst/>
          </a:prstGeom>
        </p:spPr>
      </p:pic>
      <p:pic>
        <p:nvPicPr>
          <p:cNvPr id="26" name="Picture 25"/>
          <p:cNvPicPr>
            <a:picLocks noChangeAspect="1"/>
          </p:cNvPicPr>
          <p:nvPr/>
        </p:nvPicPr>
        <p:blipFill>
          <a:blip r:embed="rId3"/>
          <a:stretch>
            <a:fillRect/>
          </a:stretch>
        </p:blipFill>
        <p:spPr>
          <a:xfrm>
            <a:off x="1044235" y="5389802"/>
            <a:ext cx="671285" cy="67128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 name="TextBox 2"/>
          <p:cNvSpPr txBox="1"/>
          <p:nvPr/>
        </p:nvSpPr>
        <p:spPr>
          <a:xfrm>
            <a:off x="666733" y="256857"/>
            <a:ext cx="2853055" cy="724535"/>
          </a:xfrm>
          <a:prstGeom prst="rect">
            <a:avLst/>
          </a:prstGeom>
          <a:noFill/>
        </p:spPr>
        <p:txBody>
          <a:bodyPr wrap="none" lIns="73152" tIns="54864" rIns="73152" bIns="54864" anchor="ctr">
            <a:spAutoFit/>
          </a:bodyPr>
          <a:lstStyle/>
          <a:p>
            <a:pPr algn="l">
              <a:spcBef>
                <a:spcPts val="0"/>
              </a:spcBef>
              <a:spcAft>
                <a:spcPts val="650"/>
              </a:spcAft>
            </a:pPr>
            <a:r>
              <a:rPr lang="en-US" sz="4000" b="1">
                <a:solidFill>
                  <a:srgbClr val="FFFFFF"/>
                </a:solidFill>
              </a:rPr>
              <a:t>Out of </a:t>
            </a:r>
            <a:r>
              <a:rPr sz="4000" b="1">
                <a:solidFill>
                  <a:srgbClr val="FFFFFF"/>
                </a:solidFill>
              </a:rPr>
              <a:t>Scope</a:t>
            </a:r>
            <a:endParaRPr sz="4000" b="1">
              <a:solidFill>
                <a:srgbClr val="FFFFFF"/>
              </a:solidFill>
            </a:endParaRPr>
          </a:p>
        </p:txBody>
      </p:sp>
      <p:grpSp>
        <p:nvGrpSpPr>
          <p:cNvPr id="14" name="Group 13"/>
          <p:cNvGrpSpPr/>
          <p:nvPr/>
        </p:nvGrpSpPr>
        <p:grpSpPr>
          <a:xfrm>
            <a:off x="565132" y="1434618"/>
            <a:ext cx="7804150" cy="1238885"/>
            <a:chOff x="565132" y="1434618"/>
            <a:chExt cx="7804150" cy="1238885"/>
          </a:xfrm>
        </p:grpSpPr>
        <p:sp>
          <p:nvSpPr>
            <p:cNvPr id="4" name="Rounded Rectangle 3"/>
            <p:cNvSpPr/>
            <p:nvPr/>
          </p:nvSpPr>
          <p:spPr>
            <a:xfrm>
              <a:off x="565132" y="1434618"/>
              <a:ext cx="7804150" cy="1238885"/>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 name="TextBox 6"/>
            <p:cNvSpPr txBox="1"/>
            <p:nvPr/>
          </p:nvSpPr>
          <p:spPr>
            <a:xfrm>
              <a:off x="1479510" y="1488595"/>
              <a:ext cx="3882390" cy="539750"/>
            </a:xfrm>
            <a:prstGeom prst="rect">
              <a:avLst/>
            </a:prstGeom>
            <a:noFill/>
          </p:spPr>
          <p:txBody>
            <a:bodyPr wrap="none" lIns="73152" tIns="54864" rIns="73152" bIns="54864" anchor="ctr">
              <a:spAutoFit/>
            </a:bodyPr>
            <a:lstStyle/>
            <a:p>
              <a:pPr algn="l">
                <a:spcAft>
                  <a:spcPts val="520"/>
                </a:spcAft>
              </a:pPr>
              <a:r>
                <a:rPr lang="en-US" altLang="en-US" sz="2800" b="1" dirty="0">
                  <a:solidFill>
                    <a:srgbClr val="00897B"/>
                  </a:solidFill>
                </a:rPr>
                <a:t>No Financial Transactions</a:t>
              </a:r>
              <a:endParaRPr lang="en-US" altLang="en-US" sz="2800" b="1" dirty="0">
                <a:solidFill>
                  <a:srgbClr val="00897B"/>
                </a:solidFill>
              </a:endParaRPr>
            </a:p>
          </p:txBody>
        </p:sp>
        <p:sp>
          <p:nvSpPr>
            <p:cNvPr id="8" name="TextBox 7"/>
            <p:cNvSpPr txBox="1"/>
            <p:nvPr/>
          </p:nvSpPr>
          <p:spPr>
            <a:xfrm>
              <a:off x="1580688" y="1993875"/>
              <a:ext cx="5181469" cy="475615"/>
            </a:xfrm>
            <a:prstGeom prst="rect">
              <a:avLst/>
            </a:prstGeom>
            <a:noFill/>
          </p:spPr>
          <p:txBody>
            <a:bodyPr wrap="square" lIns="73152" tIns="54864" rIns="73152" bIns="54864" anchor="ctr">
              <a:spAutoFit/>
            </a:bodyPr>
            <a:lstStyle/>
            <a:p>
              <a:pPr>
                <a:lnSpc>
                  <a:spcPts val="1430"/>
                </a:lnSpc>
              </a:pPr>
              <a:r>
                <a:rPr lang="en-US" altLang="en-US" sz="1400" b="0" dirty="0">
                  <a:solidFill>
                    <a:srgbClr val="555555"/>
                  </a:solidFill>
                </a:rPr>
                <a:t>Financial Processing: The system will not facilitate online payments, bank transfers, or credit card processing for any tourism-related fees.</a:t>
              </a:r>
              <a:endParaRPr lang="en-US" altLang="en-US" sz="1400" b="0" dirty="0">
                <a:solidFill>
                  <a:srgbClr val="555555"/>
                </a:solidFill>
              </a:endParaRPr>
            </a:p>
          </p:txBody>
        </p:sp>
      </p:grpSp>
      <p:grpSp>
        <p:nvGrpSpPr>
          <p:cNvPr id="15" name="Group 14"/>
          <p:cNvGrpSpPr/>
          <p:nvPr/>
        </p:nvGrpSpPr>
        <p:grpSpPr>
          <a:xfrm>
            <a:off x="565132" y="3082839"/>
            <a:ext cx="7693497" cy="1239181"/>
            <a:chOff x="565132" y="1434618"/>
            <a:chExt cx="6772003" cy="1239181"/>
          </a:xfrm>
        </p:grpSpPr>
        <p:sp>
          <p:nvSpPr>
            <p:cNvPr id="16" name="Rounded Rectangle 3"/>
            <p:cNvSpPr/>
            <p:nvPr/>
          </p:nvSpPr>
          <p:spPr>
            <a:xfrm>
              <a:off x="565132" y="1434618"/>
              <a:ext cx="6772003" cy="1239181"/>
            </a:xfrm>
            <a:prstGeom prst="roundRect">
              <a:avLst>
                <a:gd name="adj" fmla="val 1322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dirty="0"/>
            </a:p>
          </p:txBody>
        </p:sp>
        <p:sp>
          <p:nvSpPr>
            <p:cNvPr id="19" name="TextBox 18"/>
            <p:cNvSpPr txBox="1"/>
            <p:nvPr/>
          </p:nvSpPr>
          <p:spPr>
            <a:xfrm>
              <a:off x="1513873" y="1436348"/>
              <a:ext cx="3146846" cy="539750"/>
            </a:xfrm>
            <a:prstGeom prst="rect">
              <a:avLst/>
            </a:prstGeom>
            <a:noFill/>
          </p:spPr>
          <p:txBody>
            <a:bodyPr wrap="none" lIns="73152" tIns="54864" rIns="73152" bIns="54864" anchor="ctr">
              <a:spAutoFit/>
            </a:bodyPr>
            <a:lstStyle/>
            <a:p>
              <a:pPr algn="l">
                <a:spcAft>
                  <a:spcPts val="520"/>
                </a:spcAft>
              </a:pPr>
              <a:r>
                <a:rPr lang="en-US" altLang="en-US" sz="2800" b="1" dirty="0">
                  <a:solidFill>
                    <a:srgbClr val="00897B"/>
                  </a:solidFill>
                </a:rPr>
                <a:t>No Real-time Inventory</a:t>
              </a:r>
              <a:endParaRPr lang="en-US" altLang="en-US" sz="2800" b="1" dirty="0">
                <a:solidFill>
                  <a:srgbClr val="00897B"/>
                </a:solidFill>
              </a:endParaRPr>
            </a:p>
          </p:txBody>
        </p:sp>
        <p:sp>
          <p:nvSpPr>
            <p:cNvPr id="20" name="TextBox 19"/>
            <p:cNvSpPr txBox="1"/>
            <p:nvPr/>
          </p:nvSpPr>
          <p:spPr>
            <a:xfrm>
              <a:off x="1580688" y="1993874"/>
              <a:ext cx="5181469" cy="475615"/>
            </a:xfrm>
            <a:prstGeom prst="rect">
              <a:avLst/>
            </a:prstGeom>
            <a:noFill/>
          </p:spPr>
          <p:txBody>
            <a:bodyPr wrap="square" lIns="73152" tIns="54864" rIns="73152" bIns="54864" anchor="ctr">
              <a:spAutoFit/>
            </a:bodyPr>
            <a:lstStyle/>
            <a:p>
              <a:pPr>
                <a:lnSpc>
                  <a:spcPts val="1430"/>
                </a:lnSpc>
              </a:pPr>
              <a:r>
                <a:rPr lang="en-US" altLang="en-US" sz="1400" b="0" dirty="0">
                  <a:solidFill>
                    <a:srgbClr val="555555"/>
                  </a:solidFill>
                </a:rPr>
                <a:t>Live Availability: The system will not provide real-time updates on hotel room availability or restaurant table status</a:t>
              </a:r>
              <a:endParaRPr sz="1400" b="0" dirty="0">
                <a:solidFill>
                  <a:srgbClr val="555555"/>
                </a:solidFill>
              </a:endParaRPr>
            </a:p>
          </p:txBody>
        </p:sp>
      </p:grpSp>
      <p:pic>
        <p:nvPicPr>
          <p:cNvPr id="22" name="Picture 21"/>
          <p:cNvPicPr>
            <a:picLocks noChangeAspect="1"/>
          </p:cNvPicPr>
          <p:nvPr/>
        </p:nvPicPr>
        <p:blipFill>
          <a:blip r:embed="rId1"/>
          <a:stretch>
            <a:fillRect/>
          </a:stretch>
        </p:blipFill>
        <p:spPr>
          <a:xfrm flipV="1">
            <a:off x="737135" y="3293241"/>
            <a:ext cx="700947" cy="700947"/>
          </a:xfrm>
          <a:prstGeom prst="rect">
            <a:avLst/>
          </a:prstGeom>
        </p:spPr>
      </p:pic>
      <p:pic>
        <p:nvPicPr>
          <p:cNvPr id="24" name="Picture 23"/>
          <p:cNvPicPr>
            <a:picLocks noChangeAspect="1"/>
          </p:cNvPicPr>
          <p:nvPr/>
        </p:nvPicPr>
        <p:blipFill>
          <a:blip r:embed="rId2"/>
          <a:stretch>
            <a:fillRect/>
          </a:stretch>
        </p:blipFill>
        <p:spPr>
          <a:xfrm>
            <a:off x="743023" y="1594825"/>
            <a:ext cx="636855" cy="6368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 name="TextBox 2"/>
          <p:cNvSpPr txBox="1"/>
          <p:nvPr/>
        </p:nvSpPr>
        <p:spPr>
          <a:xfrm>
            <a:off x="666733" y="255948"/>
            <a:ext cx="4344394" cy="726353"/>
          </a:xfrm>
          <a:prstGeom prst="rect">
            <a:avLst/>
          </a:prstGeom>
          <a:noFill/>
        </p:spPr>
        <p:txBody>
          <a:bodyPr wrap="none" lIns="73152" tIns="54864" rIns="73152" bIns="54864" anchor="ctr">
            <a:spAutoFit/>
          </a:bodyPr>
          <a:lstStyle/>
          <a:p>
            <a:pPr algn="l">
              <a:spcBef>
                <a:spcPts val="0"/>
              </a:spcBef>
              <a:spcAft>
                <a:spcPts val="650"/>
              </a:spcAft>
            </a:pPr>
            <a:r>
              <a:rPr sz="4000" b="1" dirty="0">
                <a:solidFill>
                  <a:srgbClr val="FFFFFF"/>
                </a:solidFill>
              </a:rPr>
              <a:t>Users of the System</a:t>
            </a:r>
            <a:endParaRPr sz="4000" b="1" dirty="0">
              <a:solidFill>
                <a:srgbClr val="FFFFFF"/>
              </a:solidFill>
            </a:endParaRPr>
          </a:p>
        </p:txBody>
      </p:sp>
      <p:sp>
        <p:nvSpPr>
          <p:cNvPr id="4" name="Rounded Rectangle 3"/>
          <p:cNvSpPr/>
          <p:nvPr/>
        </p:nvSpPr>
        <p:spPr>
          <a:xfrm>
            <a:off x="740130" y="1398948"/>
            <a:ext cx="5381491" cy="2381250"/>
          </a:xfrm>
          <a:prstGeom prst="roundRect">
            <a:avLst>
              <a:gd name="adj" fmla="val 96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 name="Rounded Rectangle 4"/>
          <p:cNvSpPr/>
          <p:nvPr/>
        </p:nvSpPr>
        <p:spPr>
          <a:xfrm>
            <a:off x="904852" y="1666874"/>
            <a:ext cx="666733" cy="66675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6" name="Picture 5" descr="image.png"/>
          <p:cNvPicPr>
            <a:picLocks noChangeAspect="1"/>
          </p:cNvPicPr>
          <p:nvPr/>
        </p:nvPicPr>
        <p:blipFill>
          <a:blip r:embed="rId1"/>
          <a:stretch>
            <a:fillRect/>
          </a:stretch>
        </p:blipFill>
        <p:spPr>
          <a:xfrm>
            <a:off x="1066773" y="1867228"/>
            <a:ext cx="342891" cy="266043"/>
          </a:xfrm>
          <a:prstGeom prst="rect">
            <a:avLst/>
          </a:prstGeom>
        </p:spPr>
      </p:pic>
      <p:sp>
        <p:nvSpPr>
          <p:cNvPr id="7" name="TextBox 6"/>
          <p:cNvSpPr txBox="1"/>
          <p:nvPr/>
        </p:nvSpPr>
        <p:spPr>
          <a:xfrm>
            <a:off x="1762080" y="1610345"/>
            <a:ext cx="3365665" cy="541687"/>
          </a:xfrm>
          <a:prstGeom prst="rect">
            <a:avLst/>
          </a:prstGeom>
          <a:noFill/>
        </p:spPr>
        <p:txBody>
          <a:bodyPr wrap="none" lIns="73152" tIns="54864" rIns="73152" bIns="54864" anchor="ctr">
            <a:spAutoFit/>
          </a:bodyPr>
          <a:lstStyle/>
          <a:p>
            <a:pPr algn="l">
              <a:spcBef>
                <a:spcPts val="0"/>
              </a:spcBef>
              <a:spcAft>
                <a:spcPts val="0"/>
              </a:spcAft>
            </a:pPr>
            <a:r>
              <a:rPr sz="2800" b="1">
                <a:solidFill>
                  <a:srgbClr val="00897B"/>
                </a:solidFill>
              </a:rPr>
              <a:t>System Administrator</a:t>
            </a:r>
            <a:endParaRPr sz="2800" b="1">
              <a:solidFill>
                <a:srgbClr val="00897B"/>
              </a:solidFill>
            </a:endParaRPr>
          </a:p>
        </p:txBody>
      </p:sp>
      <p:sp>
        <p:nvSpPr>
          <p:cNvPr id="8" name="TextBox 7"/>
          <p:cNvSpPr txBox="1"/>
          <p:nvPr/>
        </p:nvSpPr>
        <p:spPr>
          <a:xfrm>
            <a:off x="1762080" y="2008579"/>
            <a:ext cx="2228110" cy="326243"/>
          </a:xfrm>
          <a:prstGeom prst="rect">
            <a:avLst/>
          </a:prstGeom>
          <a:noFill/>
        </p:spPr>
        <p:txBody>
          <a:bodyPr wrap="none" lIns="73152" tIns="54864" rIns="73152" bIns="54864" anchor="ctr">
            <a:spAutoFit/>
          </a:bodyPr>
          <a:lstStyle/>
          <a:p>
            <a:pPr algn="l">
              <a:spcBef>
                <a:spcPts val="260"/>
              </a:spcBef>
              <a:spcAft>
                <a:spcPts val="0"/>
              </a:spcAft>
            </a:pPr>
            <a:r>
              <a:rPr sz="1400" b="0">
                <a:solidFill>
                  <a:srgbClr val="666666"/>
                </a:solidFill>
              </a:rPr>
              <a:t>Tourism Office Staff / IT Staff</a:t>
            </a:r>
            <a:endParaRPr sz="1400" b="0">
              <a:solidFill>
                <a:srgbClr val="666666"/>
              </a:solidFill>
            </a:endParaRPr>
          </a:p>
        </p:txBody>
      </p:sp>
      <p:pic>
        <p:nvPicPr>
          <p:cNvPr id="9" name="Picture 8" descr="image.png"/>
          <p:cNvPicPr>
            <a:picLocks noChangeAspect="1"/>
          </p:cNvPicPr>
          <p:nvPr/>
        </p:nvPicPr>
        <p:blipFill>
          <a:blip r:embed="rId2"/>
          <a:stretch>
            <a:fillRect/>
          </a:stretch>
        </p:blipFill>
        <p:spPr>
          <a:xfrm>
            <a:off x="904852" y="2565586"/>
            <a:ext cx="190495" cy="145676"/>
          </a:xfrm>
          <a:prstGeom prst="rect">
            <a:avLst/>
          </a:prstGeom>
        </p:spPr>
      </p:pic>
      <p:sp>
        <p:nvSpPr>
          <p:cNvPr id="10" name="TextBox 9"/>
          <p:cNvSpPr txBox="1"/>
          <p:nvPr/>
        </p:nvSpPr>
        <p:spPr>
          <a:xfrm>
            <a:off x="1190595" y="2481898"/>
            <a:ext cx="4742709" cy="341632"/>
          </a:xfrm>
          <a:prstGeom prst="rect">
            <a:avLst/>
          </a:prstGeom>
          <a:noFill/>
        </p:spPr>
        <p:txBody>
          <a:bodyPr wrap="none" lIns="73152" tIns="54864" rIns="73152" bIns="54864" anchor="ctr">
            <a:spAutoFit/>
          </a:bodyPr>
          <a:lstStyle/>
          <a:p>
            <a:pPr algn="l">
              <a:lnSpc>
                <a:spcPts val="1755"/>
              </a:lnSpc>
              <a:spcBef>
                <a:spcPts val="0"/>
              </a:spcBef>
              <a:spcAft>
                <a:spcPts val="0"/>
              </a:spcAft>
            </a:pPr>
            <a:r>
              <a:rPr sz="1600" b="1" dirty="0">
                <a:solidFill>
                  <a:srgbClr val="00897B"/>
                </a:solidFill>
              </a:rPr>
              <a:t>Manages user accounts</a:t>
            </a:r>
            <a:r>
              <a:rPr sz="1600" b="0" dirty="0">
                <a:solidFill>
                  <a:srgbClr val="333333"/>
                </a:solidFill>
              </a:rPr>
              <a:t> and system access permissions</a:t>
            </a:r>
            <a:endParaRPr sz="1600" b="0" dirty="0">
              <a:solidFill>
                <a:srgbClr val="333333"/>
              </a:solidFill>
            </a:endParaRPr>
          </a:p>
        </p:txBody>
      </p:sp>
      <p:pic>
        <p:nvPicPr>
          <p:cNvPr id="11" name="Picture 10" descr="image.png"/>
          <p:cNvPicPr>
            <a:picLocks noChangeAspect="1"/>
          </p:cNvPicPr>
          <p:nvPr/>
        </p:nvPicPr>
        <p:blipFill>
          <a:blip r:embed="rId3"/>
          <a:stretch>
            <a:fillRect/>
          </a:stretch>
        </p:blipFill>
        <p:spPr>
          <a:xfrm>
            <a:off x="904852" y="2934260"/>
            <a:ext cx="190495" cy="151279"/>
          </a:xfrm>
          <a:prstGeom prst="rect">
            <a:avLst/>
          </a:prstGeom>
        </p:spPr>
      </p:pic>
      <p:sp>
        <p:nvSpPr>
          <p:cNvPr id="12" name="TextBox 11"/>
          <p:cNvSpPr txBox="1"/>
          <p:nvPr/>
        </p:nvSpPr>
        <p:spPr>
          <a:xfrm>
            <a:off x="1190595" y="2853373"/>
            <a:ext cx="4879477" cy="341632"/>
          </a:xfrm>
          <a:prstGeom prst="rect">
            <a:avLst/>
          </a:prstGeom>
          <a:noFill/>
        </p:spPr>
        <p:txBody>
          <a:bodyPr wrap="none" lIns="73152" tIns="54864" rIns="73152" bIns="54864" anchor="ctr">
            <a:spAutoFit/>
          </a:bodyPr>
          <a:lstStyle/>
          <a:p>
            <a:pPr algn="l">
              <a:lnSpc>
                <a:spcPts val="1755"/>
              </a:lnSpc>
              <a:spcBef>
                <a:spcPts val="0"/>
              </a:spcBef>
              <a:spcAft>
                <a:spcPts val="0"/>
              </a:spcAft>
            </a:pPr>
            <a:r>
              <a:rPr sz="1600" b="1" dirty="0">
                <a:solidFill>
                  <a:srgbClr val="00897B"/>
                </a:solidFill>
              </a:rPr>
              <a:t>Approves/rejects</a:t>
            </a:r>
            <a:r>
              <a:rPr sz="1600" b="0" dirty="0">
                <a:solidFill>
                  <a:srgbClr val="333333"/>
                </a:solidFill>
              </a:rPr>
              <a:t> content submissions from contributors</a:t>
            </a:r>
            <a:endParaRPr sz="1600" b="0" dirty="0">
              <a:solidFill>
                <a:srgbClr val="333333"/>
              </a:solidFill>
            </a:endParaRPr>
          </a:p>
        </p:txBody>
      </p:sp>
      <p:pic>
        <p:nvPicPr>
          <p:cNvPr id="13" name="Picture 12" descr="image.png"/>
          <p:cNvPicPr>
            <a:picLocks noChangeAspect="1"/>
          </p:cNvPicPr>
          <p:nvPr/>
        </p:nvPicPr>
        <p:blipFill>
          <a:blip r:embed="rId4"/>
          <a:stretch>
            <a:fillRect/>
          </a:stretch>
        </p:blipFill>
        <p:spPr>
          <a:xfrm>
            <a:off x="904852" y="3300132"/>
            <a:ext cx="190495" cy="162485"/>
          </a:xfrm>
          <a:prstGeom prst="rect">
            <a:avLst/>
          </a:prstGeom>
        </p:spPr>
      </p:pic>
      <p:sp>
        <p:nvSpPr>
          <p:cNvPr id="14" name="TextBox 13"/>
          <p:cNvSpPr txBox="1"/>
          <p:nvPr/>
        </p:nvSpPr>
        <p:spPr>
          <a:xfrm>
            <a:off x="1172254" y="3224848"/>
            <a:ext cx="4949368" cy="341632"/>
          </a:xfrm>
          <a:prstGeom prst="rect">
            <a:avLst/>
          </a:prstGeom>
          <a:noFill/>
        </p:spPr>
        <p:txBody>
          <a:bodyPr wrap="none" lIns="73152" tIns="54864" rIns="73152" bIns="54864" anchor="ctr">
            <a:spAutoFit/>
          </a:bodyPr>
          <a:lstStyle/>
          <a:p>
            <a:pPr algn="l">
              <a:lnSpc>
                <a:spcPts val="1755"/>
              </a:lnSpc>
              <a:spcBef>
                <a:spcPts val="0"/>
              </a:spcBef>
              <a:spcAft>
                <a:spcPts val="0"/>
              </a:spcAft>
            </a:pPr>
            <a:r>
              <a:rPr sz="1600" b="0" dirty="0">
                <a:solidFill>
                  <a:srgbClr val="333333"/>
                </a:solidFill>
              </a:rPr>
              <a:t>Oversees </a:t>
            </a:r>
            <a:r>
              <a:rPr sz="1600" b="1" dirty="0">
                <a:solidFill>
                  <a:srgbClr val="00897B"/>
                </a:solidFill>
              </a:rPr>
              <a:t>platform maintenance</a:t>
            </a:r>
            <a:r>
              <a:rPr sz="1600" b="0" dirty="0">
                <a:solidFill>
                  <a:srgbClr val="333333"/>
                </a:solidFill>
              </a:rPr>
              <a:t> and technical operations</a:t>
            </a:r>
            <a:endParaRPr sz="1600" b="0" dirty="0">
              <a:solidFill>
                <a:srgbClr val="333333"/>
              </a:solidFill>
            </a:endParaRPr>
          </a:p>
        </p:txBody>
      </p:sp>
      <p:sp>
        <p:nvSpPr>
          <p:cNvPr id="15" name="Rounded Rectangle 14"/>
          <p:cNvSpPr/>
          <p:nvPr/>
        </p:nvSpPr>
        <p:spPr>
          <a:xfrm>
            <a:off x="6312116" y="1398948"/>
            <a:ext cx="5381491" cy="2381250"/>
          </a:xfrm>
          <a:prstGeom prst="roundRect">
            <a:avLst>
              <a:gd name="adj" fmla="val 96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6" name="Rounded Rectangle 15"/>
          <p:cNvSpPr/>
          <p:nvPr/>
        </p:nvSpPr>
        <p:spPr>
          <a:xfrm>
            <a:off x="6476838" y="1666874"/>
            <a:ext cx="666733" cy="66675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17" name="Picture 16" descr="image.png"/>
          <p:cNvPicPr>
            <a:picLocks noChangeAspect="1"/>
          </p:cNvPicPr>
          <p:nvPr/>
        </p:nvPicPr>
        <p:blipFill>
          <a:blip r:embed="rId5"/>
          <a:stretch>
            <a:fillRect/>
          </a:stretch>
        </p:blipFill>
        <p:spPr>
          <a:xfrm>
            <a:off x="6638759" y="1893832"/>
            <a:ext cx="342891" cy="212834"/>
          </a:xfrm>
          <a:prstGeom prst="rect">
            <a:avLst/>
          </a:prstGeom>
        </p:spPr>
      </p:pic>
      <p:sp>
        <p:nvSpPr>
          <p:cNvPr id="18" name="TextBox 17"/>
          <p:cNvSpPr txBox="1"/>
          <p:nvPr/>
        </p:nvSpPr>
        <p:spPr>
          <a:xfrm>
            <a:off x="7334066" y="1610345"/>
            <a:ext cx="3850606" cy="541687"/>
          </a:xfrm>
          <a:prstGeom prst="rect">
            <a:avLst/>
          </a:prstGeom>
          <a:noFill/>
        </p:spPr>
        <p:txBody>
          <a:bodyPr wrap="none" lIns="73152" tIns="54864" rIns="73152" bIns="54864" anchor="ctr">
            <a:spAutoFit/>
          </a:bodyPr>
          <a:lstStyle/>
          <a:p>
            <a:pPr algn="l">
              <a:spcBef>
                <a:spcPts val="0"/>
              </a:spcBef>
              <a:spcAft>
                <a:spcPts val="0"/>
              </a:spcAft>
            </a:pPr>
            <a:r>
              <a:rPr sz="2800" b="1">
                <a:solidFill>
                  <a:srgbClr val="00897B"/>
                </a:solidFill>
              </a:rPr>
              <a:t>Barangay Representative</a:t>
            </a:r>
            <a:endParaRPr sz="2800" b="1">
              <a:solidFill>
                <a:srgbClr val="00897B"/>
              </a:solidFill>
            </a:endParaRPr>
          </a:p>
        </p:txBody>
      </p:sp>
      <p:sp>
        <p:nvSpPr>
          <p:cNvPr id="19" name="TextBox 18"/>
          <p:cNvSpPr txBox="1"/>
          <p:nvPr/>
        </p:nvSpPr>
        <p:spPr>
          <a:xfrm>
            <a:off x="7334066" y="2008579"/>
            <a:ext cx="1001941" cy="326243"/>
          </a:xfrm>
          <a:prstGeom prst="rect">
            <a:avLst/>
          </a:prstGeom>
          <a:noFill/>
        </p:spPr>
        <p:txBody>
          <a:bodyPr wrap="none" lIns="73152" tIns="54864" rIns="73152" bIns="54864" anchor="ctr">
            <a:spAutoFit/>
          </a:bodyPr>
          <a:lstStyle/>
          <a:p>
            <a:pPr algn="l">
              <a:spcBef>
                <a:spcPts val="260"/>
              </a:spcBef>
              <a:spcAft>
                <a:spcPts val="0"/>
              </a:spcAft>
            </a:pPr>
            <a:r>
              <a:rPr sz="1400" b="0">
                <a:solidFill>
                  <a:srgbClr val="666666"/>
                </a:solidFill>
              </a:rPr>
              <a:t>Contributor</a:t>
            </a:r>
            <a:endParaRPr sz="1400" b="0">
              <a:solidFill>
                <a:srgbClr val="666666"/>
              </a:solidFill>
            </a:endParaRPr>
          </a:p>
        </p:txBody>
      </p:sp>
      <p:pic>
        <p:nvPicPr>
          <p:cNvPr id="20" name="Picture 19" descr="image.png"/>
          <p:cNvPicPr>
            <a:picLocks noChangeAspect="1"/>
          </p:cNvPicPr>
          <p:nvPr/>
        </p:nvPicPr>
        <p:blipFill>
          <a:blip r:embed="rId6"/>
          <a:stretch>
            <a:fillRect/>
          </a:stretch>
        </p:blipFill>
        <p:spPr>
          <a:xfrm>
            <a:off x="6476838" y="2557182"/>
            <a:ext cx="190495" cy="162485"/>
          </a:xfrm>
          <a:prstGeom prst="rect">
            <a:avLst/>
          </a:prstGeom>
        </p:spPr>
      </p:pic>
      <p:sp>
        <p:nvSpPr>
          <p:cNvPr id="21" name="TextBox 20"/>
          <p:cNvSpPr txBox="1"/>
          <p:nvPr/>
        </p:nvSpPr>
        <p:spPr>
          <a:xfrm>
            <a:off x="6762580" y="2481898"/>
            <a:ext cx="4401461" cy="341632"/>
          </a:xfrm>
          <a:prstGeom prst="rect">
            <a:avLst/>
          </a:prstGeom>
          <a:noFill/>
        </p:spPr>
        <p:txBody>
          <a:bodyPr wrap="none" lIns="73152" tIns="54864" rIns="73152" bIns="54864" anchor="ctr">
            <a:spAutoFit/>
          </a:bodyPr>
          <a:lstStyle/>
          <a:p>
            <a:pPr algn="l">
              <a:lnSpc>
                <a:spcPts val="1755"/>
              </a:lnSpc>
              <a:spcBef>
                <a:spcPts val="0"/>
              </a:spcBef>
              <a:spcAft>
                <a:spcPts val="0"/>
              </a:spcAft>
            </a:pPr>
            <a:r>
              <a:rPr sz="1600" b="1">
                <a:solidFill>
                  <a:srgbClr val="00897B"/>
                </a:solidFill>
              </a:rPr>
              <a:t>Submits content</a:t>
            </a:r>
            <a:r>
              <a:rPr sz="1600" b="0">
                <a:solidFill>
                  <a:srgbClr val="333333"/>
                </a:solidFill>
              </a:rPr>
              <a:t> about local attractions and events</a:t>
            </a:r>
            <a:endParaRPr sz="1600" b="0">
              <a:solidFill>
                <a:srgbClr val="333333"/>
              </a:solidFill>
            </a:endParaRPr>
          </a:p>
        </p:txBody>
      </p:sp>
      <p:pic>
        <p:nvPicPr>
          <p:cNvPr id="22" name="Picture 21" descr="image.png"/>
          <p:cNvPicPr>
            <a:picLocks noChangeAspect="1"/>
          </p:cNvPicPr>
          <p:nvPr/>
        </p:nvPicPr>
        <p:blipFill>
          <a:blip r:embed="rId7"/>
          <a:stretch>
            <a:fillRect/>
          </a:stretch>
        </p:blipFill>
        <p:spPr>
          <a:xfrm>
            <a:off x="6476838" y="2934260"/>
            <a:ext cx="190495" cy="151279"/>
          </a:xfrm>
          <a:prstGeom prst="rect">
            <a:avLst/>
          </a:prstGeom>
        </p:spPr>
      </p:pic>
      <p:sp>
        <p:nvSpPr>
          <p:cNvPr id="23" name="TextBox 22"/>
          <p:cNvSpPr txBox="1"/>
          <p:nvPr/>
        </p:nvSpPr>
        <p:spPr>
          <a:xfrm>
            <a:off x="6762580" y="2853373"/>
            <a:ext cx="3904274" cy="341632"/>
          </a:xfrm>
          <a:prstGeom prst="rect">
            <a:avLst/>
          </a:prstGeom>
          <a:noFill/>
        </p:spPr>
        <p:txBody>
          <a:bodyPr wrap="none" lIns="73152" tIns="54864" rIns="73152" bIns="54864" anchor="ctr">
            <a:spAutoFit/>
          </a:bodyPr>
          <a:lstStyle/>
          <a:p>
            <a:pPr algn="l">
              <a:lnSpc>
                <a:spcPts val="1755"/>
              </a:lnSpc>
              <a:spcBef>
                <a:spcPts val="0"/>
              </a:spcBef>
              <a:spcAft>
                <a:spcPts val="0"/>
              </a:spcAft>
            </a:pPr>
            <a:r>
              <a:rPr sz="1600" b="1">
                <a:solidFill>
                  <a:srgbClr val="00897B"/>
                </a:solidFill>
              </a:rPr>
              <a:t>Updates information</a:t>
            </a:r>
            <a:r>
              <a:rPr sz="1600" b="0">
                <a:solidFill>
                  <a:srgbClr val="333333"/>
                </a:solidFill>
              </a:rPr>
              <a:t> within their jurisdiction</a:t>
            </a:r>
            <a:endParaRPr sz="1600" b="0">
              <a:solidFill>
                <a:srgbClr val="333333"/>
              </a:solidFill>
            </a:endParaRPr>
          </a:p>
        </p:txBody>
      </p:sp>
      <p:pic>
        <p:nvPicPr>
          <p:cNvPr id="24" name="Picture 23" descr="image.png"/>
          <p:cNvPicPr>
            <a:picLocks noChangeAspect="1"/>
          </p:cNvPicPr>
          <p:nvPr/>
        </p:nvPicPr>
        <p:blipFill>
          <a:blip r:embed="rId8"/>
          <a:stretch>
            <a:fillRect/>
          </a:stretch>
        </p:blipFill>
        <p:spPr>
          <a:xfrm>
            <a:off x="6476838" y="3300132"/>
            <a:ext cx="190495" cy="162485"/>
          </a:xfrm>
          <a:prstGeom prst="rect">
            <a:avLst/>
          </a:prstGeom>
        </p:spPr>
      </p:pic>
      <p:sp>
        <p:nvSpPr>
          <p:cNvPr id="25" name="TextBox 24"/>
          <p:cNvSpPr txBox="1"/>
          <p:nvPr/>
        </p:nvSpPr>
        <p:spPr>
          <a:xfrm>
            <a:off x="6762580" y="3224848"/>
            <a:ext cx="4427238" cy="341632"/>
          </a:xfrm>
          <a:prstGeom prst="rect">
            <a:avLst/>
          </a:prstGeom>
          <a:noFill/>
        </p:spPr>
        <p:txBody>
          <a:bodyPr wrap="none" lIns="73152" tIns="54864" rIns="73152" bIns="54864" anchor="ctr">
            <a:spAutoFit/>
          </a:bodyPr>
          <a:lstStyle/>
          <a:p>
            <a:pPr algn="l">
              <a:lnSpc>
                <a:spcPts val="1755"/>
              </a:lnSpc>
              <a:spcBef>
                <a:spcPts val="0"/>
              </a:spcBef>
              <a:spcAft>
                <a:spcPts val="0"/>
              </a:spcAft>
            </a:pPr>
            <a:r>
              <a:rPr sz="1600" b="0">
                <a:solidFill>
                  <a:srgbClr val="333333"/>
                </a:solidFill>
              </a:rPr>
              <a:t>Uploads </a:t>
            </a:r>
            <a:r>
              <a:rPr sz="1600" b="1">
                <a:solidFill>
                  <a:srgbClr val="00897B"/>
                </a:solidFill>
              </a:rPr>
              <a:t>photos and videos</a:t>
            </a:r>
            <a:r>
              <a:rPr sz="1600" b="0">
                <a:solidFill>
                  <a:srgbClr val="333333"/>
                </a:solidFill>
              </a:rPr>
              <a:t> of community activities</a:t>
            </a:r>
            <a:endParaRPr sz="1600" b="0">
              <a:solidFill>
                <a:srgbClr val="333333"/>
              </a:solidFill>
            </a:endParaRPr>
          </a:p>
        </p:txBody>
      </p:sp>
      <p:sp>
        <p:nvSpPr>
          <p:cNvPr id="26" name="Rounded Rectangle 25"/>
          <p:cNvSpPr/>
          <p:nvPr/>
        </p:nvSpPr>
        <p:spPr>
          <a:xfrm>
            <a:off x="740130" y="4065947"/>
            <a:ext cx="5381491" cy="2381250"/>
          </a:xfrm>
          <a:prstGeom prst="roundRect">
            <a:avLst>
              <a:gd name="adj" fmla="val 96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Rounded Rectangle 26"/>
          <p:cNvSpPr/>
          <p:nvPr/>
        </p:nvSpPr>
        <p:spPr>
          <a:xfrm>
            <a:off x="904852" y="4333875"/>
            <a:ext cx="666733" cy="66675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28" name="Picture 27" descr="image.png"/>
          <p:cNvPicPr>
            <a:picLocks noChangeAspect="1"/>
          </p:cNvPicPr>
          <p:nvPr/>
        </p:nvPicPr>
        <p:blipFill>
          <a:blip r:embed="rId9"/>
          <a:stretch>
            <a:fillRect/>
          </a:stretch>
        </p:blipFill>
        <p:spPr>
          <a:xfrm>
            <a:off x="1066773" y="4522404"/>
            <a:ext cx="342891" cy="289691"/>
          </a:xfrm>
          <a:prstGeom prst="rect">
            <a:avLst/>
          </a:prstGeom>
        </p:spPr>
      </p:pic>
      <p:sp>
        <p:nvSpPr>
          <p:cNvPr id="29" name="TextBox 28"/>
          <p:cNvSpPr txBox="1"/>
          <p:nvPr/>
        </p:nvSpPr>
        <p:spPr>
          <a:xfrm>
            <a:off x="1762080" y="4277345"/>
            <a:ext cx="1818062" cy="541687"/>
          </a:xfrm>
          <a:prstGeom prst="rect">
            <a:avLst/>
          </a:prstGeom>
          <a:noFill/>
        </p:spPr>
        <p:txBody>
          <a:bodyPr wrap="none" lIns="73152" tIns="54864" rIns="73152" bIns="54864" anchor="ctr">
            <a:spAutoFit/>
          </a:bodyPr>
          <a:lstStyle/>
          <a:p>
            <a:pPr algn="l">
              <a:spcBef>
                <a:spcPts val="0"/>
              </a:spcBef>
              <a:spcAft>
                <a:spcPts val="0"/>
              </a:spcAft>
            </a:pPr>
            <a:r>
              <a:rPr sz="2800" b="1">
                <a:solidFill>
                  <a:srgbClr val="00897B"/>
                </a:solidFill>
              </a:rPr>
              <a:t>Public User</a:t>
            </a:r>
            <a:endParaRPr sz="2800" b="1">
              <a:solidFill>
                <a:srgbClr val="00897B"/>
              </a:solidFill>
            </a:endParaRPr>
          </a:p>
        </p:txBody>
      </p:sp>
      <p:sp>
        <p:nvSpPr>
          <p:cNvPr id="30" name="TextBox 29"/>
          <p:cNvSpPr txBox="1"/>
          <p:nvPr/>
        </p:nvSpPr>
        <p:spPr>
          <a:xfrm>
            <a:off x="1762080" y="4675580"/>
            <a:ext cx="1402563" cy="326243"/>
          </a:xfrm>
          <a:prstGeom prst="rect">
            <a:avLst/>
          </a:prstGeom>
          <a:noFill/>
        </p:spPr>
        <p:txBody>
          <a:bodyPr wrap="none" lIns="73152" tIns="54864" rIns="73152" bIns="54864" anchor="ctr">
            <a:spAutoFit/>
          </a:bodyPr>
          <a:lstStyle/>
          <a:p>
            <a:pPr algn="l">
              <a:spcBef>
                <a:spcPts val="260"/>
              </a:spcBef>
              <a:spcAft>
                <a:spcPts val="0"/>
              </a:spcAft>
            </a:pPr>
            <a:r>
              <a:rPr sz="1400" b="0">
                <a:solidFill>
                  <a:srgbClr val="666666"/>
                </a:solidFill>
              </a:rPr>
              <a:t>Tourists / Visitors</a:t>
            </a:r>
            <a:endParaRPr sz="1400" b="0">
              <a:solidFill>
                <a:srgbClr val="666666"/>
              </a:solidFill>
            </a:endParaRPr>
          </a:p>
        </p:txBody>
      </p:sp>
      <p:pic>
        <p:nvPicPr>
          <p:cNvPr id="31" name="Picture 30" descr="image.png"/>
          <p:cNvPicPr>
            <a:picLocks noChangeAspect="1"/>
          </p:cNvPicPr>
          <p:nvPr/>
        </p:nvPicPr>
        <p:blipFill>
          <a:blip r:embed="rId10"/>
          <a:stretch>
            <a:fillRect/>
          </a:stretch>
        </p:blipFill>
        <p:spPr>
          <a:xfrm>
            <a:off x="904852" y="5229785"/>
            <a:ext cx="190495" cy="151279"/>
          </a:xfrm>
          <a:prstGeom prst="rect">
            <a:avLst/>
          </a:prstGeom>
        </p:spPr>
      </p:pic>
      <p:sp>
        <p:nvSpPr>
          <p:cNvPr id="32" name="TextBox 31"/>
          <p:cNvSpPr txBox="1"/>
          <p:nvPr/>
        </p:nvSpPr>
        <p:spPr>
          <a:xfrm>
            <a:off x="1190595" y="5147295"/>
            <a:ext cx="4552849" cy="344838"/>
          </a:xfrm>
          <a:prstGeom prst="rect">
            <a:avLst/>
          </a:prstGeom>
          <a:noFill/>
        </p:spPr>
        <p:txBody>
          <a:bodyPr wrap="none" lIns="73152" tIns="54864" rIns="73152" bIns="54864" anchor="ctr">
            <a:spAutoFit/>
          </a:bodyPr>
          <a:lstStyle/>
          <a:p>
            <a:pPr algn="l">
              <a:lnSpc>
                <a:spcPts val="1755"/>
              </a:lnSpc>
              <a:spcBef>
                <a:spcPts val="0"/>
              </a:spcBef>
              <a:spcAft>
                <a:spcPts val="0"/>
              </a:spcAft>
            </a:pPr>
            <a:r>
              <a:rPr b="1" dirty="0">
                <a:solidFill>
                  <a:srgbClr val="00897B"/>
                </a:solidFill>
              </a:rPr>
              <a:t>Navigates interactive map</a:t>
            </a:r>
            <a:r>
              <a:rPr b="0" dirty="0">
                <a:solidFill>
                  <a:srgbClr val="333333"/>
                </a:solidFill>
              </a:rPr>
              <a:t> to locate attractions</a:t>
            </a:r>
            <a:endParaRPr b="0" dirty="0">
              <a:solidFill>
                <a:srgbClr val="333333"/>
              </a:solidFill>
            </a:endParaRPr>
          </a:p>
        </p:txBody>
      </p:sp>
      <p:pic>
        <p:nvPicPr>
          <p:cNvPr id="33" name="Picture 32" descr="image.png"/>
          <p:cNvPicPr>
            <a:picLocks noChangeAspect="1"/>
          </p:cNvPicPr>
          <p:nvPr/>
        </p:nvPicPr>
        <p:blipFill>
          <a:blip r:embed="rId11"/>
          <a:stretch>
            <a:fillRect/>
          </a:stretch>
        </p:blipFill>
        <p:spPr>
          <a:xfrm>
            <a:off x="904852" y="5602661"/>
            <a:ext cx="190495" cy="148477"/>
          </a:xfrm>
          <a:prstGeom prst="rect">
            <a:avLst/>
          </a:prstGeom>
        </p:spPr>
      </p:pic>
      <p:sp>
        <p:nvSpPr>
          <p:cNvPr id="34" name="TextBox 33"/>
          <p:cNvSpPr txBox="1"/>
          <p:nvPr/>
        </p:nvSpPr>
        <p:spPr>
          <a:xfrm>
            <a:off x="1190595" y="5518770"/>
            <a:ext cx="4731873" cy="344838"/>
          </a:xfrm>
          <a:prstGeom prst="rect">
            <a:avLst/>
          </a:prstGeom>
          <a:noFill/>
        </p:spPr>
        <p:txBody>
          <a:bodyPr wrap="none" lIns="73152" tIns="54864" rIns="73152" bIns="54864" anchor="ctr">
            <a:spAutoFit/>
          </a:bodyPr>
          <a:lstStyle/>
          <a:p>
            <a:pPr algn="l">
              <a:lnSpc>
                <a:spcPts val="1755"/>
              </a:lnSpc>
              <a:spcBef>
                <a:spcPts val="0"/>
              </a:spcBef>
              <a:spcAft>
                <a:spcPts val="0"/>
              </a:spcAft>
            </a:pPr>
            <a:r>
              <a:rPr b="1">
                <a:solidFill>
                  <a:srgbClr val="00897B"/>
                </a:solidFill>
              </a:rPr>
              <a:t>Searches and filters</a:t>
            </a:r>
            <a:r>
              <a:rPr b="0">
                <a:solidFill>
                  <a:srgbClr val="333333"/>
                </a:solidFill>
              </a:rPr>
              <a:t> for specific points of interest</a:t>
            </a:r>
            <a:endParaRPr b="0">
              <a:solidFill>
                <a:srgbClr val="333333"/>
              </a:solidFill>
            </a:endParaRPr>
          </a:p>
        </p:txBody>
      </p:sp>
      <p:pic>
        <p:nvPicPr>
          <p:cNvPr id="35" name="Picture 34" descr="image.png"/>
          <p:cNvPicPr>
            <a:picLocks noChangeAspect="1"/>
          </p:cNvPicPr>
          <p:nvPr/>
        </p:nvPicPr>
        <p:blipFill>
          <a:blip r:embed="rId12"/>
          <a:stretch>
            <a:fillRect/>
          </a:stretch>
        </p:blipFill>
        <p:spPr>
          <a:xfrm>
            <a:off x="904852" y="5972735"/>
            <a:ext cx="190495" cy="151279"/>
          </a:xfrm>
          <a:prstGeom prst="rect">
            <a:avLst/>
          </a:prstGeom>
        </p:spPr>
      </p:pic>
      <p:sp>
        <p:nvSpPr>
          <p:cNvPr id="36" name="TextBox 35"/>
          <p:cNvSpPr txBox="1"/>
          <p:nvPr/>
        </p:nvSpPr>
        <p:spPr>
          <a:xfrm>
            <a:off x="1190595" y="5890245"/>
            <a:ext cx="4698017" cy="344838"/>
          </a:xfrm>
          <a:prstGeom prst="rect">
            <a:avLst/>
          </a:prstGeom>
          <a:noFill/>
        </p:spPr>
        <p:txBody>
          <a:bodyPr wrap="none" lIns="73152" tIns="54864" rIns="73152" bIns="54864" anchor="ctr">
            <a:spAutoFit/>
          </a:bodyPr>
          <a:lstStyle/>
          <a:p>
            <a:pPr algn="l">
              <a:lnSpc>
                <a:spcPts val="1755"/>
              </a:lnSpc>
              <a:spcBef>
                <a:spcPts val="0"/>
              </a:spcBef>
              <a:spcAft>
                <a:spcPts val="0"/>
              </a:spcAft>
            </a:pPr>
            <a:r>
              <a:rPr b="0">
                <a:solidFill>
                  <a:srgbClr val="333333"/>
                </a:solidFill>
              </a:rPr>
              <a:t>Views </a:t>
            </a:r>
            <a:r>
              <a:rPr b="1">
                <a:solidFill>
                  <a:srgbClr val="00897B"/>
                </a:solidFill>
              </a:rPr>
              <a:t>suggested routes</a:t>
            </a:r>
            <a:r>
              <a:rPr b="0">
                <a:solidFill>
                  <a:srgbClr val="333333"/>
                </a:solidFill>
              </a:rPr>
              <a:t> and cultural information</a:t>
            </a:r>
            <a:endParaRPr b="0">
              <a:solidFill>
                <a:srgbClr val="333333"/>
              </a:solidFill>
            </a:endParaRPr>
          </a:p>
        </p:txBody>
      </p:sp>
      <p:sp>
        <p:nvSpPr>
          <p:cNvPr id="37" name="Rounded Rectangle 36"/>
          <p:cNvSpPr/>
          <p:nvPr/>
        </p:nvSpPr>
        <p:spPr>
          <a:xfrm>
            <a:off x="6312116" y="4065947"/>
            <a:ext cx="5381491" cy="2381250"/>
          </a:xfrm>
          <a:prstGeom prst="roundRect">
            <a:avLst>
              <a:gd name="adj" fmla="val 96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8" name="Rounded Rectangle 37"/>
          <p:cNvSpPr/>
          <p:nvPr/>
        </p:nvSpPr>
        <p:spPr>
          <a:xfrm>
            <a:off x="6476838" y="4333875"/>
            <a:ext cx="666733" cy="66675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39" name="Picture 38" descr="image.png"/>
          <p:cNvPicPr>
            <a:picLocks noChangeAspect="1"/>
          </p:cNvPicPr>
          <p:nvPr/>
        </p:nvPicPr>
        <p:blipFill>
          <a:blip r:embed="rId13"/>
          <a:stretch>
            <a:fillRect/>
          </a:stretch>
        </p:blipFill>
        <p:spPr>
          <a:xfrm>
            <a:off x="6638759" y="4534228"/>
            <a:ext cx="342891" cy="266043"/>
          </a:xfrm>
          <a:prstGeom prst="rect">
            <a:avLst/>
          </a:prstGeom>
        </p:spPr>
      </p:pic>
      <p:sp>
        <p:nvSpPr>
          <p:cNvPr id="40" name="TextBox 39"/>
          <p:cNvSpPr txBox="1"/>
          <p:nvPr/>
        </p:nvSpPr>
        <p:spPr>
          <a:xfrm>
            <a:off x="7334066" y="4277345"/>
            <a:ext cx="3984937" cy="541687"/>
          </a:xfrm>
          <a:prstGeom prst="rect">
            <a:avLst/>
          </a:prstGeom>
          <a:noFill/>
        </p:spPr>
        <p:txBody>
          <a:bodyPr wrap="none" lIns="73152" tIns="54864" rIns="73152" bIns="54864" anchor="ctr">
            <a:spAutoFit/>
          </a:bodyPr>
          <a:lstStyle/>
          <a:p>
            <a:pPr algn="l">
              <a:spcBef>
                <a:spcPts val="0"/>
              </a:spcBef>
              <a:spcAft>
                <a:spcPts val="0"/>
              </a:spcAft>
            </a:pPr>
            <a:r>
              <a:rPr sz="2800" b="1">
                <a:solidFill>
                  <a:srgbClr val="00897B"/>
                </a:solidFill>
              </a:rPr>
              <a:t>Students and Researchers</a:t>
            </a:r>
            <a:endParaRPr sz="2800" b="1">
              <a:solidFill>
                <a:srgbClr val="00897B"/>
              </a:solidFill>
            </a:endParaRPr>
          </a:p>
        </p:txBody>
      </p:sp>
      <p:sp>
        <p:nvSpPr>
          <p:cNvPr id="41" name="TextBox 40"/>
          <p:cNvSpPr txBox="1"/>
          <p:nvPr/>
        </p:nvSpPr>
        <p:spPr>
          <a:xfrm>
            <a:off x="7334066" y="4675580"/>
            <a:ext cx="1302151" cy="326243"/>
          </a:xfrm>
          <a:prstGeom prst="rect">
            <a:avLst/>
          </a:prstGeom>
          <a:noFill/>
        </p:spPr>
        <p:txBody>
          <a:bodyPr wrap="none" lIns="73152" tIns="54864" rIns="73152" bIns="54864" anchor="ctr">
            <a:spAutoFit/>
          </a:bodyPr>
          <a:lstStyle/>
          <a:p>
            <a:pPr algn="l">
              <a:spcBef>
                <a:spcPts val="260"/>
              </a:spcBef>
              <a:spcAft>
                <a:spcPts val="0"/>
              </a:spcAft>
            </a:pPr>
            <a:r>
              <a:rPr sz="1400" b="0">
                <a:solidFill>
                  <a:srgbClr val="666666"/>
                </a:solidFill>
              </a:rPr>
              <a:t>Academic Users</a:t>
            </a:r>
            <a:endParaRPr sz="1400" b="0">
              <a:solidFill>
                <a:srgbClr val="666666"/>
              </a:solidFill>
            </a:endParaRPr>
          </a:p>
        </p:txBody>
      </p:sp>
      <p:pic>
        <p:nvPicPr>
          <p:cNvPr id="42" name="Picture 41" descr="image.png"/>
          <p:cNvPicPr>
            <a:picLocks noChangeAspect="1"/>
          </p:cNvPicPr>
          <p:nvPr/>
        </p:nvPicPr>
        <p:blipFill>
          <a:blip r:embed="rId14"/>
          <a:stretch>
            <a:fillRect/>
          </a:stretch>
        </p:blipFill>
        <p:spPr>
          <a:xfrm>
            <a:off x="6476838" y="5235388"/>
            <a:ext cx="190495" cy="140073"/>
          </a:xfrm>
          <a:prstGeom prst="rect">
            <a:avLst/>
          </a:prstGeom>
        </p:spPr>
      </p:pic>
      <p:sp>
        <p:nvSpPr>
          <p:cNvPr id="43" name="TextBox 42"/>
          <p:cNvSpPr txBox="1"/>
          <p:nvPr/>
        </p:nvSpPr>
        <p:spPr>
          <a:xfrm>
            <a:off x="6762580" y="5147295"/>
            <a:ext cx="4306179" cy="344838"/>
          </a:xfrm>
          <a:prstGeom prst="rect">
            <a:avLst/>
          </a:prstGeom>
          <a:noFill/>
        </p:spPr>
        <p:txBody>
          <a:bodyPr wrap="none" lIns="73152" tIns="54864" rIns="73152" bIns="54864" anchor="ctr">
            <a:spAutoFit/>
          </a:bodyPr>
          <a:lstStyle/>
          <a:p>
            <a:pPr algn="l">
              <a:lnSpc>
                <a:spcPts val="1755"/>
              </a:lnSpc>
              <a:spcBef>
                <a:spcPts val="0"/>
              </a:spcBef>
              <a:spcAft>
                <a:spcPts val="0"/>
              </a:spcAft>
            </a:pPr>
            <a:r>
              <a:rPr b="0">
                <a:solidFill>
                  <a:srgbClr val="333333"/>
                </a:solidFill>
              </a:rPr>
              <a:t>Accesses </a:t>
            </a:r>
            <a:r>
              <a:rPr b="1">
                <a:solidFill>
                  <a:srgbClr val="00897B"/>
                </a:solidFill>
              </a:rPr>
              <a:t>historical data</a:t>
            </a:r>
            <a:r>
              <a:rPr b="0">
                <a:solidFill>
                  <a:srgbClr val="333333"/>
                </a:solidFill>
              </a:rPr>
              <a:t> and cultural profiles</a:t>
            </a:r>
            <a:endParaRPr b="0">
              <a:solidFill>
                <a:srgbClr val="333333"/>
              </a:solidFill>
            </a:endParaRPr>
          </a:p>
        </p:txBody>
      </p:sp>
      <p:pic>
        <p:nvPicPr>
          <p:cNvPr id="44" name="Picture 43" descr="image.png"/>
          <p:cNvPicPr>
            <a:picLocks noChangeAspect="1"/>
          </p:cNvPicPr>
          <p:nvPr/>
        </p:nvPicPr>
        <p:blipFill>
          <a:blip r:embed="rId15"/>
          <a:stretch>
            <a:fillRect/>
          </a:stretch>
        </p:blipFill>
        <p:spPr>
          <a:xfrm>
            <a:off x="6476838" y="5606863"/>
            <a:ext cx="190495" cy="140073"/>
          </a:xfrm>
          <a:prstGeom prst="rect">
            <a:avLst/>
          </a:prstGeom>
        </p:spPr>
      </p:pic>
      <p:sp>
        <p:nvSpPr>
          <p:cNvPr id="45" name="TextBox 44"/>
          <p:cNvSpPr txBox="1"/>
          <p:nvPr/>
        </p:nvSpPr>
        <p:spPr>
          <a:xfrm>
            <a:off x="6762580" y="5518770"/>
            <a:ext cx="3842142" cy="344838"/>
          </a:xfrm>
          <a:prstGeom prst="rect">
            <a:avLst/>
          </a:prstGeom>
          <a:noFill/>
        </p:spPr>
        <p:txBody>
          <a:bodyPr wrap="none" lIns="73152" tIns="54864" rIns="73152" bIns="54864" anchor="ctr">
            <a:spAutoFit/>
          </a:bodyPr>
          <a:lstStyle/>
          <a:p>
            <a:pPr algn="l">
              <a:lnSpc>
                <a:spcPts val="1755"/>
              </a:lnSpc>
              <a:spcBef>
                <a:spcPts val="0"/>
              </a:spcBef>
              <a:spcAft>
                <a:spcPts val="0"/>
              </a:spcAft>
            </a:pPr>
            <a:r>
              <a:rPr b="0">
                <a:solidFill>
                  <a:srgbClr val="333333"/>
                </a:solidFill>
              </a:rPr>
              <a:t>Gathers </a:t>
            </a:r>
            <a:r>
              <a:rPr b="1">
                <a:solidFill>
                  <a:srgbClr val="00897B"/>
                </a:solidFill>
              </a:rPr>
              <a:t>research data</a:t>
            </a:r>
            <a:r>
              <a:rPr b="0">
                <a:solidFill>
                  <a:srgbClr val="333333"/>
                </a:solidFill>
              </a:rPr>
              <a:t> on local heritage</a:t>
            </a:r>
            <a:endParaRPr b="0">
              <a:solidFill>
                <a:srgbClr val="333333"/>
              </a:solidFill>
            </a:endParaRPr>
          </a:p>
        </p:txBody>
      </p:sp>
      <p:pic>
        <p:nvPicPr>
          <p:cNvPr id="46" name="Picture 45" descr="image.png"/>
          <p:cNvPicPr>
            <a:picLocks noChangeAspect="1"/>
          </p:cNvPicPr>
          <p:nvPr/>
        </p:nvPicPr>
        <p:blipFill>
          <a:blip r:embed="rId16"/>
          <a:stretch>
            <a:fillRect/>
          </a:stretch>
        </p:blipFill>
        <p:spPr>
          <a:xfrm>
            <a:off x="6476838" y="5972735"/>
            <a:ext cx="190495" cy="151279"/>
          </a:xfrm>
          <a:prstGeom prst="rect">
            <a:avLst/>
          </a:prstGeom>
        </p:spPr>
      </p:pic>
      <p:sp>
        <p:nvSpPr>
          <p:cNvPr id="47" name="TextBox 46"/>
          <p:cNvSpPr txBox="1"/>
          <p:nvPr/>
        </p:nvSpPr>
        <p:spPr>
          <a:xfrm>
            <a:off x="6762580" y="5891848"/>
            <a:ext cx="4460901" cy="341632"/>
          </a:xfrm>
          <a:prstGeom prst="rect">
            <a:avLst/>
          </a:prstGeom>
          <a:noFill/>
        </p:spPr>
        <p:txBody>
          <a:bodyPr wrap="none" lIns="73152" tIns="54864" rIns="73152" bIns="54864" anchor="ctr">
            <a:spAutoFit/>
          </a:bodyPr>
          <a:lstStyle/>
          <a:p>
            <a:pPr algn="l">
              <a:lnSpc>
                <a:spcPts val="1755"/>
              </a:lnSpc>
              <a:spcBef>
                <a:spcPts val="0"/>
              </a:spcBef>
              <a:spcAft>
                <a:spcPts val="0"/>
              </a:spcAft>
            </a:pPr>
            <a:r>
              <a:rPr sz="1600" b="0" dirty="0">
                <a:solidFill>
                  <a:srgbClr val="333333"/>
                </a:solidFill>
              </a:rPr>
              <a:t>Studies </a:t>
            </a:r>
            <a:r>
              <a:rPr sz="1600" b="1" dirty="0">
                <a:solidFill>
                  <a:srgbClr val="00897B"/>
                </a:solidFill>
              </a:rPr>
              <a:t>cultural traditions</a:t>
            </a:r>
            <a:r>
              <a:rPr sz="1600" b="0" dirty="0">
                <a:solidFill>
                  <a:srgbClr val="333333"/>
                </a:solidFill>
              </a:rPr>
              <a:t> and community practices</a:t>
            </a:r>
            <a:endParaRPr sz="1600" b="0" dirty="0">
              <a:solidFill>
                <a:srgbClr val="333333"/>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 name="TextBox 2"/>
          <p:cNvSpPr txBox="1"/>
          <p:nvPr/>
        </p:nvSpPr>
        <p:spPr>
          <a:xfrm>
            <a:off x="666733" y="255948"/>
            <a:ext cx="2900409" cy="726353"/>
          </a:xfrm>
          <a:prstGeom prst="rect">
            <a:avLst/>
          </a:prstGeom>
          <a:noFill/>
        </p:spPr>
        <p:txBody>
          <a:bodyPr wrap="none" lIns="73152" tIns="54864" rIns="73152" bIns="54864" anchor="ctr">
            <a:spAutoFit/>
          </a:bodyPr>
          <a:lstStyle/>
          <a:p>
            <a:pPr algn="l">
              <a:spcBef>
                <a:spcPts val="0"/>
              </a:spcBef>
              <a:spcAft>
                <a:spcPts val="650"/>
              </a:spcAft>
            </a:pPr>
            <a:r>
              <a:rPr sz="4000" b="1" dirty="0">
                <a:solidFill>
                  <a:srgbClr val="FFFFFF"/>
                </a:solidFill>
              </a:rPr>
              <a:t>Stakeholders</a:t>
            </a:r>
            <a:endParaRPr sz="4000" b="1" dirty="0">
              <a:solidFill>
                <a:srgbClr val="FFFFFF"/>
              </a:solidFill>
            </a:endParaRPr>
          </a:p>
        </p:txBody>
      </p:sp>
      <p:grpSp>
        <p:nvGrpSpPr>
          <p:cNvPr id="31" name="Group 30"/>
          <p:cNvGrpSpPr/>
          <p:nvPr/>
        </p:nvGrpSpPr>
        <p:grpSpPr>
          <a:xfrm>
            <a:off x="666732" y="1428750"/>
            <a:ext cx="10320355" cy="1162050"/>
            <a:chOff x="666733" y="1428750"/>
            <a:chExt cx="7399754" cy="1162050"/>
          </a:xfrm>
        </p:grpSpPr>
        <p:sp>
          <p:nvSpPr>
            <p:cNvPr id="4" name="Rounded Rectangle 3"/>
            <p:cNvSpPr/>
            <p:nvPr/>
          </p:nvSpPr>
          <p:spPr>
            <a:xfrm>
              <a:off x="666733" y="1428750"/>
              <a:ext cx="6229194" cy="1162050"/>
            </a:xfrm>
            <a:prstGeom prst="roundRect">
              <a:avLst>
                <a:gd name="adj" fmla="val 1311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 name="Rounded Rectangle 4"/>
            <p:cNvSpPr/>
            <p:nvPr/>
          </p:nvSpPr>
          <p:spPr>
            <a:xfrm>
              <a:off x="857228" y="1724024"/>
              <a:ext cx="571485" cy="57150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6" name="Picture 5" descr="image.png"/>
            <p:cNvPicPr>
              <a:picLocks noChangeAspect="1"/>
            </p:cNvPicPr>
            <p:nvPr/>
          </p:nvPicPr>
          <p:blipFill>
            <a:blip r:embed="rId1"/>
            <a:stretch>
              <a:fillRect/>
            </a:stretch>
          </p:blipFill>
          <p:spPr>
            <a:xfrm>
              <a:off x="1000099" y="1893142"/>
              <a:ext cx="285742" cy="233265"/>
            </a:xfrm>
            <a:prstGeom prst="rect">
              <a:avLst/>
            </a:prstGeom>
          </p:spPr>
        </p:pic>
        <p:sp>
          <p:nvSpPr>
            <p:cNvPr id="7" name="TextBox 6"/>
            <p:cNvSpPr txBox="1"/>
            <p:nvPr/>
          </p:nvSpPr>
          <p:spPr>
            <a:xfrm>
              <a:off x="1619209" y="1522061"/>
              <a:ext cx="6447278" cy="480131"/>
            </a:xfrm>
            <a:prstGeom prst="rect">
              <a:avLst/>
            </a:prstGeom>
            <a:noFill/>
          </p:spPr>
          <p:txBody>
            <a:bodyPr wrap="none" lIns="73152" tIns="54864" rIns="73152" bIns="54864" anchor="ctr">
              <a:spAutoFit/>
            </a:bodyPr>
            <a:lstStyle/>
            <a:p>
              <a:pPr algn="l">
                <a:spcBef>
                  <a:spcPts val="0"/>
                </a:spcBef>
                <a:spcAft>
                  <a:spcPts val="390"/>
                </a:spcAft>
              </a:pPr>
              <a:r>
                <a:rPr sz="2400" b="1" dirty="0">
                  <a:solidFill>
                    <a:srgbClr val="00897B"/>
                  </a:solidFill>
                </a:rPr>
                <a:t>Local Government Unit (LGU) of </a:t>
              </a:r>
              <a:r>
                <a:rPr sz="2400" b="1" dirty="0" err="1">
                  <a:solidFill>
                    <a:srgbClr val="00897B"/>
                  </a:solidFill>
                </a:rPr>
                <a:t>Mangatarem</a:t>
              </a:r>
              <a:r>
                <a:rPr sz="2400" b="1" dirty="0">
                  <a:solidFill>
                    <a:srgbClr val="00897B"/>
                  </a:solidFill>
                </a:rPr>
                <a:t> </a:t>
              </a:r>
              <a:r>
                <a:rPr sz="1200" b="1" dirty="0">
                  <a:solidFill>
                    <a:srgbClr val="FFFFFF"/>
                  </a:solidFill>
                </a:rPr>
                <a:t>Primary</a:t>
              </a:r>
              <a:endParaRPr sz="1200" b="1" dirty="0">
                <a:solidFill>
                  <a:srgbClr val="FFFFFF"/>
                </a:solidFill>
              </a:endParaRPr>
            </a:p>
          </p:txBody>
        </p:sp>
        <p:sp>
          <p:nvSpPr>
            <p:cNvPr id="9" name="TextBox 8"/>
            <p:cNvSpPr txBox="1"/>
            <p:nvPr/>
          </p:nvSpPr>
          <p:spPr>
            <a:xfrm>
              <a:off x="1619209" y="1848827"/>
              <a:ext cx="5086222" cy="664797"/>
            </a:xfrm>
            <a:prstGeom prst="rect">
              <a:avLst/>
            </a:prstGeom>
            <a:noFill/>
          </p:spPr>
          <p:txBody>
            <a:bodyPr wrap="square" lIns="73152" tIns="54864" rIns="73152" bIns="54864" anchor="ctr">
              <a:spAutoFit/>
            </a:bodyPr>
            <a:lstStyle/>
            <a:p>
              <a:pPr algn="l">
                <a:spcBef>
                  <a:spcPts val="0"/>
                </a:spcBef>
                <a:spcAft>
                  <a:spcPts val="0"/>
                </a:spcAft>
              </a:pPr>
              <a:r>
                <a:rPr b="0" dirty="0">
                  <a:solidFill>
                    <a:srgbClr val="555555"/>
                  </a:solidFill>
                </a:rPr>
                <a:t>Main beneficiary and decision-maker for tourism promotion and cultural data management</a:t>
              </a:r>
              <a:endParaRPr b="0" dirty="0">
                <a:solidFill>
                  <a:srgbClr val="555555"/>
                </a:solidFill>
              </a:endParaRPr>
            </a:p>
          </p:txBody>
        </p:sp>
      </p:grpSp>
      <p:grpSp>
        <p:nvGrpSpPr>
          <p:cNvPr id="34" name="Group 33"/>
          <p:cNvGrpSpPr/>
          <p:nvPr/>
        </p:nvGrpSpPr>
        <p:grpSpPr>
          <a:xfrm>
            <a:off x="701780" y="2811239"/>
            <a:ext cx="9499493" cy="1143000"/>
            <a:chOff x="666733" y="5114925"/>
            <a:chExt cx="6229194" cy="1143000"/>
          </a:xfrm>
        </p:grpSpPr>
        <p:sp>
          <p:nvSpPr>
            <p:cNvPr id="20" name="Rounded Rectangle 19"/>
            <p:cNvSpPr/>
            <p:nvPr/>
          </p:nvSpPr>
          <p:spPr>
            <a:xfrm>
              <a:off x="666733" y="5114925"/>
              <a:ext cx="6229194" cy="1143000"/>
            </a:xfrm>
            <a:prstGeom prst="roundRect">
              <a:avLst>
                <a:gd name="adj" fmla="val 1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dirty="0"/>
            </a:p>
          </p:txBody>
        </p:sp>
        <p:sp>
          <p:nvSpPr>
            <p:cNvPr id="21" name="Rounded Rectangle 20"/>
            <p:cNvSpPr/>
            <p:nvPr/>
          </p:nvSpPr>
          <p:spPr>
            <a:xfrm>
              <a:off x="857228" y="5400675"/>
              <a:ext cx="571485" cy="57150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22" name="Picture 21" descr="image.png"/>
            <p:cNvPicPr>
              <a:picLocks noChangeAspect="1"/>
            </p:cNvPicPr>
            <p:nvPr/>
          </p:nvPicPr>
          <p:blipFill>
            <a:blip r:embed="rId2"/>
            <a:stretch>
              <a:fillRect/>
            </a:stretch>
          </p:blipFill>
          <p:spPr>
            <a:xfrm>
              <a:off x="1000099" y="5607697"/>
              <a:ext cx="285742" cy="157454"/>
            </a:xfrm>
            <a:prstGeom prst="rect">
              <a:avLst/>
            </a:prstGeom>
          </p:spPr>
        </p:pic>
        <p:sp>
          <p:nvSpPr>
            <p:cNvPr id="23" name="TextBox 22"/>
            <p:cNvSpPr txBox="1"/>
            <p:nvPr/>
          </p:nvSpPr>
          <p:spPr>
            <a:xfrm>
              <a:off x="1619209" y="5198710"/>
              <a:ext cx="3502882" cy="480131"/>
            </a:xfrm>
            <a:prstGeom prst="rect">
              <a:avLst/>
            </a:prstGeom>
            <a:noFill/>
          </p:spPr>
          <p:txBody>
            <a:bodyPr wrap="none" lIns="73152" tIns="54864" rIns="73152" bIns="54864" anchor="ctr">
              <a:spAutoFit/>
            </a:bodyPr>
            <a:lstStyle/>
            <a:p>
              <a:pPr algn="l">
                <a:spcBef>
                  <a:spcPts val="0"/>
                </a:spcBef>
                <a:spcAft>
                  <a:spcPts val="390"/>
                </a:spcAft>
              </a:pPr>
              <a:r>
                <a:rPr sz="2400" b="1" dirty="0">
                  <a:solidFill>
                    <a:srgbClr val="00897B"/>
                  </a:solidFill>
                </a:rPr>
                <a:t>Direct Users of the System</a:t>
              </a:r>
              <a:endParaRPr sz="2400" b="1" dirty="0">
                <a:solidFill>
                  <a:srgbClr val="00897B"/>
                </a:solidFill>
              </a:endParaRPr>
            </a:p>
          </p:txBody>
        </p:sp>
        <p:sp>
          <p:nvSpPr>
            <p:cNvPr id="24" name="TextBox 23"/>
            <p:cNvSpPr txBox="1"/>
            <p:nvPr/>
          </p:nvSpPr>
          <p:spPr>
            <a:xfrm>
              <a:off x="1619209" y="5515953"/>
              <a:ext cx="5086222" cy="664797"/>
            </a:xfrm>
            <a:prstGeom prst="rect">
              <a:avLst/>
            </a:prstGeom>
            <a:noFill/>
          </p:spPr>
          <p:txBody>
            <a:bodyPr wrap="square" lIns="73152" tIns="54864" rIns="73152" bIns="54864" anchor="ctr">
              <a:spAutoFit/>
            </a:bodyPr>
            <a:lstStyle/>
            <a:p>
              <a:pPr algn="l">
                <a:spcBef>
                  <a:spcPts val="0"/>
                </a:spcBef>
                <a:spcAft>
                  <a:spcPts val="0"/>
                </a:spcAft>
              </a:pPr>
              <a:r>
                <a:rPr b="0" dirty="0">
                  <a:solidFill>
                    <a:srgbClr val="555555"/>
                  </a:solidFill>
                </a:rPr>
                <a:t>Administrators, Contributors, Tourists, and Students who directly interact with the platform</a:t>
              </a:r>
              <a:endParaRPr b="0" dirty="0">
                <a:solidFill>
                  <a:srgbClr val="555555"/>
                </a:solidFill>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66733" y="348280"/>
            <a:ext cx="1622495" cy="541687"/>
          </a:xfrm>
          <a:prstGeom prst="rect">
            <a:avLst/>
          </a:prstGeom>
          <a:noFill/>
        </p:spPr>
        <p:txBody>
          <a:bodyPr wrap="none" lIns="73152" tIns="54864" rIns="73152" bIns="54864" anchor="ctr">
            <a:spAutoFit/>
          </a:bodyPr>
          <a:lstStyle/>
          <a:p>
            <a:pPr algn="l">
              <a:spcBef>
                <a:spcPts val="0"/>
              </a:spcBef>
              <a:spcAft>
                <a:spcPts val="650"/>
              </a:spcAft>
            </a:pPr>
            <a:r>
              <a:rPr sz="2800" b="1">
                <a:solidFill>
                  <a:srgbClr val="FFFFFF"/>
                </a:solidFill>
              </a:rPr>
              <a:t>Use Cases</a:t>
            </a:r>
            <a:endParaRPr sz="2800" b="1">
              <a:solidFill>
                <a:srgbClr val="FFFFFF"/>
              </a:solidFill>
            </a:endParaRPr>
          </a:p>
        </p:txBody>
      </p:sp>
      <p:sp>
        <p:nvSpPr>
          <p:cNvPr id="4" name="Rounded Rectangle 3"/>
          <p:cNvSpPr/>
          <p:nvPr/>
        </p:nvSpPr>
        <p:spPr>
          <a:xfrm>
            <a:off x="666733" y="1428750"/>
            <a:ext cx="5333866" cy="2047874"/>
          </a:xfrm>
          <a:prstGeom prst="roundRect">
            <a:avLst>
              <a:gd name="adj" fmla="val 1116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Rounded Rectangle 4"/>
          <p:cNvSpPr/>
          <p:nvPr/>
        </p:nvSpPr>
        <p:spPr>
          <a:xfrm>
            <a:off x="895327" y="1657350"/>
            <a:ext cx="666733" cy="66675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6" name="Picture 5" descr="image.png"/>
          <p:cNvPicPr>
            <a:picLocks noChangeAspect="1"/>
          </p:cNvPicPr>
          <p:nvPr/>
        </p:nvPicPr>
        <p:blipFill>
          <a:blip r:embed="rId1"/>
          <a:stretch>
            <a:fillRect/>
          </a:stretch>
        </p:blipFill>
        <p:spPr>
          <a:xfrm>
            <a:off x="1057248" y="1845879"/>
            <a:ext cx="342891" cy="289691"/>
          </a:xfrm>
          <a:prstGeom prst="rect">
            <a:avLst/>
          </a:prstGeom>
        </p:spPr>
      </p:pic>
      <p:sp>
        <p:nvSpPr>
          <p:cNvPr id="7" name="TextBox 6"/>
          <p:cNvSpPr txBox="1"/>
          <p:nvPr/>
        </p:nvSpPr>
        <p:spPr>
          <a:xfrm>
            <a:off x="1752556" y="1611089"/>
            <a:ext cx="3473708" cy="387798"/>
          </a:xfrm>
          <a:prstGeom prst="rect">
            <a:avLst/>
          </a:prstGeom>
          <a:noFill/>
        </p:spPr>
        <p:txBody>
          <a:bodyPr wrap="none" lIns="73152" tIns="54864" rIns="73152" bIns="54864" anchor="ctr">
            <a:spAutoFit/>
          </a:bodyPr>
          <a:lstStyle/>
          <a:p>
            <a:pPr algn="l">
              <a:spcBef>
                <a:spcPts val="0"/>
              </a:spcBef>
              <a:spcAft>
                <a:spcPts val="780"/>
              </a:spcAft>
            </a:pPr>
            <a:r>
              <a:rPr b="1">
                <a:solidFill>
                  <a:srgbClr val="00897B"/>
                </a:solidFill>
              </a:rPr>
              <a:t>Tourists Exploring Local Attractions</a:t>
            </a:r>
            <a:endParaRPr b="1">
              <a:solidFill>
                <a:srgbClr val="00897B"/>
              </a:solidFill>
            </a:endParaRPr>
          </a:p>
        </p:txBody>
      </p:sp>
      <p:sp>
        <p:nvSpPr>
          <p:cNvPr id="8" name="TextBox 7"/>
          <p:cNvSpPr txBox="1"/>
          <p:nvPr/>
        </p:nvSpPr>
        <p:spPr>
          <a:xfrm>
            <a:off x="1752556" y="2140411"/>
            <a:ext cx="4019449" cy="1034129"/>
          </a:xfrm>
          <a:prstGeom prst="rect">
            <a:avLst/>
          </a:prstGeom>
          <a:noFill/>
        </p:spPr>
        <p:txBody>
          <a:bodyPr wrap="square" lIns="73152" tIns="54864" rIns="73152" bIns="54864" anchor="ctr">
            <a:spAutoFit/>
          </a:bodyPr>
          <a:lstStyle/>
          <a:p>
            <a:pPr algn="l">
              <a:lnSpc>
                <a:spcPts val="1755"/>
              </a:lnSpc>
              <a:spcBef>
                <a:spcPts val="0"/>
              </a:spcBef>
              <a:spcAft>
                <a:spcPts val="0"/>
              </a:spcAft>
            </a:pPr>
            <a:r>
              <a:rPr sz="1600" b="0">
                <a:solidFill>
                  <a:srgbClr val="555555"/>
                </a:solidFill>
              </a:rPr>
              <a:t> Navigate the </a:t>
            </a:r>
            <a:r>
              <a:rPr sz="1600" b="1">
                <a:solidFill>
                  <a:srgbClr val="00897B"/>
                </a:solidFill>
              </a:rPr>
              <a:t>Interactive Map</a:t>
            </a:r>
            <a:r>
              <a:rPr sz="1600" b="0">
                <a:solidFill>
                  <a:srgbClr val="555555"/>
                </a:solidFill>
              </a:rPr>
              <a:t> to locate specific spots (Manleluag Spring) </a:t>
            </a:r>
            <a:r>
              <a:t>
</a:t>
            </a:r>
            <a:r>
              <a:rPr sz="1600" b="0">
                <a:solidFill>
                  <a:srgbClr val="555555"/>
                </a:solidFill>
              </a:rPr>
              <a:t> </a:t>
            </a:r>
            <a:r>
              <a:rPr sz="1600" b="1">
                <a:solidFill>
                  <a:srgbClr val="00897B"/>
                </a:solidFill>
              </a:rPr>
              <a:t>View pop-up details</a:t>
            </a:r>
            <a:r>
              <a:rPr sz="1600" b="0">
                <a:solidFill>
                  <a:srgbClr val="555555"/>
                </a:solidFill>
              </a:rPr>
              <a:t> </a:t>
            </a:r>
            <a:r>
              <a:rPr sz="1600" b="1">
                <a:solidFill>
                  <a:srgbClr val="00897B"/>
                </a:solidFill>
              </a:rPr>
              <a:t>Get directions</a:t>
            </a:r>
            <a:r>
              <a:rPr sz="1600" b="0">
                <a:solidFill>
                  <a:srgbClr val="555555"/>
                </a:solidFill>
              </a:rPr>
              <a:t> </a:t>
            </a:r>
            <a:r>
              <a:rPr sz="1600" b="1">
                <a:solidFill>
                  <a:srgbClr val="00897B"/>
                </a:solidFill>
              </a:rPr>
              <a:t>Discover landmarks</a:t>
            </a:r>
            <a:r>
              <a:rPr sz="1600" b="0">
                <a:solidFill>
                  <a:srgbClr val="555555"/>
                </a:solidFill>
              </a:rPr>
              <a:t> </a:t>
            </a:r>
            <a:endParaRPr sz="1600" b="0">
              <a:solidFill>
                <a:srgbClr val="555555"/>
              </a:solidFill>
            </a:endParaRPr>
          </a:p>
        </p:txBody>
      </p:sp>
      <p:sp>
        <p:nvSpPr>
          <p:cNvPr id="12" name="Rounded Rectangle 11"/>
          <p:cNvSpPr/>
          <p:nvPr/>
        </p:nvSpPr>
        <p:spPr>
          <a:xfrm>
            <a:off x="6191095" y="1428750"/>
            <a:ext cx="5333866" cy="2047874"/>
          </a:xfrm>
          <a:prstGeom prst="roundRect">
            <a:avLst>
              <a:gd name="adj" fmla="val 1116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Rounded Rectangle 12"/>
          <p:cNvSpPr/>
          <p:nvPr/>
        </p:nvSpPr>
        <p:spPr>
          <a:xfrm>
            <a:off x="6419689" y="1657350"/>
            <a:ext cx="666733" cy="66675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14" name="Picture 13" descr="image.png"/>
          <p:cNvPicPr>
            <a:picLocks noChangeAspect="1"/>
          </p:cNvPicPr>
          <p:nvPr/>
        </p:nvPicPr>
        <p:blipFill>
          <a:blip r:embed="rId2"/>
          <a:stretch>
            <a:fillRect/>
          </a:stretch>
        </p:blipFill>
        <p:spPr>
          <a:xfrm>
            <a:off x="6581610" y="1857703"/>
            <a:ext cx="342891" cy="266043"/>
          </a:xfrm>
          <a:prstGeom prst="rect">
            <a:avLst/>
          </a:prstGeom>
        </p:spPr>
      </p:pic>
      <p:sp>
        <p:nvSpPr>
          <p:cNvPr id="15" name="TextBox 14"/>
          <p:cNvSpPr txBox="1"/>
          <p:nvPr/>
        </p:nvSpPr>
        <p:spPr>
          <a:xfrm>
            <a:off x="7276918" y="1595700"/>
            <a:ext cx="4333046" cy="418576"/>
          </a:xfrm>
          <a:prstGeom prst="rect">
            <a:avLst/>
          </a:prstGeom>
          <a:noFill/>
        </p:spPr>
        <p:txBody>
          <a:bodyPr wrap="none" lIns="73152" tIns="54864" rIns="73152" bIns="54864" anchor="ctr">
            <a:spAutoFit/>
          </a:bodyPr>
          <a:lstStyle/>
          <a:p>
            <a:pPr algn="l">
              <a:spcBef>
                <a:spcPts val="0"/>
              </a:spcBef>
              <a:spcAft>
                <a:spcPts val="780"/>
              </a:spcAft>
            </a:pPr>
            <a:r>
              <a:rPr b="1" dirty="0">
                <a:solidFill>
                  <a:srgbClr val="00897B"/>
                </a:solidFill>
              </a:rPr>
              <a:t>Academic</a:t>
            </a:r>
            <a:r>
              <a:rPr sz="2000" b="1" dirty="0">
                <a:solidFill>
                  <a:srgbClr val="00897B"/>
                </a:solidFill>
              </a:rPr>
              <a:t> Research and Data Gathering</a:t>
            </a:r>
            <a:endParaRPr sz="2000" b="1" dirty="0">
              <a:solidFill>
                <a:srgbClr val="00897B"/>
              </a:solidFill>
            </a:endParaRPr>
          </a:p>
        </p:txBody>
      </p:sp>
      <p:sp>
        <p:nvSpPr>
          <p:cNvPr id="16" name="TextBox 15"/>
          <p:cNvSpPr txBox="1"/>
          <p:nvPr/>
        </p:nvSpPr>
        <p:spPr>
          <a:xfrm>
            <a:off x="7276918" y="1969078"/>
            <a:ext cx="4019449" cy="786241"/>
          </a:xfrm>
          <a:prstGeom prst="rect">
            <a:avLst/>
          </a:prstGeom>
          <a:noFill/>
        </p:spPr>
        <p:txBody>
          <a:bodyPr wrap="square" lIns="73152" tIns="54864" rIns="73152" bIns="54864" anchor="ctr">
            <a:spAutoFit/>
          </a:bodyPr>
          <a:lstStyle/>
          <a:p>
            <a:pPr algn="l">
              <a:lnSpc>
                <a:spcPts val="1755"/>
              </a:lnSpc>
              <a:spcBef>
                <a:spcPts val="0"/>
              </a:spcBef>
              <a:spcAft>
                <a:spcPts val="0"/>
              </a:spcAft>
            </a:pPr>
            <a:r>
              <a:rPr sz="1400" b="0" dirty="0">
                <a:solidFill>
                  <a:srgbClr val="555555"/>
                </a:solidFill>
              </a:rPr>
              <a:t> Students access </a:t>
            </a:r>
            <a:r>
              <a:rPr sz="1400" b="1" dirty="0">
                <a:solidFill>
                  <a:srgbClr val="00897B"/>
                </a:solidFill>
              </a:rPr>
              <a:t>barangay profiles</a:t>
            </a:r>
            <a:r>
              <a:rPr sz="1400" b="0" dirty="0">
                <a:solidFill>
                  <a:srgbClr val="555555"/>
                </a:solidFill>
              </a:rPr>
              <a:t> for academic studies </a:t>
            </a:r>
            <a:r>
              <a:rPr sz="1600" dirty="0"/>
              <a:t>
</a:t>
            </a:r>
            <a:r>
              <a:rPr sz="1400" b="0" dirty="0">
                <a:solidFill>
                  <a:srgbClr val="555555"/>
                </a:solidFill>
              </a:rPr>
              <a:t> </a:t>
            </a:r>
            <a:r>
              <a:rPr sz="1400" b="1" dirty="0">
                <a:solidFill>
                  <a:srgbClr val="00897B"/>
                </a:solidFill>
              </a:rPr>
              <a:t>Historical data</a:t>
            </a:r>
            <a:r>
              <a:rPr sz="1400" b="0" dirty="0">
                <a:solidFill>
                  <a:srgbClr val="555555"/>
                </a:solidFill>
              </a:rPr>
              <a:t> </a:t>
            </a:r>
            <a:r>
              <a:rPr sz="1400" b="1" dirty="0">
                <a:solidFill>
                  <a:srgbClr val="00897B"/>
                </a:solidFill>
              </a:rPr>
              <a:t>Traditions</a:t>
            </a:r>
            <a:r>
              <a:rPr sz="1400" b="0" dirty="0">
                <a:solidFill>
                  <a:srgbClr val="555555"/>
                </a:solidFill>
              </a:rPr>
              <a:t> </a:t>
            </a:r>
            <a:r>
              <a:rPr sz="1400" b="1" dirty="0">
                <a:solidFill>
                  <a:srgbClr val="00897B"/>
                </a:solidFill>
              </a:rPr>
              <a:t>Local practices</a:t>
            </a:r>
            <a:r>
              <a:rPr sz="1400" b="0" dirty="0">
                <a:solidFill>
                  <a:srgbClr val="555555"/>
                </a:solidFill>
              </a:rPr>
              <a:t> </a:t>
            </a:r>
            <a:endParaRPr sz="1400" b="0" dirty="0">
              <a:solidFill>
                <a:srgbClr val="555555"/>
              </a:solidFill>
            </a:endParaRPr>
          </a:p>
        </p:txBody>
      </p:sp>
      <p:sp>
        <p:nvSpPr>
          <p:cNvPr id="20" name="Rounded Rectangle 19"/>
          <p:cNvSpPr/>
          <p:nvPr/>
        </p:nvSpPr>
        <p:spPr>
          <a:xfrm>
            <a:off x="666733" y="3667124"/>
            <a:ext cx="5333866" cy="2343150"/>
          </a:xfrm>
          <a:prstGeom prst="roundRect">
            <a:avLst>
              <a:gd name="adj" fmla="val 975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Rounded Rectangle 20"/>
          <p:cNvSpPr/>
          <p:nvPr/>
        </p:nvSpPr>
        <p:spPr>
          <a:xfrm>
            <a:off x="895327" y="3895724"/>
            <a:ext cx="666733" cy="66675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22" name="Picture 21" descr="image.png"/>
          <p:cNvPicPr>
            <a:picLocks noChangeAspect="1"/>
          </p:cNvPicPr>
          <p:nvPr/>
        </p:nvPicPr>
        <p:blipFill>
          <a:blip r:embed="rId3"/>
          <a:stretch>
            <a:fillRect/>
          </a:stretch>
        </p:blipFill>
        <p:spPr>
          <a:xfrm>
            <a:off x="1057248" y="4096078"/>
            <a:ext cx="342891" cy="266043"/>
          </a:xfrm>
          <a:prstGeom prst="rect">
            <a:avLst/>
          </a:prstGeom>
        </p:spPr>
      </p:pic>
      <p:sp>
        <p:nvSpPr>
          <p:cNvPr id="23" name="TextBox 22"/>
          <p:cNvSpPr txBox="1"/>
          <p:nvPr/>
        </p:nvSpPr>
        <p:spPr>
          <a:xfrm>
            <a:off x="1752556" y="3997100"/>
            <a:ext cx="4219810" cy="387798"/>
          </a:xfrm>
          <a:prstGeom prst="rect">
            <a:avLst/>
          </a:prstGeom>
          <a:noFill/>
        </p:spPr>
        <p:txBody>
          <a:bodyPr wrap="none" lIns="73152" tIns="54864" rIns="73152" bIns="54864" anchor="ctr">
            <a:spAutoFit/>
          </a:bodyPr>
          <a:lstStyle/>
          <a:p>
            <a:pPr algn="l">
              <a:spcBef>
                <a:spcPts val="0"/>
              </a:spcBef>
              <a:spcAft>
                <a:spcPts val="780"/>
              </a:spcAft>
            </a:pPr>
            <a:r>
              <a:rPr b="1" dirty="0">
                <a:solidFill>
                  <a:srgbClr val="00897B"/>
                </a:solidFill>
              </a:rPr>
              <a:t>Content Contribution by Barangay Officials</a:t>
            </a:r>
            <a:endParaRPr b="1" dirty="0">
              <a:solidFill>
                <a:srgbClr val="00897B"/>
              </a:solidFill>
            </a:endParaRPr>
          </a:p>
        </p:txBody>
      </p:sp>
      <p:sp>
        <p:nvSpPr>
          <p:cNvPr id="24" name="TextBox 23"/>
          <p:cNvSpPr txBox="1"/>
          <p:nvPr/>
        </p:nvSpPr>
        <p:spPr>
          <a:xfrm>
            <a:off x="1752556" y="4622788"/>
            <a:ext cx="4019449" cy="803297"/>
          </a:xfrm>
          <a:prstGeom prst="rect">
            <a:avLst/>
          </a:prstGeom>
          <a:noFill/>
        </p:spPr>
        <p:txBody>
          <a:bodyPr wrap="square" lIns="73152" tIns="54864" rIns="73152" bIns="54864" anchor="ctr">
            <a:spAutoFit/>
          </a:bodyPr>
          <a:lstStyle/>
          <a:p>
            <a:pPr algn="l">
              <a:lnSpc>
                <a:spcPts val="1755"/>
              </a:lnSpc>
              <a:spcBef>
                <a:spcPts val="0"/>
              </a:spcBef>
              <a:spcAft>
                <a:spcPts val="0"/>
              </a:spcAft>
            </a:pPr>
            <a:r>
              <a:rPr sz="1600" b="0" dirty="0">
                <a:solidFill>
                  <a:srgbClr val="555555"/>
                </a:solidFill>
              </a:rPr>
              <a:t> Authorized </a:t>
            </a:r>
            <a:r>
              <a:rPr b="0" dirty="0">
                <a:solidFill>
                  <a:srgbClr val="555555"/>
                </a:solidFill>
              </a:rPr>
              <a:t>Representatives</a:t>
            </a:r>
            <a:r>
              <a:rPr sz="1600" b="0" dirty="0">
                <a:solidFill>
                  <a:srgbClr val="555555"/>
                </a:solidFill>
              </a:rPr>
              <a:t> </a:t>
            </a:r>
            <a:r>
              <a:rPr sz="1600" b="1" dirty="0">
                <a:solidFill>
                  <a:srgbClr val="00897B"/>
                </a:solidFill>
              </a:rPr>
              <a:t>log in</a:t>
            </a:r>
            <a:r>
              <a:rPr sz="1600" b="0" dirty="0">
                <a:solidFill>
                  <a:srgbClr val="555555"/>
                </a:solidFill>
              </a:rPr>
              <a:t> to update local information </a:t>
            </a:r>
            <a:r>
              <a:rPr dirty="0"/>
              <a:t>
</a:t>
            </a:r>
            <a:r>
              <a:rPr sz="1600" b="0" dirty="0">
                <a:solidFill>
                  <a:srgbClr val="555555"/>
                </a:solidFill>
              </a:rPr>
              <a:t> </a:t>
            </a:r>
            <a:r>
              <a:rPr sz="1600" b="1" dirty="0">
                <a:solidFill>
                  <a:srgbClr val="00897B"/>
                </a:solidFill>
              </a:rPr>
              <a:t>Upload photos</a:t>
            </a:r>
            <a:r>
              <a:rPr sz="1600" b="0" dirty="0">
                <a:solidFill>
                  <a:srgbClr val="555555"/>
                </a:solidFill>
              </a:rPr>
              <a:t> </a:t>
            </a:r>
            <a:r>
              <a:rPr sz="1600" b="1" dirty="0">
                <a:solidFill>
                  <a:srgbClr val="00897B"/>
                </a:solidFill>
              </a:rPr>
              <a:t>Update history</a:t>
            </a:r>
            <a:r>
              <a:rPr sz="1600" b="0" dirty="0">
                <a:solidFill>
                  <a:srgbClr val="555555"/>
                </a:solidFill>
              </a:rPr>
              <a:t> </a:t>
            </a:r>
            <a:r>
              <a:rPr sz="1600" b="1" dirty="0">
                <a:solidFill>
                  <a:srgbClr val="00897B"/>
                </a:solidFill>
              </a:rPr>
              <a:t>Add events</a:t>
            </a:r>
            <a:r>
              <a:rPr sz="1600" b="0" dirty="0">
                <a:solidFill>
                  <a:srgbClr val="555555"/>
                </a:solidFill>
              </a:rPr>
              <a:t> </a:t>
            </a:r>
            <a:endParaRPr sz="1600" b="0" dirty="0">
              <a:solidFill>
                <a:srgbClr val="555555"/>
              </a:solidFill>
            </a:endParaRPr>
          </a:p>
        </p:txBody>
      </p:sp>
      <p:sp>
        <p:nvSpPr>
          <p:cNvPr id="28" name="Rounded Rectangle 27"/>
          <p:cNvSpPr/>
          <p:nvPr/>
        </p:nvSpPr>
        <p:spPr>
          <a:xfrm>
            <a:off x="6191095" y="3667124"/>
            <a:ext cx="5333866" cy="2343150"/>
          </a:xfrm>
          <a:prstGeom prst="roundRect">
            <a:avLst>
              <a:gd name="adj" fmla="val 975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Rounded Rectangle 28"/>
          <p:cNvSpPr/>
          <p:nvPr/>
        </p:nvSpPr>
        <p:spPr>
          <a:xfrm>
            <a:off x="6419689" y="3895724"/>
            <a:ext cx="666733" cy="66675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pic>
        <p:nvPicPr>
          <p:cNvPr id="30" name="Picture 29" descr="image.png"/>
          <p:cNvPicPr>
            <a:picLocks noChangeAspect="1"/>
          </p:cNvPicPr>
          <p:nvPr/>
        </p:nvPicPr>
        <p:blipFill>
          <a:blip r:embed="rId4"/>
          <a:stretch>
            <a:fillRect/>
          </a:stretch>
        </p:blipFill>
        <p:spPr>
          <a:xfrm>
            <a:off x="6581610" y="4096078"/>
            <a:ext cx="342891" cy="266043"/>
          </a:xfrm>
          <a:prstGeom prst="rect">
            <a:avLst/>
          </a:prstGeom>
        </p:spPr>
      </p:pic>
      <p:sp>
        <p:nvSpPr>
          <p:cNvPr id="31" name="TextBox 30"/>
          <p:cNvSpPr txBox="1"/>
          <p:nvPr/>
        </p:nvSpPr>
        <p:spPr>
          <a:xfrm>
            <a:off x="7276918" y="4013516"/>
            <a:ext cx="1912620" cy="354965"/>
          </a:xfrm>
          <a:prstGeom prst="rect">
            <a:avLst/>
          </a:prstGeom>
          <a:noFill/>
        </p:spPr>
        <p:txBody>
          <a:bodyPr wrap="none" lIns="73152" tIns="54864" rIns="73152" bIns="54864" anchor="ctr">
            <a:spAutoFit/>
          </a:bodyPr>
          <a:lstStyle/>
          <a:p>
            <a:pPr algn="l">
              <a:spcBef>
                <a:spcPts val="0"/>
              </a:spcBef>
              <a:spcAft>
                <a:spcPts val="780"/>
              </a:spcAft>
            </a:pPr>
            <a:r>
              <a:rPr sz="1600" b="1" dirty="0">
                <a:solidFill>
                  <a:srgbClr val="00897B"/>
                </a:solidFill>
              </a:rPr>
              <a:t>Content Moderation </a:t>
            </a:r>
            <a:endParaRPr sz="1600" b="1" dirty="0">
              <a:solidFill>
                <a:srgbClr val="00897B"/>
              </a:solidFill>
            </a:endParaRPr>
          </a:p>
        </p:txBody>
      </p:sp>
      <p:sp>
        <p:nvSpPr>
          <p:cNvPr id="32" name="TextBox 31"/>
          <p:cNvSpPr txBox="1"/>
          <p:nvPr/>
        </p:nvSpPr>
        <p:spPr>
          <a:xfrm>
            <a:off x="7276918" y="4674061"/>
            <a:ext cx="4019449" cy="1034129"/>
          </a:xfrm>
          <a:prstGeom prst="rect">
            <a:avLst/>
          </a:prstGeom>
          <a:noFill/>
        </p:spPr>
        <p:txBody>
          <a:bodyPr wrap="square" lIns="73152" tIns="54864" rIns="73152" bIns="54864" anchor="ctr">
            <a:spAutoFit/>
          </a:bodyPr>
          <a:lstStyle/>
          <a:p>
            <a:pPr algn="l">
              <a:lnSpc>
                <a:spcPts val="1755"/>
              </a:lnSpc>
              <a:spcBef>
                <a:spcPts val="0"/>
              </a:spcBef>
              <a:spcAft>
                <a:spcPts val="0"/>
              </a:spcAft>
            </a:pPr>
            <a:r>
              <a:rPr b="0" dirty="0">
                <a:solidFill>
                  <a:srgbClr val="555555"/>
                </a:solidFill>
              </a:rPr>
              <a:t> System Administrator uses </a:t>
            </a:r>
            <a:r>
              <a:rPr b="1" dirty="0">
                <a:solidFill>
                  <a:srgbClr val="00897B"/>
                </a:solidFill>
              </a:rPr>
              <a:t>Admin Dashboard</a:t>
            </a:r>
            <a:r>
              <a:rPr b="0" dirty="0">
                <a:solidFill>
                  <a:srgbClr val="555555"/>
                </a:solidFill>
              </a:rPr>
              <a:t> to review submissions </a:t>
            </a:r>
            <a:r>
              <a:rPr sz="2000" dirty="0"/>
              <a:t>
</a:t>
            </a:r>
            <a:r>
              <a:rPr b="0" dirty="0">
                <a:solidFill>
                  <a:srgbClr val="555555"/>
                </a:solidFill>
              </a:rPr>
              <a:t> </a:t>
            </a:r>
            <a:r>
              <a:rPr b="1" dirty="0">
                <a:solidFill>
                  <a:srgbClr val="00897B"/>
                </a:solidFill>
              </a:rPr>
              <a:t>Approve content</a:t>
            </a:r>
            <a:r>
              <a:rPr b="0" dirty="0">
                <a:solidFill>
                  <a:srgbClr val="555555"/>
                </a:solidFill>
              </a:rPr>
              <a:t> </a:t>
            </a:r>
            <a:r>
              <a:rPr b="1" dirty="0">
                <a:solidFill>
                  <a:srgbClr val="00897B"/>
                </a:solidFill>
              </a:rPr>
              <a:t>Reject incorrect info</a:t>
            </a:r>
            <a:r>
              <a:rPr b="0" dirty="0">
                <a:solidFill>
                  <a:srgbClr val="555555"/>
                </a:solidFill>
              </a:rPr>
              <a:t> </a:t>
            </a:r>
            <a:r>
              <a:rPr b="1" dirty="0">
                <a:solidFill>
                  <a:srgbClr val="00897B"/>
                </a:solidFill>
              </a:rPr>
              <a:t>Manage users</a:t>
            </a:r>
            <a:r>
              <a:rPr b="0" dirty="0">
                <a:solidFill>
                  <a:srgbClr val="555555"/>
                </a:solidFill>
              </a:rPr>
              <a:t> </a:t>
            </a:r>
            <a:endParaRPr b="0" dirty="0">
              <a:solidFill>
                <a:srgbClr val="555555"/>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66733" y="348280"/>
            <a:ext cx="1622495" cy="541687"/>
          </a:xfrm>
          <a:prstGeom prst="rect">
            <a:avLst/>
          </a:prstGeom>
          <a:noFill/>
        </p:spPr>
        <p:txBody>
          <a:bodyPr wrap="none" lIns="73152" tIns="54864" rIns="73152" bIns="54864" anchor="ctr">
            <a:spAutoFit/>
          </a:bodyPr>
          <a:lstStyle/>
          <a:p>
            <a:pPr algn="l">
              <a:spcBef>
                <a:spcPts val="0"/>
              </a:spcBef>
              <a:spcAft>
                <a:spcPts val="650"/>
              </a:spcAft>
            </a:pPr>
            <a:r>
              <a:rPr sz="2800" b="1">
                <a:solidFill>
                  <a:srgbClr val="FFFFFF"/>
                </a:solidFill>
              </a:rPr>
              <a:t>Use Cases</a:t>
            </a:r>
            <a:endParaRPr sz="2800" b="1">
              <a:solidFill>
                <a:srgbClr val="FFFFFF"/>
              </a:solidFill>
            </a:endParaRPr>
          </a:p>
        </p:txBody>
      </p:sp>
      <p:sp>
        <p:nvSpPr>
          <p:cNvPr id="4" name="Rounded Rectangle 3"/>
          <p:cNvSpPr/>
          <p:nvPr/>
        </p:nvSpPr>
        <p:spPr>
          <a:xfrm>
            <a:off x="666750" y="3123565"/>
            <a:ext cx="7124065" cy="2271395"/>
          </a:xfrm>
          <a:prstGeom prst="roundRect">
            <a:avLst>
              <a:gd name="adj" fmla="val 11162"/>
            </a:avLst>
          </a:prstGeom>
          <a:no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lvl="0" indent="0" algn="just">
              <a:lnSpc>
                <a:spcPts val="5830"/>
              </a:lnSpc>
              <a:buNone/>
            </a:pPr>
            <a:endParaRPr lang="en-US" altLang="en-US">
              <a:solidFill>
                <a:schemeClr val="tx1"/>
              </a:solidFill>
            </a:endParaRPr>
          </a:p>
        </p:txBody>
      </p:sp>
      <p:sp>
        <p:nvSpPr>
          <p:cNvPr id="5" name="Rounded Rectangle 4"/>
          <p:cNvSpPr/>
          <p:nvPr/>
        </p:nvSpPr>
        <p:spPr>
          <a:xfrm>
            <a:off x="895327" y="1657350"/>
            <a:ext cx="666733" cy="66675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1752556" y="1813878"/>
            <a:ext cx="2143760" cy="386080"/>
          </a:xfrm>
          <a:prstGeom prst="rect">
            <a:avLst/>
          </a:prstGeom>
          <a:noFill/>
        </p:spPr>
        <p:txBody>
          <a:bodyPr wrap="none" lIns="73152" tIns="54864" rIns="73152" bIns="54864" anchor="ctr">
            <a:spAutoFit/>
          </a:bodyPr>
          <a:lstStyle/>
          <a:p>
            <a:pPr algn="l">
              <a:spcBef>
                <a:spcPts val="0"/>
              </a:spcBef>
              <a:spcAft>
                <a:spcPts val="780"/>
              </a:spcAft>
            </a:pPr>
            <a:r>
              <a:rPr b="1" dirty="0">
                <a:solidFill>
                  <a:srgbClr val="00897B"/>
                </a:solidFill>
                <a:sym typeface="+mn-ea"/>
              </a:rPr>
              <a:t>System Management</a:t>
            </a:r>
            <a:endParaRPr b="1">
              <a:solidFill>
                <a:srgbClr val="00897B"/>
              </a:solidFill>
            </a:endParaRPr>
          </a:p>
        </p:txBody>
      </p:sp>
      <p:pic>
        <p:nvPicPr>
          <p:cNvPr id="9" name="Picture 8" descr="image.png"/>
          <p:cNvPicPr>
            <a:picLocks noChangeAspect="1"/>
          </p:cNvPicPr>
          <p:nvPr/>
        </p:nvPicPr>
        <p:blipFill>
          <a:blip r:embed="rId1"/>
          <a:stretch>
            <a:fillRect/>
          </a:stretch>
        </p:blipFill>
        <p:spPr>
          <a:xfrm>
            <a:off x="1057110" y="1874213"/>
            <a:ext cx="342891" cy="266043"/>
          </a:xfrm>
          <a:prstGeom prst="rect">
            <a:avLst/>
          </a:prstGeom>
        </p:spPr>
      </p:pic>
      <p:sp>
        <p:nvSpPr>
          <p:cNvPr id="10" name="Text Box 9"/>
          <p:cNvSpPr txBox="1"/>
          <p:nvPr/>
        </p:nvSpPr>
        <p:spPr>
          <a:xfrm>
            <a:off x="1562100" y="2720340"/>
            <a:ext cx="6096000" cy="645160"/>
          </a:xfrm>
          <a:prstGeom prst="rect">
            <a:avLst/>
          </a:prstGeom>
          <a:noFill/>
        </p:spPr>
        <p:txBody>
          <a:bodyPr wrap="square" rtlCol="0" anchor="t">
            <a:spAutoFit/>
          </a:bodyPr>
          <a:p>
            <a:r>
              <a:rPr lang="en-US" altLang="en-US"/>
              <a:t>Tourist/resident views the tourism and cultural map to locate sites and learn history/cultural context.</a:t>
            </a:r>
            <a:endParaRPr lang="en-US"/>
          </a:p>
        </p:txBody>
      </p:sp>
      <p:sp>
        <p:nvSpPr>
          <p:cNvPr id="11" name="Text Box 10"/>
          <p:cNvSpPr txBox="1"/>
          <p:nvPr/>
        </p:nvSpPr>
        <p:spPr>
          <a:xfrm>
            <a:off x="1562100" y="3789680"/>
            <a:ext cx="6096000" cy="645160"/>
          </a:xfrm>
          <a:prstGeom prst="rect">
            <a:avLst/>
          </a:prstGeom>
          <a:noFill/>
        </p:spPr>
        <p:txBody>
          <a:bodyPr wrap="square" rtlCol="0" anchor="t">
            <a:spAutoFit/>
          </a:bodyPr>
          <a:p>
            <a:r>
              <a:rPr lang="en-US" altLang="en-US"/>
              <a:t>Tourism staff updates destination/site details and publishes official announcements/articles.</a:t>
            </a:r>
            <a:endParaRPr lang="en-US"/>
          </a:p>
        </p:txBody>
      </p:sp>
      <p:sp>
        <p:nvSpPr>
          <p:cNvPr id="17" name="Text Box 16"/>
          <p:cNvSpPr txBox="1"/>
          <p:nvPr/>
        </p:nvSpPr>
        <p:spPr>
          <a:xfrm>
            <a:off x="1562100" y="4859020"/>
            <a:ext cx="6096000" cy="645160"/>
          </a:xfrm>
          <a:prstGeom prst="rect">
            <a:avLst/>
          </a:prstGeom>
          <a:noFill/>
        </p:spPr>
        <p:txBody>
          <a:bodyPr wrap="square" rtlCol="0" anchor="t">
            <a:spAutoFit/>
          </a:bodyPr>
          <a:p>
            <a:r>
              <a:rPr lang="en-US" altLang="en-US"/>
              <a:t>Administrator creates staff accounts, manages access roles, and generates printable reports.</a:t>
            </a: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 name="TextBox 2"/>
          <p:cNvSpPr txBox="1"/>
          <p:nvPr/>
        </p:nvSpPr>
        <p:spPr>
          <a:xfrm>
            <a:off x="666733" y="255948"/>
            <a:ext cx="10072822" cy="726353"/>
          </a:xfrm>
          <a:prstGeom prst="rect">
            <a:avLst/>
          </a:prstGeom>
          <a:noFill/>
        </p:spPr>
        <p:txBody>
          <a:bodyPr wrap="none" lIns="73152" tIns="54864" rIns="73152" bIns="54864" anchor="ctr">
            <a:spAutoFit/>
          </a:bodyPr>
          <a:lstStyle/>
          <a:p>
            <a:pPr algn="l">
              <a:spcBef>
                <a:spcPts val="0"/>
              </a:spcBef>
              <a:spcAft>
                <a:spcPts val="650"/>
              </a:spcAft>
            </a:pPr>
            <a:r>
              <a:rPr sz="4000" b="1" dirty="0">
                <a:solidFill>
                  <a:srgbClr val="FFFFFF"/>
                </a:solidFill>
              </a:rPr>
              <a:t>Hardware, Software and Service Requirements</a:t>
            </a:r>
            <a:endParaRPr sz="4000" b="1" dirty="0">
              <a:solidFill>
                <a:srgbClr val="FFFFFF"/>
              </a:solidFill>
            </a:endParaRPr>
          </a:p>
        </p:txBody>
      </p:sp>
      <p:grpSp>
        <p:nvGrpSpPr>
          <p:cNvPr id="65" name="Group 64"/>
          <p:cNvGrpSpPr/>
          <p:nvPr/>
        </p:nvGrpSpPr>
        <p:grpSpPr>
          <a:xfrm>
            <a:off x="565892" y="1911608"/>
            <a:ext cx="10858228" cy="3742706"/>
            <a:chOff x="666733" y="1428751"/>
            <a:chExt cx="10858228" cy="3742706"/>
          </a:xfrm>
        </p:grpSpPr>
        <p:sp>
          <p:nvSpPr>
            <p:cNvPr id="4" name="Rounded Rectangle 3"/>
            <p:cNvSpPr/>
            <p:nvPr/>
          </p:nvSpPr>
          <p:spPr>
            <a:xfrm>
              <a:off x="666733" y="1428751"/>
              <a:ext cx="10858228" cy="3742706"/>
            </a:xfrm>
            <a:prstGeom prst="roundRect">
              <a:avLst>
                <a:gd name="adj" fmla="val 797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 name="Rounded Rectangle 4"/>
            <p:cNvSpPr/>
            <p:nvPr/>
          </p:nvSpPr>
          <p:spPr>
            <a:xfrm>
              <a:off x="904852" y="1666874"/>
              <a:ext cx="571485" cy="57150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6" name="Picture 5" descr="image.png"/>
            <p:cNvPicPr>
              <a:picLocks noChangeAspect="1"/>
            </p:cNvPicPr>
            <p:nvPr/>
          </p:nvPicPr>
          <p:blipFill>
            <a:blip r:embed="rId1"/>
            <a:stretch>
              <a:fillRect/>
            </a:stretch>
          </p:blipFill>
          <p:spPr>
            <a:xfrm>
              <a:off x="1047723" y="1873897"/>
              <a:ext cx="285742" cy="157454"/>
            </a:xfrm>
            <a:prstGeom prst="rect">
              <a:avLst/>
            </a:prstGeom>
          </p:spPr>
        </p:pic>
        <p:sp>
          <p:nvSpPr>
            <p:cNvPr id="7" name="TextBox 6"/>
            <p:cNvSpPr txBox="1"/>
            <p:nvPr/>
          </p:nvSpPr>
          <p:spPr>
            <a:xfrm>
              <a:off x="1666833" y="1686544"/>
              <a:ext cx="4328173" cy="541687"/>
            </a:xfrm>
            <a:prstGeom prst="rect">
              <a:avLst/>
            </a:prstGeom>
            <a:noFill/>
          </p:spPr>
          <p:txBody>
            <a:bodyPr wrap="none" lIns="73152" tIns="54864" rIns="73152" bIns="54864" anchor="ctr">
              <a:spAutoFit/>
            </a:bodyPr>
            <a:lstStyle/>
            <a:p>
              <a:pPr algn="l">
                <a:spcBef>
                  <a:spcPts val="0"/>
                </a:spcBef>
                <a:spcAft>
                  <a:spcPts val="0"/>
                </a:spcAft>
              </a:pPr>
              <a:r>
                <a:rPr sz="2800" b="1">
                  <a:solidFill>
                    <a:srgbClr val="00897B"/>
                  </a:solidFill>
                </a:rPr>
                <a:t>Development Requirements</a:t>
              </a:r>
              <a:endParaRPr sz="2800" b="1">
                <a:solidFill>
                  <a:srgbClr val="00897B"/>
                </a:solidFill>
              </a:endParaRPr>
            </a:p>
          </p:txBody>
        </p:sp>
        <p:sp>
          <p:nvSpPr>
            <p:cNvPr id="8" name="Rounded Rectangle 7"/>
            <p:cNvSpPr/>
            <p:nvPr/>
          </p:nvSpPr>
          <p:spPr>
            <a:xfrm>
              <a:off x="904852" y="2428875"/>
              <a:ext cx="5114797" cy="447675"/>
            </a:xfrm>
            <a:prstGeom prst="roundRect">
              <a:avLst>
                <a:gd name="adj" fmla="val 34042"/>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9" name="Picture 8" descr="image.png"/>
            <p:cNvPicPr>
              <a:picLocks noChangeAspect="1"/>
            </p:cNvPicPr>
            <p:nvPr/>
          </p:nvPicPr>
          <p:blipFill>
            <a:blip r:embed="rId2"/>
            <a:stretch>
              <a:fillRect/>
            </a:stretch>
          </p:blipFill>
          <p:spPr>
            <a:xfrm>
              <a:off x="1047723" y="2581017"/>
              <a:ext cx="209544" cy="152914"/>
            </a:xfrm>
            <a:prstGeom prst="rect">
              <a:avLst/>
            </a:prstGeom>
          </p:spPr>
        </p:pic>
        <p:sp>
          <p:nvSpPr>
            <p:cNvPr id="10" name="TextBox 9"/>
            <p:cNvSpPr txBox="1"/>
            <p:nvPr/>
          </p:nvSpPr>
          <p:spPr>
            <a:xfrm>
              <a:off x="1371565" y="2458815"/>
              <a:ext cx="3719736" cy="387798"/>
            </a:xfrm>
            <a:prstGeom prst="rect">
              <a:avLst/>
            </a:prstGeom>
            <a:noFill/>
          </p:spPr>
          <p:txBody>
            <a:bodyPr wrap="none" lIns="73152" tIns="54864" rIns="73152" bIns="54864" anchor="ctr">
              <a:spAutoFit/>
            </a:bodyPr>
            <a:lstStyle/>
            <a:p>
              <a:pPr algn="l">
                <a:spcBef>
                  <a:spcPts val="0"/>
                </a:spcBef>
                <a:spcAft>
                  <a:spcPts val="0"/>
                </a:spcAft>
              </a:pPr>
              <a:r>
                <a:rPr b="1">
                  <a:solidFill>
                    <a:srgbClr val="00897B"/>
                  </a:solidFill>
                </a:rPr>
                <a:t>Hardware:</a:t>
              </a:r>
              <a:r>
                <a:rPr b="0">
                  <a:solidFill>
                    <a:srgbClr val="333333"/>
                  </a:solidFill>
                </a:rPr>
                <a:t> Intel Core i5/i7, 8GB+ RAM</a:t>
              </a:r>
              <a:endParaRPr b="0">
                <a:solidFill>
                  <a:srgbClr val="333333"/>
                </a:solidFill>
              </a:endParaRPr>
            </a:p>
          </p:txBody>
        </p:sp>
        <p:sp>
          <p:nvSpPr>
            <p:cNvPr id="11" name="Rounded Rectangle 10"/>
            <p:cNvSpPr/>
            <p:nvPr/>
          </p:nvSpPr>
          <p:spPr>
            <a:xfrm>
              <a:off x="6162520" y="2428875"/>
              <a:ext cx="5114797" cy="447675"/>
            </a:xfrm>
            <a:prstGeom prst="roundRect">
              <a:avLst>
                <a:gd name="adj" fmla="val 34042"/>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12" name="Picture 11" descr="image.png"/>
            <p:cNvPicPr>
              <a:picLocks noChangeAspect="1"/>
            </p:cNvPicPr>
            <p:nvPr/>
          </p:nvPicPr>
          <p:blipFill>
            <a:blip r:embed="rId3"/>
            <a:stretch>
              <a:fillRect/>
            </a:stretch>
          </p:blipFill>
          <p:spPr>
            <a:xfrm>
              <a:off x="6305392" y="2581017"/>
              <a:ext cx="209544" cy="152914"/>
            </a:xfrm>
            <a:prstGeom prst="rect">
              <a:avLst/>
            </a:prstGeom>
          </p:spPr>
        </p:pic>
        <p:sp>
          <p:nvSpPr>
            <p:cNvPr id="13" name="TextBox 12"/>
            <p:cNvSpPr txBox="1"/>
            <p:nvPr/>
          </p:nvSpPr>
          <p:spPr>
            <a:xfrm>
              <a:off x="6629234" y="2458815"/>
              <a:ext cx="4305666" cy="387798"/>
            </a:xfrm>
            <a:prstGeom prst="rect">
              <a:avLst/>
            </a:prstGeom>
            <a:noFill/>
          </p:spPr>
          <p:txBody>
            <a:bodyPr wrap="none" lIns="73152" tIns="54864" rIns="73152" bIns="54864" anchor="ctr">
              <a:spAutoFit/>
            </a:bodyPr>
            <a:lstStyle/>
            <a:p>
              <a:pPr algn="l">
                <a:spcBef>
                  <a:spcPts val="0"/>
                </a:spcBef>
                <a:spcAft>
                  <a:spcPts val="0"/>
                </a:spcAft>
              </a:pPr>
              <a:r>
                <a:rPr b="1">
                  <a:solidFill>
                    <a:srgbClr val="00897B"/>
                  </a:solidFill>
                </a:rPr>
                <a:t>Languages:</a:t>
              </a:r>
              <a:r>
                <a:rPr b="0">
                  <a:solidFill>
                    <a:srgbClr val="333333"/>
                  </a:solidFill>
                </a:rPr>
                <a:t> Python, HTML5, CSS3, JavaScript</a:t>
              </a:r>
              <a:endParaRPr b="0">
                <a:solidFill>
                  <a:srgbClr val="333333"/>
                </a:solidFill>
              </a:endParaRPr>
            </a:p>
          </p:txBody>
        </p:sp>
        <p:sp>
          <p:nvSpPr>
            <p:cNvPr id="14" name="Rounded Rectangle 13"/>
            <p:cNvSpPr/>
            <p:nvPr/>
          </p:nvSpPr>
          <p:spPr>
            <a:xfrm>
              <a:off x="904852" y="3019424"/>
              <a:ext cx="5114797" cy="656288"/>
            </a:xfrm>
            <a:prstGeom prst="roundRect">
              <a:avLst>
                <a:gd name="adj" fmla="val 34042"/>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15" name="Picture 14" descr="image.png"/>
            <p:cNvPicPr>
              <a:picLocks noChangeAspect="1"/>
            </p:cNvPicPr>
            <p:nvPr/>
          </p:nvPicPr>
          <p:blipFill>
            <a:blip r:embed="rId4"/>
            <a:stretch>
              <a:fillRect/>
            </a:stretch>
          </p:blipFill>
          <p:spPr>
            <a:xfrm>
              <a:off x="1047723" y="3153161"/>
              <a:ext cx="209544" cy="189727"/>
            </a:xfrm>
            <a:prstGeom prst="rect">
              <a:avLst/>
            </a:prstGeom>
          </p:spPr>
        </p:pic>
        <p:sp>
          <p:nvSpPr>
            <p:cNvPr id="16" name="TextBox 15"/>
            <p:cNvSpPr txBox="1"/>
            <p:nvPr/>
          </p:nvSpPr>
          <p:spPr>
            <a:xfrm>
              <a:off x="1260674" y="2981644"/>
              <a:ext cx="4543311" cy="664797"/>
            </a:xfrm>
            <a:prstGeom prst="rect">
              <a:avLst/>
            </a:prstGeom>
            <a:noFill/>
          </p:spPr>
          <p:txBody>
            <a:bodyPr wrap="square" lIns="73152" tIns="54864" rIns="73152" bIns="54864" anchor="ctr">
              <a:spAutoFit/>
            </a:bodyPr>
            <a:lstStyle/>
            <a:p>
              <a:pPr algn="l">
                <a:spcBef>
                  <a:spcPts val="0"/>
                </a:spcBef>
                <a:spcAft>
                  <a:spcPts val="0"/>
                </a:spcAft>
              </a:pPr>
              <a:r>
                <a:rPr b="1" dirty="0">
                  <a:solidFill>
                    <a:srgbClr val="00897B"/>
                  </a:solidFill>
                </a:rPr>
                <a:t>Frameworks:</a:t>
              </a:r>
              <a:r>
                <a:rPr b="0" dirty="0">
                  <a:solidFill>
                    <a:srgbClr val="333333"/>
                  </a:solidFill>
                </a:rPr>
                <a:t> Flask, Tailwind CSS, Leaflet.js</a:t>
              </a:r>
              <a:r>
                <a:rPr lang="en-US" b="0" dirty="0">
                  <a:solidFill>
                    <a:srgbClr val="333333"/>
                  </a:solidFill>
                </a:rPr>
                <a:t> or </a:t>
              </a:r>
              <a:r>
                <a:rPr lang="en-US" b="0" dirty="0" err="1">
                  <a:solidFill>
                    <a:srgbClr val="333333"/>
                  </a:solidFill>
                </a:rPr>
                <a:t>mapbox</a:t>
              </a:r>
              <a:endParaRPr b="0" dirty="0">
                <a:solidFill>
                  <a:srgbClr val="333333"/>
                </a:solidFill>
              </a:endParaRPr>
            </a:p>
          </p:txBody>
        </p:sp>
        <p:sp>
          <p:nvSpPr>
            <p:cNvPr id="17" name="Rounded Rectangle 16"/>
            <p:cNvSpPr/>
            <p:nvPr/>
          </p:nvSpPr>
          <p:spPr>
            <a:xfrm>
              <a:off x="6162520" y="3019424"/>
              <a:ext cx="5114797" cy="656288"/>
            </a:xfrm>
            <a:prstGeom prst="roundRect">
              <a:avLst>
                <a:gd name="adj" fmla="val 34042"/>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18" name="Picture 17" descr="image.png"/>
            <p:cNvPicPr>
              <a:picLocks noChangeAspect="1"/>
            </p:cNvPicPr>
            <p:nvPr/>
          </p:nvPicPr>
          <p:blipFill>
            <a:blip r:embed="rId5"/>
            <a:stretch>
              <a:fillRect/>
            </a:stretch>
          </p:blipFill>
          <p:spPr>
            <a:xfrm>
              <a:off x="6305392" y="3171567"/>
              <a:ext cx="209544" cy="152914"/>
            </a:xfrm>
            <a:prstGeom prst="rect">
              <a:avLst/>
            </a:prstGeom>
          </p:spPr>
        </p:pic>
        <p:sp>
          <p:nvSpPr>
            <p:cNvPr id="19" name="TextBox 18"/>
            <p:cNvSpPr txBox="1"/>
            <p:nvPr/>
          </p:nvSpPr>
          <p:spPr>
            <a:xfrm>
              <a:off x="6629235" y="2910865"/>
              <a:ext cx="4503774" cy="664797"/>
            </a:xfrm>
            <a:prstGeom prst="rect">
              <a:avLst/>
            </a:prstGeom>
            <a:noFill/>
          </p:spPr>
          <p:txBody>
            <a:bodyPr wrap="square" lIns="73152" tIns="54864" rIns="73152" bIns="54864" anchor="ctr">
              <a:spAutoFit/>
            </a:bodyPr>
            <a:lstStyle/>
            <a:p>
              <a:pPr algn="l">
                <a:spcBef>
                  <a:spcPts val="0"/>
                </a:spcBef>
                <a:spcAft>
                  <a:spcPts val="0"/>
                </a:spcAft>
              </a:pPr>
              <a:r>
                <a:rPr b="1" dirty="0">
                  <a:solidFill>
                    <a:srgbClr val="00897B"/>
                  </a:solidFill>
                </a:rPr>
                <a:t>Database:</a:t>
              </a:r>
              <a:r>
                <a:rPr b="0" dirty="0">
                  <a:solidFill>
                    <a:srgbClr val="333333"/>
                  </a:solidFill>
                </a:rPr>
                <a:t> SQLite(development)</a:t>
              </a:r>
              <a:r>
                <a:rPr lang="en-US" b="0" dirty="0">
                  <a:solidFill>
                    <a:srgbClr val="333333"/>
                  </a:solidFill>
                </a:rPr>
                <a:t> and </a:t>
              </a:r>
              <a:r>
                <a:rPr lang="en-US" b="0" dirty="0" err="1">
                  <a:solidFill>
                    <a:srgbClr val="333333"/>
                  </a:solidFill>
                </a:rPr>
                <a:t>supabase</a:t>
              </a:r>
              <a:r>
                <a:rPr lang="en-US" b="0" dirty="0">
                  <a:solidFill>
                    <a:srgbClr val="333333"/>
                  </a:solidFill>
                </a:rPr>
                <a:t>(</a:t>
              </a:r>
              <a:r>
                <a:rPr lang="en-US" b="0" dirty="0" err="1">
                  <a:solidFill>
                    <a:srgbClr val="333333"/>
                  </a:solidFill>
                </a:rPr>
                <a:t>postgresql</a:t>
              </a:r>
              <a:r>
                <a:rPr lang="en-US" b="0" dirty="0">
                  <a:solidFill>
                    <a:srgbClr val="333333"/>
                  </a:solidFill>
                </a:rPr>
                <a:t>)</a:t>
              </a:r>
              <a:endParaRPr b="0" dirty="0">
                <a:solidFill>
                  <a:srgbClr val="333333"/>
                </a:solidFill>
              </a:endParaRPr>
            </a:p>
          </p:txBody>
        </p:sp>
        <p:sp>
          <p:nvSpPr>
            <p:cNvPr id="20" name="Rounded Rectangle 19"/>
            <p:cNvSpPr/>
            <p:nvPr/>
          </p:nvSpPr>
          <p:spPr>
            <a:xfrm>
              <a:off x="880209" y="4105174"/>
              <a:ext cx="5114797" cy="447675"/>
            </a:xfrm>
            <a:prstGeom prst="roundRect">
              <a:avLst>
                <a:gd name="adj" fmla="val 34042"/>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dirty="0"/>
            </a:p>
          </p:txBody>
        </p:sp>
        <p:pic>
          <p:nvPicPr>
            <p:cNvPr id="21" name="Picture 20" descr="image.png"/>
            <p:cNvPicPr>
              <a:picLocks noChangeAspect="1"/>
            </p:cNvPicPr>
            <p:nvPr/>
          </p:nvPicPr>
          <p:blipFill>
            <a:blip r:embed="rId6"/>
            <a:stretch>
              <a:fillRect/>
            </a:stretch>
          </p:blipFill>
          <p:spPr>
            <a:xfrm>
              <a:off x="1023080" y="4234662"/>
              <a:ext cx="209544" cy="198222"/>
            </a:xfrm>
            <a:prstGeom prst="rect">
              <a:avLst/>
            </a:prstGeom>
          </p:spPr>
        </p:pic>
        <p:sp>
          <p:nvSpPr>
            <p:cNvPr id="22" name="TextBox 21"/>
            <p:cNvSpPr txBox="1"/>
            <p:nvPr/>
          </p:nvSpPr>
          <p:spPr>
            <a:xfrm>
              <a:off x="1346922" y="4135113"/>
              <a:ext cx="3135345" cy="387798"/>
            </a:xfrm>
            <a:prstGeom prst="rect">
              <a:avLst/>
            </a:prstGeom>
            <a:noFill/>
          </p:spPr>
          <p:txBody>
            <a:bodyPr wrap="none" lIns="73152" tIns="54864" rIns="73152" bIns="54864" anchor="ctr">
              <a:spAutoFit/>
            </a:bodyPr>
            <a:lstStyle/>
            <a:p>
              <a:pPr algn="l">
                <a:spcBef>
                  <a:spcPts val="0"/>
                </a:spcBef>
                <a:spcAft>
                  <a:spcPts val="0"/>
                </a:spcAft>
              </a:pPr>
              <a:r>
                <a:rPr b="1">
                  <a:solidFill>
                    <a:srgbClr val="00897B"/>
                  </a:solidFill>
                </a:rPr>
                <a:t>Version Control:</a:t>
              </a:r>
              <a:r>
                <a:rPr b="0">
                  <a:solidFill>
                    <a:srgbClr val="333333"/>
                  </a:solidFill>
                </a:rPr>
                <a:t> Git and GitHub</a:t>
              </a:r>
              <a:endParaRPr b="0">
                <a:solidFill>
                  <a:srgbClr val="333333"/>
                </a:solidFill>
              </a:endParaRPr>
            </a:p>
          </p:txBody>
        </p:sp>
        <p:sp>
          <p:nvSpPr>
            <p:cNvPr id="23" name="Rounded Rectangle 22"/>
            <p:cNvSpPr/>
            <p:nvPr/>
          </p:nvSpPr>
          <p:spPr>
            <a:xfrm>
              <a:off x="6162520" y="4055505"/>
              <a:ext cx="5114797" cy="447675"/>
            </a:xfrm>
            <a:prstGeom prst="roundRect">
              <a:avLst>
                <a:gd name="adj" fmla="val 34042"/>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24" name="Picture 23" descr="image.png"/>
            <p:cNvPicPr>
              <a:picLocks noChangeAspect="1"/>
            </p:cNvPicPr>
            <p:nvPr/>
          </p:nvPicPr>
          <p:blipFill>
            <a:blip r:embed="rId7"/>
            <a:stretch>
              <a:fillRect/>
            </a:stretch>
          </p:blipFill>
          <p:spPr>
            <a:xfrm>
              <a:off x="6305392" y="4224638"/>
              <a:ext cx="209544" cy="118933"/>
            </a:xfrm>
            <a:prstGeom prst="rect">
              <a:avLst/>
            </a:prstGeom>
          </p:spPr>
        </p:pic>
        <p:sp>
          <p:nvSpPr>
            <p:cNvPr id="25" name="TextBox 24"/>
            <p:cNvSpPr txBox="1"/>
            <p:nvPr/>
          </p:nvSpPr>
          <p:spPr>
            <a:xfrm>
              <a:off x="6629234" y="4085444"/>
              <a:ext cx="2144498" cy="387798"/>
            </a:xfrm>
            <a:prstGeom prst="rect">
              <a:avLst/>
            </a:prstGeom>
            <a:noFill/>
          </p:spPr>
          <p:txBody>
            <a:bodyPr wrap="none" lIns="73152" tIns="54864" rIns="73152" bIns="54864" anchor="ctr">
              <a:spAutoFit/>
            </a:bodyPr>
            <a:lstStyle/>
            <a:p>
              <a:pPr algn="l">
                <a:spcBef>
                  <a:spcPts val="0"/>
                </a:spcBef>
                <a:spcAft>
                  <a:spcPts val="0"/>
                </a:spcAft>
              </a:pPr>
              <a:r>
                <a:rPr b="1" dirty="0">
                  <a:solidFill>
                    <a:srgbClr val="00897B"/>
                  </a:solidFill>
                </a:rPr>
                <a:t>Code Editor:</a:t>
              </a:r>
              <a:r>
                <a:rPr b="0" dirty="0">
                  <a:solidFill>
                    <a:srgbClr val="333333"/>
                  </a:solidFill>
                </a:rPr>
                <a:t> VS Code</a:t>
              </a:r>
              <a:endParaRPr b="0" dirty="0">
                <a:solidFill>
                  <a:srgbClr val="333333"/>
                </a:solidFill>
              </a:endParaRPr>
            </a:p>
          </p:txBody>
        </p:sp>
      </p:grpSp>
      <p:sp>
        <p:nvSpPr>
          <p:cNvPr id="49" name="Rounded Rectangle 48"/>
          <p:cNvSpPr/>
          <p:nvPr/>
        </p:nvSpPr>
        <p:spPr>
          <a:xfrm>
            <a:off x="904852" y="8448674"/>
            <a:ext cx="3362240" cy="1533525"/>
          </a:xfrm>
          <a:prstGeom prst="roundRect">
            <a:avLst>
              <a:gd name="adj" fmla="val 9937"/>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2" name="TextBox 51"/>
          <p:cNvSpPr txBox="1"/>
          <p:nvPr/>
        </p:nvSpPr>
        <p:spPr>
          <a:xfrm>
            <a:off x="1896539" y="9078689"/>
            <a:ext cx="1388393" cy="387798"/>
          </a:xfrm>
          <a:prstGeom prst="rect">
            <a:avLst/>
          </a:prstGeom>
          <a:noFill/>
        </p:spPr>
        <p:txBody>
          <a:bodyPr wrap="none" lIns="73152" tIns="54864" rIns="73152" bIns="54864" anchor="ctr">
            <a:spAutoFit/>
          </a:bodyPr>
          <a:lstStyle/>
          <a:p>
            <a:pPr algn="ctr">
              <a:spcBef>
                <a:spcPts val="0"/>
              </a:spcBef>
              <a:spcAft>
                <a:spcPts val="520"/>
              </a:spcAft>
            </a:pPr>
            <a:r>
              <a:rPr b="1">
                <a:solidFill>
                  <a:srgbClr val="00897B"/>
                </a:solidFill>
              </a:rPr>
              <a:t>Client Device</a:t>
            </a:r>
            <a:endParaRPr b="1">
              <a:solidFill>
                <a:srgbClr val="00897B"/>
              </a:solidFill>
            </a:endParaRPr>
          </a:p>
        </p:txBody>
      </p:sp>
      <p:sp>
        <p:nvSpPr>
          <p:cNvPr id="53" name="TextBox 52"/>
          <p:cNvSpPr txBox="1"/>
          <p:nvPr/>
        </p:nvSpPr>
        <p:spPr>
          <a:xfrm>
            <a:off x="1047723" y="9377981"/>
            <a:ext cx="3076498" cy="541687"/>
          </a:xfrm>
          <a:prstGeom prst="rect">
            <a:avLst/>
          </a:prstGeom>
          <a:noFill/>
        </p:spPr>
        <p:txBody>
          <a:bodyPr wrap="square" lIns="73152" tIns="54864" rIns="73152" bIns="54864" anchor="ctr">
            <a:spAutoFit/>
          </a:bodyPr>
          <a:lstStyle/>
          <a:p>
            <a:pPr algn="ctr">
              <a:spcBef>
                <a:spcPts val="0"/>
              </a:spcBef>
              <a:spcAft>
                <a:spcPts val="0"/>
              </a:spcAft>
            </a:pPr>
            <a:r>
              <a:rPr sz="1400" b="0">
                <a:solidFill>
                  <a:srgbClr val="555555"/>
                </a:solidFill>
              </a:rPr>
              <a:t>Smartphone, Tablet, Laptop, or Desktop Computer</a:t>
            </a:r>
            <a:endParaRPr sz="1400" b="0">
              <a:solidFill>
                <a:srgbClr val="555555"/>
              </a:solidFill>
            </a:endParaRPr>
          </a:p>
        </p:txBody>
      </p:sp>
      <p:sp>
        <p:nvSpPr>
          <p:cNvPr id="54" name="Rounded Rectangle 53"/>
          <p:cNvSpPr/>
          <p:nvPr/>
        </p:nvSpPr>
        <p:spPr>
          <a:xfrm>
            <a:off x="4409964" y="8448674"/>
            <a:ext cx="3362240" cy="1533525"/>
          </a:xfrm>
          <a:prstGeom prst="roundRect">
            <a:avLst>
              <a:gd name="adj" fmla="val 9937"/>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5375279" y="9078689"/>
            <a:ext cx="1431610" cy="387798"/>
          </a:xfrm>
          <a:prstGeom prst="rect">
            <a:avLst/>
          </a:prstGeom>
          <a:noFill/>
        </p:spPr>
        <p:txBody>
          <a:bodyPr wrap="none" lIns="73152" tIns="54864" rIns="73152" bIns="54864" anchor="ctr">
            <a:spAutoFit/>
          </a:bodyPr>
          <a:lstStyle/>
          <a:p>
            <a:pPr algn="ctr">
              <a:spcBef>
                <a:spcPts val="0"/>
              </a:spcBef>
              <a:spcAft>
                <a:spcPts val="520"/>
              </a:spcAft>
            </a:pPr>
            <a:r>
              <a:rPr b="1">
                <a:solidFill>
                  <a:srgbClr val="00897B"/>
                </a:solidFill>
              </a:rPr>
              <a:t>Web Browser</a:t>
            </a:r>
            <a:endParaRPr b="1">
              <a:solidFill>
                <a:srgbClr val="00897B"/>
              </a:solidFill>
            </a:endParaRPr>
          </a:p>
        </p:txBody>
      </p:sp>
      <p:sp>
        <p:nvSpPr>
          <p:cNvPr id="58" name="TextBox 57"/>
          <p:cNvSpPr txBox="1"/>
          <p:nvPr/>
        </p:nvSpPr>
        <p:spPr>
          <a:xfrm>
            <a:off x="4884796" y="9390455"/>
            <a:ext cx="2431628" cy="326243"/>
          </a:xfrm>
          <a:prstGeom prst="rect">
            <a:avLst/>
          </a:prstGeom>
          <a:noFill/>
        </p:spPr>
        <p:txBody>
          <a:bodyPr wrap="none" lIns="73152" tIns="54864" rIns="73152" bIns="54864" anchor="ctr">
            <a:spAutoFit/>
          </a:bodyPr>
          <a:lstStyle/>
          <a:p>
            <a:pPr algn="ctr">
              <a:spcBef>
                <a:spcPts val="0"/>
              </a:spcBef>
              <a:spcAft>
                <a:spcPts val="0"/>
              </a:spcAft>
            </a:pPr>
            <a:r>
              <a:rPr sz="1400" b="0">
                <a:solidFill>
                  <a:srgbClr val="555555"/>
                </a:solidFill>
              </a:rPr>
              <a:t>Chrome, Firefox, Safari, or Edge</a:t>
            </a:r>
            <a:endParaRPr sz="1400" b="0">
              <a:solidFill>
                <a:srgbClr val="555555"/>
              </a:solidFill>
            </a:endParaRPr>
          </a:p>
        </p:txBody>
      </p:sp>
      <p:sp>
        <p:nvSpPr>
          <p:cNvPr id="59" name="Rounded Rectangle 58"/>
          <p:cNvSpPr/>
          <p:nvPr/>
        </p:nvSpPr>
        <p:spPr>
          <a:xfrm>
            <a:off x="7924601" y="8448674"/>
            <a:ext cx="3362240" cy="1533525"/>
          </a:xfrm>
          <a:prstGeom prst="roundRect">
            <a:avLst>
              <a:gd name="adj" fmla="val 9937"/>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2" name="TextBox 61"/>
          <p:cNvSpPr txBox="1"/>
          <p:nvPr/>
        </p:nvSpPr>
        <p:spPr>
          <a:xfrm>
            <a:off x="8929975" y="9078689"/>
            <a:ext cx="1341970" cy="387798"/>
          </a:xfrm>
          <a:prstGeom prst="rect">
            <a:avLst/>
          </a:prstGeom>
          <a:noFill/>
        </p:spPr>
        <p:txBody>
          <a:bodyPr wrap="none" lIns="73152" tIns="54864" rIns="73152" bIns="54864" anchor="ctr">
            <a:spAutoFit/>
          </a:bodyPr>
          <a:lstStyle/>
          <a:p>
            <a:pPr algn="ctr">
              <a:spcBef>
                <a:spcPts val="0"/>
              </a:spcBef>
              <a:spcAft>
                <a:spcPts val="520"/>
              </a:spcAft>
            </a:pPr>
            <a:r>
              <a:rPr b="1">
                <a:solidFill>
                  <a:srgbClr val="00897B"/>
                </a:solidFill>
              </a:rPr>
              <a:t>Connectivity</a:t>
            </a:r>
            <a:endParaRPr b="1">
              <a:solidFill>
                <a:srgbClr val="00897B"/>
              </a:solidFill>
            </a:endParaRPr>
          </a:p>
        </p:txBody>
      </p:sp>
      <p:sp>
        <p:nvSpPr>
          <p:cNvPr id="63" name="TextBox 62"/>
          <p:cNvSpPr txBox="1"/>
          <p:nvPr/>
        </p:nvSpPr>
        <p:spPr>
          <a:xfrm>
            <a:off x="8067473" y="9377981"/>
            <a:ext cx="3076498" cy="541687"/>
          </a:xfrm>
          <a:prstGeom prst="rect">
            <a:avLst/>
          </a:prstGeom>
          <a:noFill/>
        </p:spPr>
        <p:txBody>
          <a:bodyPr wrap="square" lIns="73152" tIns="54864" rIns="73152" bIns="54864" anchor="ctr">
            <a:spAutoFit/>
          </a:bodyPr>
          <a:lstStyle/>
          <a:p>
            <a:pPr algn="ctr">
              <a:spcBef>
                <a:spcPts val="0"/>
              </a:spcBef>
              <a:spcAft>
                <a:spcPts val="0"/>
              </a:spcAft>
            </a:pPr>
            <a:r>
              <a:rPr sz="1400" b="0">
                <a:solidFill>
                  <a:srgbClr val="555555"/>
                </a:solidFill>
              </a:rPr>
              <a:t>Stable Internet Connection or Mobile Data Service</a:t>
            </a:r>
            <a:endParaRPr sz="1400" b="0">
              <a:solidFill>
                <a:srgbClr val="555555"/>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 name="TextBox 2"/>
          <p:cNvSpPr txBox="1"/>
          <p:nvPr/>
        </p:nvSpPr>
        <p:spPr>
          <a:xfrm>
            <a:off x="666733" y="255948"/>
            <a:ext cx="10072822" cy="726353"/>
          </a:xfrm>
          <a:prstGeom prst="rect">
            <a:avLst/>
          </a:prstGeom>
          <a:noFill/>
        </p:spPr>
        <p:txBody>
          <a:bodyPr wrap="none" lIns="73152" tIns="54864" rIns="73152" bIns="54864" anchor="ctr">
            <a:spAutoFit/>
          </a:bodyPr>
          <a:lstStyle/>
          <a:p>
            <a:pPr algn="l">
              <a:spcBef>
                <a:spcPts val="0"/>
              </a:spcBef>
              <a:spcAft>
                <a:spcPts val="650"/>
              </a:spcAft>
            </a:pPr>
            <a:r>
              <a:rPr sz="4000" b="1" dirty="0">
                <a:solidFill>
                  <a:srgbClr val="FFFFFF"/>
                </a:solidFill>
              </a:rPr>
              <a:t>Hardware, Software and Service Requirements</a:t>
            </a:r>
            <a:endParaRPr sz="4000" b="1" dirty="0">
              <a:solidFill>
                <a:srgbClr val="FFFFFF"/>
              </a:solidFill>
            </a:endParaRPr>
          </a:p>
        </p:txBody>
      </p:sp>
      <p:grpSp>
        <p:nvGrpSpPr>
          <p:cNvPr id="64" name="Group 63"/>
          <p:cNvGrpSpPr/>
          <p:nvPr/>
        </p:nvGrpSpPr>
        <p:grpSpPr>
          <a:xfrm>
            <a:off x="666733" y="2377165"/>
            <a:ext cx="10858228" cy="2771775"/>
            <a:chOff x="666733" y="4486275"/>
            <a:chExt cx="10858228" cy="2771775"/>
          </a:xfrm>
        </p:grpSpPr>
        <p:sp>
          <p:nvSpPr>
            <p:cNvPr id="26" name="Rounded Rectangle 25"/>
            <p:cNvSpPr/>
            <p:nvPr/>
          </p:nvSpPr>
          <p:spPr>
            <a:xfrm>
              <a:off x="666733" y="4486275"/>
              <a:ext cx="10858228" cy="2771775"/>
            </a:xfrm>
            <a:prstGeom prst="roundRect">
              <a:avLst>
                <a:gd name="adj" fmla="val 824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Rounded Rectangle 26"/>
            <p:cNvSpPr/>
            <p:nvPr/>
          </p:nvSpPr>
          <p:spPr>
            <a:xfrm>
              <a:off x="904852" y="4724399"/>
              <a:ext cx="571485" cy="57150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28" name="Picture 27" descr="image.png"/>
            <p:cNvPicPr>
              <a:picLocks noChangeAspect="1"/>
            </p:cNvPicPr>
            <p:nvPr/>
          </p:nvPicPr>
          <p:blipFill>
            <a:blip r:embed="rId1"/>
            <a:stretch>
              <a:fillRect/>
            </a:stretch>
          </p:blipFill>
          <p:spPr>
            <a:xfrm>
              <a:off x="1047723" y="4908096"/>
              <a:ext cx="285742" cy="204107"/>
            </a:xfrm>
            <a:prstGeom prst="rect">
              <a:avLst/>
            </a:prstGeom>
          </p:spPr>
        </p:pic>
        <p:sp>
          <p:nvSpPr>
            <p:cNvPr id="29" name="TextBox 28"/>
            <p:cNvSpPr txBox="1"/>
            <p:nvPr/>
          </p:nvSpPr>
          <p:spPr>
            <a:xfrm>
              <a:off x="1666833" y="4734545"/>
              <a:ext cx="5440400" cy="541687"/>
            </a:xfrm>
            <a:prstGeom prst="rect">
              <a:avLst/>
            </a:prstGeom>
            <a:noFill/>
          </p:spPr>
          <p:txBody>
            <a:bodyPr wrap="none" lIns="73152" tIns="54864" rIns="73152" bIns="54864" anchor="ctr">
              <a:spAutoFit/>
            </a:bodyPr>
            <a:lstStyle/>
            <a:p>
              <a:pPr algn="l">
                <a:spcBef>
                  <a:spcPts val="0"/>
                </a:spcBef>
                <a:spcAft>
                  <a:spcPts val="0"/>
                </a:spcAft>
              </a:pPr>
              <a:r>
                <a:rPr sz="2800" b="1">
                  <a:solidFill>
                    <a:srgbClr val="00897B"/>
                  </a:solidFill>
                </a:rPr>
                <a:t>Deployment Requirements (Online)</a:t>
              </a:r>
              <a:endParaRPr sz="2800" b="1">
                <a:solidFill>
                  <a:srgbClr val="00897B"/>
                </a:solidFill>
              </a:endParaRPr>
            </a:p>
          </p:txBody>
        </p:sp>
        <p:sp>
          <p:nvSpPr>
            <p:cNvPr id="30" name="Rounded Rectangle 29"/>
            <p:cNvSpPr/>
            <p:nvPr/>
          </p:nvSpPr>
          <p:spPr>
            <a:xfrm>
              <a:off x="904852" y="5486400"/>
              <a:ext cx="3362240" cy="1533525"/>
            </a:xfrm>
            <a:prstGeom prst="roundRect">
              <a:avLst>
                <a:gd name="adj" fmla="val 9937"/>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Rounded Rectangle 30"/>
            <p:cNvSpPr/>
            <p:nvPr/>
          </p:nvSpPr>
          <p:spPr>
            <a:xfrm>
              <a:off x="2352616" y="5629275"/>
              <a:ext cx="476238" cy="476249"/>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32" name="Picture 31" descr="image.png"/>
            <p:cNvPicPr>
              <a:picLocks noChangeAspect="1"/>
            </p:cNvPicPr>
            <p:nvPr/>
          </p:nvPicPr>
          <p:blipFill>
            <a:blip r:embed="rId2"/>
            <a:stretch>
              <a:fillRect/>
            </a:stretch>
          </p:blipFill>
          <p:spPr>
            <a:xfrm>
              <a:off x="2466913" y="5769491"/>
              <a:ext cx="247643" cy="195816"/>
            </a:xfrm>
            <a:prstGeom prst="rect">
              <a:avLst/>
            </a:prstGeom>
          </p:spPr>
        </p:pic>
        <p:sp>
          <p:nvSpPr>
            <p:cNvPr id="33" name="TextBox 32"/>
            <p:cNvSpPr txBox="1"/>
            <p:nvPr/>
          </p:nvSpPr>
          <p:spPr>
            <a:xfrm>
              <a:off x="1533023" y="6116415"/>
              <a:ext cx="2105898" cy="387798"/>
            </a:xfrm>
            <a:prstGeom prst="rect">
              <a:avLst/>
            </a:prstGeom>
            <a:noFill/>
          </p:spPr>
          <p:txBody>
            <a:bodyPr wrap="none" lIns="73152" tIns="54864" rIns="73152" bIns="54864" anchor="ctr">
              <a:spAutoFit/>
            </a:bodyPr>
            <a:lstStyle/>
            <a:p>
              <a:pPr algn="ctr">
                <a:spcBef>
                  <a:spcPts val="0"/>
                </a:spcBef>
                <a:spcAft>
                  <a:spcPts val="520"/>
                </a:spcAft>
              </a:pPr>
              <a:r>
                <a:rPr b="1" dirty="0">
                  <a:solidFill>
                    <a:srgbClr val="00897B"/>
                  </a:solidFill>
                </a:rPr>
                <a:t>Web Hosting Service</a:t>
              </a:r>
              <a:endParaRPr b="1" dirty="0">
                <a:solidFill>
                  <a:srgbClr val="00897B"/>
                </a:solidFill>
              </a:endParaRPr>
            </a:p>
          </p:txBody>
        </p:sp>
        <p:sp>
          <p:nvSpPr>
            <p:cNvPr id="34" name="TextBox 33"/>
            <p:cNvSpPr txBox="1"/>
            <p:nvPr/>
          </p:nvSpPr>
          <p:spPr>
            <a:xfrm>
              <a:off x="1047723" y="6523428"/>
              <a:ext cx="3076498" cy="326243"/>
            </a:xfrm>
            <a:prstGeom prst="rect">
              <a:avLst/>
            </a:prstGeom>
            <a:noFill/>
          </p:spPr>
          <p:txBody>
            <a:bodyPr wrap="square" lIns="73152" tIns="54864" rIns="73152" bIns="54864" anchor="ctr">
              <a:spAutoFit/>
            </a:bodyPr>
            <a:lstStyle/>
            <a:p>
              <a:pPr algn="ctr">
                <a:spcBef>
                  <a:spcPts val="0"/>
                </a:spcBef>
                <a:spcAft>
                  <a:spcPts val="0"/>
                </a:spcAft>
              </a:pPr>
              <a:r>
                <a:rPr lang="en-US" sz="1400" b="0" dirty="0" err="1">
                  <a:solidFill>
                    <a:srgbClr val="555555"/>
                  </a:solidFill>
                </a:rPr>
                <a:t>Vercel</a:t>
              </a:r>
              <a:endParaRPr sz="1400" b="0" dirty="0">
                <a:solidFill>
                  <a:srgbClr val="555555"/>
                </a:solidFill>
              </a:endParaRPr>
            </a:p>
          </p:txBody>
        </p:sp>
        <p:sp>
          <p:nvSpPr>
            <p:cNvPr id="35" name="Rounded Rectangle 34"/>
            <p:cNvSpPr/>
            <p:nvPr/>
          </p:nvSpPr>
          <p:spPr>
            <a:xfrm>
              <a:off x="4409964" y="5486400"/>
              <a:ext cx="3362240" cy="1533525"/>
            </a:xfrm>
            <a:prstGeom prst="roundRect">
              <a:avLst>
                <a:gd name="adj" fmla="val 9937"/>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6" name="Rounded Rectangle 35"/>
            <p:cNvSpPr/>
            <p:nvPr/>
          </p:nvSpPr>
          <p:spPr>
            <a:xfrm>
              <a:off x="5857728" y="5629275"/>
              <a:ext cx="476238" cy="476249"/>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37" name="Picture 36" descr="image.png"/>
            <p:cNvPicPr>
              <a:picLocks noChangeAspect="1"/>
            </p:cNvPicPr>
            <p:nvPr/>
          </p:nvPicPr>
          <p:blipFill>
            <a:blip r:embed="rId3"/>
            <a:stretch>
              <a:fillRect/>
            </a:stretch>
          </p:blipFill>
          <p:spPr>
            <a:xfrm>
              <a:off x="5972025" y="5778130"/>
              <a:ext cx="247643" cy="178538"/>
            </a:xfrm>
            <a:prstGeom prst="rect">
              <a:avLst/>
            </a:prstGeom>
          </p:spPr>
        </p:pic>
        <p:sp>
          <p:nvSpPr>
            <p:cNvPr id="38" name="TextBox 37"/>
            <p:cNvSpPr txBox="1"/>
            <p:nvPr/>
          </p:nvSpPr>
          <p:spPr>
            <a:xfrm>
              <a:off x="5242729" y="6116415"/>
              <a:ext cx="1706237" cy="387798"/>
            </a:xfrm>
            <a:prstGeom prst="rect">
              <a:avLst/>
            </a:prstGeom>
            <a:noFill/>
          </p:spPr>
          <p:txBody>
            <a:bodyPr wrap="none" lIns="73152" tIns="54864" rIns="73152" bIns="54864" anchor="ctr">
              <a:spAutoFit/>
            </a:bodyPr>
            <a:lstStyle/>
            <a:p>
              <a:pPr algn="ctr">
                <a:spcBef>
                  <a:spcPts val="0"/>
                </a:spcBef>
                <a:spcAft>
                  <a:spcPts val="520"/>
                </a:spcAft>
              </a:pPr>
              <a:r>
                <a:rPr b="1">
                  <a:solidFill>
                    <a:srgbClr val="00897B"/>
                  </a:solidFill>
                </a:rPr>
                <a:t>Database Server</a:t>
              </a:r>
              <a:endParaRPr b="1">
                <a:solidFill>
                  <a:srgbClr val="00897B"/>
                </a:solidFill>
              </a:endParaRPr>
            </a:p>
          </p:txBody>
        </p:sp>
        <p:sp>
          <p:nvSpPr>
            <p:cNvPr id="39" name="TextBox 38"/>
            <p:cNvSpPr txBox="1"/>
            <p:nvPr/>
          </p:nvSpPr>
          <p:spPr>
            <a:xfrm>
              <a:off x="4705418" y="6428179"/>
              <a:ext cx="2771336" cy="326243"/>
            </a:xfrm>
            <a:prstGeom prst="rect">
              <a:avLst/>
            </a:prstGeom>
            <a:noFill/>
          </p:spPr>
          <p:txBody>
            <a:bodyPr wrap="none" lIns="73152" tIns="54864" rIns="73152" bIns="54864" anchor="ctr">
              <a:spAutoFit/>
            </a:bodyPr>
            <a:lstStyle/>
            <a:p>
              <a:pPr algn="ctr">
                <a:spcBef>
                  <a:spcPts val="0"/>
                </a:spcBef>
                <a:spcAft>
                  <a:spcPts val="0"/>
                </a:spcAft>
              </a:pPr>
              <a:r>
                <a:rPr lang="en-US" sz="1400" b="0" dirty="0">
                  <a:solidFill>
                    <a:srgbClr val="555555"/>
                  </a:solidFill>
                </a:rPr>
                <a:t>SQLite </a:t>
              </a:r>
              <a:r>
                <a:rPr sz="1400" b="0" dirty="0">
                  <a:solidFill>
                    <a:srgbClr val="555555"/>
                  </a:solidFill>
                </a:rPr>
                <a:t>or PostgreSQL for production</a:t>
              </a:r>
              <a:endParaRPr sz="1400" b="0" dirty="0">
                <a:solidFill>
                  <a:srgbClr val="555555"/>
                </a:solidFill>
              </a:endParaRPr>
            </a:p>
          </p:txBody>
        </p:sp>
        <p:sp>
          <p:nvSpPr>
            <p:cNvPr id="40" name="Rounded Rectangle 39"/>
            <p:cNvSpPr/>
            <p:nvPr/>
          </p:nvSpPr>
          <p:spPr>
            <a:xfrm>
              <a:off x="7924601" y="5486400"/>
              <a:ext cx="3362240" cy="1533525"/>
            </a:xfrm>
            <a:prstGeom prst="roundRect">
              <a:avLst>
                <a:gd name="adj" fmla="val 9937"/>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Rounded Rectangle 40"/>
            <p:cNvSpPr/>
            <p:nvPr/>
          </p:nvSpPr>
          <p:spPr>
            <a:xfrm>
              <a:off x="9362840" y="5629275"/>
              <a:ext cx="476238" cy="476249"/>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42" name="Picture 41" descr="image.png"/>
            <p:cNvPicPr>
              <a:picLocks noChangeAspect="1"/>
            </p:cNvPicPr>
            <p:nvPr/>
          </p:nvPicPr>
          <p:blipFill>
            <a:blip r:embed="rId4"/>
            <a:stretch>
              <a:fillRect/>
            </a:stretch>
          </p:blipFill>
          <p:spPr>
            <a:xfrm>
              <a:off x="9477138" y="5769491"/>
              <a:ext cx="247643" cy="195816"/>
            </a:xfrm>
            <a:prstGeom prst="rect">
              <a:avLst/>
            </a:prstGeom>
          </p:spPr>
        </p:pic>
        <p:sp>
          <p:nvSpPr>
            <p:cNvPr id="43" name="TextBox 42"/>
            <p:cNvSpPr txBox="1"/>
            <p:nvPr/>
          </p:nvSpPr>
          <p:spPr>
            <a:xfrm>
              <a:off x="8746159" y="6116415"/>
              <a:ext cx="1719125" cy="387798"/>
            </a:xfrm>
            <a:prstGeom prst="rect">
              <a:avLst/>
            </a:prstGeom>
            <a:noFill/>
          </p:spPr>
          <p:txBody>
            <a:bodyPr wrap="none" lIns="73152" tIns="54864" rIns="73152" bIns="54864" anchor="ctr">
              <a:spAutoFit/>
            </a:bodyPr>
            <a:lstStyle/>
            <a:p>
              <a:pPr algn="ctr">
                <a:spcBef>
                  <a:spcPts val="0"/>
                </a:spcBef>
                <a:spcAft>
                  <a:spcPts val="520"/>
                </a:spcAft>
              </a:pPr>
              <a:r>
                <a:rPr b="1">
                  <a:solidFill>
                    <a:srgbClr val="00897B"/>
                  </a:solidFill>
                </a:rPr>
                <a:t>Map Tile Service</a:t>
              </a:r>
              <a:endParaRPr b="1">
                <a:solidFill>
                  <a:srgbClr val="00897B"/>
                </a:solidFill>
              </a:endParaRPr>
            </a:p>
          </p:txBody>
        </p:sp>
        <p:sp>
          <p:nvSpPr>
            <p:cNvPr id="44" name="TextBox 43"/>
            <p:cNvSpPr txBox="1"/>
            <p:nvPr/>
          </p:nvSpPr>
          <p:spPr>
            <a:xfrm>
              <a:off x="8131254" y="6353729"/>
              <a:ext cx="2939410" cy="541687"/>
            </a:xfrm>
            <a:prstGeom prst="rect">
              <a:avLst/>
            </a:prstGeom>
            <a:noFill/>
          </p:spPr>
          <p:txBody>
            <a:bodyPr wrap="square" lIns="73152" tIns="54864" rIns="73152" bIns="54864" anchor="ctr">
              <a:spAutoFit/>
            </a:bodyPr>
            <a:lstStyle/>
            <a:p>
              <a:pPr algn="ctr">
                <a:spcBef>
                  <a:spcPts val="0"/>
                </a:spcBef>
                <a:spcAft>
                  <a:spcPts val="0"/>
                </a:spcAft>
              </a:pPr>
              <a:r>
                <a:rPr sz="1400" b="0" dirty="0">
                  <a:solidFill>
                    <a:srgbClr val="555555"/>
                  </a:solidFill>
                </a:rPr>
                <a:t>OpenStreetMap or </a:t>
              </a:r>
              <a:r>
                <a:rPr sz="1400" b="0" dirty="0" err="1">
                  <a:solidFill>
                    <a:srgbClr val="555555"/>
                  </a:solidFill>
                </a:rPr>
                <a:t>CartoDB</a:t>
              </a:r>
              <a:r>
                <a:rPr sz="1400" b="0" dirty="0">
                  <a:solidFill>
                    <a:srgbClr val="555555"/>
                  </a:solidFill>
                </a:rPr>
                <a:t> via Leaflet</a:t>
              </a:r>
              <a:r>
                <a:rPr lang="en-US" sz="1400" b="0" dirty="0">
                  <a:solidFill>
                    <a:srgbClr val="555555"/>
                  </a:solidFill>
                </a:rPr>
                <a:t> or </a:t>
              </a:r>
              <a:r>
                <a:rPr lang="en-US" sz="1400" b="0" dirty="0" err="1">
                  <a:solidFill>
                    <a:srgbClr val="555555"/>
                  </a:solidFill>
                </a:rPr>
                <a:t>mapbox</a:t>
              </a:r>
              <a:endParaRPr sz="1400" b="0" dirty="0">
                <a:solidFill>
                  <a:srgbClr val="555555"/>
                </a:solidFill>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6733" y="255948"/>
            <a:ext cx="10072822" cy="726353"/>
          </a:xfrm>
          <a:prstGeom prst="rect">
            <a:avLst/>
          </a:prstGeom>
          <a:noFill/>
        </p:spPr>
        <p:txBody>
          <a:bodyPr wrap="none" lIns="73152" tIns="54864" rIns="73152" bIns="54864" anchor="ctr">
            <a:spAutoFit/>
          </a:bodyPr>
          <a:lstStyle/>
          <a:p>
            <a:pPr algn="l">
              <a:spcBef>
                <a:spcPts val="0"/>
              </a:spcBef>
              <a:spcAft>
                <a:spcPts val="650"/>
              </a:spcAft>
            </a:pPr>
            <a:r>
              <a:rPr sz="4000" b="1" dirty="0">
                <a:solidFill>
                  <a:srgbClr val="FFFFFF"/>
                </a:solidFill>
              </a:rPr>
              <a:t>Hardware, Software and Service Requirements</a:t>
            </a:r>
            <a:endParaRPr sz="4000" b="1" dirty="0">
              <a:solidFill>
                <a:srgbClr val="FFFFFF"/>
              </a:solidFill>
            </a:endParaRPr>
          </a:p>
        </p:txBody>
      </p:sp>
      <p:grpSp>
        <p:nvGrpSpPr>
          <p:cNvPr id="64" name="Group 63"/>
          <p:cNvGrpSpPr/>
          <p:nvPr/>
        </p:nvGrpSpPr>
        <p:grpSpPr>
          <a:xfrm>
            <a:off x="666733" y="2244808"/>
            <a:ext cx="10858228" cy="2771775"/>
            <a:chOff x="666733" y="7448549"/>
            <a:chExt cx="10858228" cy="2771775"/>
          </a:xfrm>
        </p:grpSpPr>
        <p:sp>
          <p:nvSpPr>
            <p:cNvPr id="45" name="Rounded Rectangle 44"/>
            <p:cNvSpPr/>
            <p:nvPr/>
          </p:nvSpPr>
          <p:spPr>
            <a:xfrm>
              <a:off x="666733" y="7448549"/>
              <a:ext cx="10858228" cy="2771775"/>
            </a:xfrm>
            <a:prstGeom prst="roundRect">
              <a:avLst>
                <a:gd name="adj" fmla="val 824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46" name="Rounded Rectangle 45"/>
            <p:cNvSpPr/>
            <p:nvPr/>
          </p:nvSpPr>
          <p:spPr>
            <a:xfrm>
              <a:off x="904852" y="7686675"/>
              <a:ext cx="571485" cy="571500"/>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pic>
          <p:nvPicPr>
            <p:cNvPr id="47" name="Picture 46" descr="image.png"/>
            <p:cNvPicPr>
              <a:picLocks noChangeAspect="1"/>
            </p:cNvPicPr>
            <p:nvPr/>
          </p:nvPicPr>
          <p:blipFill>
            <a:blip r:embed="rId1"/>
            <a:stretch>
              <a:fillRect/>
            </a:stretch>
          </p:blipFill>
          <p:spPr>
            <a:xfrm>
              <a:off x="1047723" y="7882034"/>
              <a:ext cx="285742" cy="180780"/>
            </a:xfrm>
            <a:prstGeom prst="rect">
              <a:avLst/>
            </a:prstGeom>
          </p:spPr>
        </p:pic>
        <p:sp>
          <p:nvSpPr>
            <p:cNvPr id="48" name="TextBox 47"/>
            <p:cNvSpPr txBox="1"/>
            <p:nvPr/>
          </p:nvSpPr>
          <p:spPr>
            <a:xfrm>
              <a:off x="1666833" y="7675568"/>
              <a:ext cx="4624920" cy="603242"/>
            </a:xfrm>
            <a:prstGeom prst="rect">
              <a:avLst/>
            </a:prstGeom>
            <a:noFill/>
          </p:spPr>
          <p:txBody>
            <a:bodyPr wrap="none" lIns="73152" tIns="54864" rIns="73152" bIns="54864" anchor="ctr">
              <a:spAutoFit/>
            </a:bodyPr>
            <a:lstStyle/>
            <a:p>
              <a:pPr algn="l">
                <a:spcBef>
                  <a:spcPts val="0"/>
                </a:spcBef>
                <a:spcAft>
                  <a:spcPts val="0"/>
                </a:spcAft>
              </a:pPr>
              <a:r>
                <a:rPr sz="3200" b="1">
                  <a:solidFill>
                    <a:srgbClr val="00897B"/>
                  </a:solidFill>
                </a:rPr>
                <a:t>User Access Requirements</a:t>
              </a:r>
              <a:endParaRPr sz="3200" b="1">
                <a:solidFill>
                  <a:srgbClr val="00897B"/>
                </a:solidFill>
              </a:endParaRPr>
            </a:p>
          </p:txBody>
        </p:sp>
        <p:sp>
          <p:nvSpPr>
            <p:cNvPr id="49" name="Rounded Rectangle 48"/>
            <p:cNvSpPr/>
            <p:nvPr/>
          </p:nvSpPr>
          <p:spPr>
            <a:xfrm>
              <a:off x="904852" y="8448674"/>
              <a:ext cx="3362240" cy="1533525"/>
            </a:xfrm>
            <a:prstGeom prst="roundRect">
              <a:avLst>
                <a:gd name="adj" fmla="val 9937"/>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50" name="Rounded Rectangle 49"/>
            <p:cNvSpPr/>
            <p:nvPr/>
          </p:nvSpPr>
          <p:spPr>
            <a:xfrm>
              <a:off x="2352616" y="8591549"/>
              <a:ext cx="476238" cy="476249"/>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pic>
          <p:nvPicPr>
            <p:cNvPr id="51" name="Picture 50" descr="image.png"/>
            <p:cNvPicPr>
              <a:picLocks noChangeAspect="1"/>
            </p:cNvPicPr>
            <p:nvPr/>
          </p:nvPicPr>
          <p:blipFill>
            <a:blip r:embed="rId2"/>
            <a:stretch>
              <a:fillRect/>
            </a:stretch>
          </p:blipFill>
          <p:spPr>
            <a:xfrm>
              <a:off x="2466913" y="8740405"/>
              <a:ext cx="247643" cy="178538"/>
            </a:xfrm>
            <a:prstGeom prst="rect">
              <a:avLst/>
            </a:prstGeom>
          </p:spPr>
        </p:pic>
        <p:sp>
          <p:nvSpPr>
            <p:cNvPr id="52" name="TextBox 51"/>
            <p:cNvSpPr txBox="1"/>
            <p:nvPr/>
          </p:nvSpPr>
          <p:spPr>
            <a:xfrm>
              <a:off x="1824596" y="9063300"/>
              <a:ext cx="1532279" cy="418576"/>
            </a:xfrm>
            <a:prstGeom prst="rect">
              <a:avLst/>
            </a:prstGeom>
            <a:noFill/>
          </p:spPr>
          <p:txBody>
            <a:bodyPr wrap="none" lIns="73152" tIns="54864" rIns="73152" bIns="54864" anchor="ctr">
              <a:spAutoFit/>
            </a:bodyPr>
            <a:lstStyle/>
            <a:p>
              <a:pPr algn="ctr">
                <a:spcBef>
                  <a:spcPts val="0"/>
                </a:spcBef>
                <a:spcAft>
                  <a:spcPts val="520"/>
                </a:spcAft>
              </a:pPr>
              <a:r>
                <a:rPr sz="2000" b="1">
                  <a:solidFill>
                    <a:srgbClr val="00897B"/>
                  </a:solidFill>
                </a:rPr>
                <a:t>Client Device</a:t>
              </a:r>
              <a:endParaRPr sz="2000" b="1">
                <a:solidFill>
                  <a:srgbClr val="00897B"/>
                </a:solidFill>
              </a:endParaRPr>
            </a:p>
          </p:txBody>
        </p:sp>
        <p:sp>
          <p:nvSpPr>
            <p:cNvPr id="53" name="TextBox 52"/>
            <p:cNvSpPr txBox="1"/>
            <p:nvPr/>
          </p:nvSpPr>
          <p:spPr>
            <a:xfrm>
              <a:off x="1047723" y="9347204"/>
              <a:ext cx="3076498" cy="603242"/>
            </a:xfrm>
            <a:prstGeom prst="rect">
              <a:avLst/>
            </a:prstGeom>
            <a:noFill/>
          </p:spPr>
          <p:txBody>
            <a:bodyPr wrap="square" lIns="73152" tIns="54864" rIns="73152" bIns="54864" anchor="ctr">
              <a:spAutoFit/>
            </a:bodyPr>
            <a:lstStyle/>
            <a:p>
              <a:pPr algn="ctr">
                <a:spcBef>
                  <a:spcPts val="0"/>
                </a:spcBef>
                <a:spcAft>
                  <a:spcPts val="0"/>
                </a:spcAft>
              </a:pPr>
              <a:r>
                <a:rPr sz="1600" b="0">
                  <a:solidFill>
                    <a:srgbClr val="555555"/>
                  </a:solidFill>
                </a:rPr>
                <a:t>Smartphone, Tablet, Laptop, or Desktop Computer</a:t>
              </a:r>
              <a:endParaRPr sz="1600" b="0">
                <a:solidFill>
                  <a:srgbClr val="555555"/>
                </a:solidFill>
              </a:endParaRPr>
            </a:p>
          </p:txBody>
        </p:sp>
        <p:sp>
          <p:nvSpPr>
            <p:cNvPr id="54" name="Rounded Rectangle 53"/>
            <p:cNvSpPr/>
            <p:nvPr/>
          </p:nvSpPr>
          <p:spPr>
            <a:xfrm>
              <a:off x="4409964" y="8448674"/>
              <a:ext cx="3362240" cy="1533525"/>
            </a:xfrm>
            <a:prstGeom prst="roundRect">
              <a:avLst>
                <a:gd name="adj" fmla="val 9937"/>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55" name="Rounded Rectangle 54"/>
            <p:cNvSpPr/>
            <p:nvPr/>
          </p:nvSpPr>
          <p:spPr>
            <a:xfrm>
              <a:off x="5857728" y="8591549"/>
              <a:ext cx="476238" cy="476249"/>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pic>
          <p:nvPicPr>
            <p:cNvPr id="56" name="Picture 55" descr="image.png"/>
            <p:cNvPicPr>
              <a:picLocks noChangeAspect="1"/>
            </p:cNvPicPr>
            <p:nvPr/>
          </p:nvPicPr>
          <p:blipFill>
            <a:blip r:embed="rId3"/>
            <a:stretch>
              <a:fillRect/>
            </a:stretch>
          </p:blipFill>
          <p:spPr>
            <a:xfrm>
              <a:off x="5972025" y="8723127"/>
              <a:ext cx="247643" cy="213094"/>
            </a:xfrm>
            <a:prstGeom prst="rect">
              <a:avLst/>
            </a:prstGeom>
          </p:spPr>
        </p:pic>
        <p:sp>
          <p:nvSpPr>
            <p:cNvPr id="57" name="TextBox 56"/>
            <p:cNvSpPr txBox="1"/>
            <p:nvPr/>
          </p:nvSpPr>
          <p:spPr>
            <a:xfrm>
              <a:off x="5301477" y="9063300"/>
              <a:ext cx="1579215" cy="418576"/>
            </a:xfrm>
            <a:prstGeom prst="rect">
              <a:avLst/>
            </a:prstGeom>
            <a:noFill/>
          </p:spPr>
          <p:txBody>
            <a:bodyPr wrap="none" lIns="73152" tIns="54864" rIns="73152" bIns="54864" anchor="ctr">
              <a:spAutoFit/>
            </a:bodyPr>
            <a:lstStyle/>
            <a:p>
              <a:pPr algn="ctr">
                <a:spcBef>
                  <a:spcPts val="0"/>
                </a:spcBef>
                <a:spcAft>
                  <a:spcPts val="520"/>
                </a:spcAft>
              </a:pPr>
              <a:r>
                <a:rPr sz="2000" b="1">
                  <a:solidFill>
                    <a:srgbClr val="00897B"/>
                  </a:solidFill>
                </a:rPr>
                <a:t>Web Browser</a:t>
              </a:r>
              <a:endParaRPr sz="2000" b="1">
                <a:solidFill>
                  <a:srgbClr val="00897B"/>
                </a:solidFill>
              </a:endParaRPr>
            </a:p>
          </p:txBody>
        </p:sp>
        <p:sp>
          <p:nvSpPr>
            <p:cNvPr id="58" name="TextBox 57"/>
            <p:cNvSpPr txBox="1"/>
            <p:nvPr/>
          </p:nvSpPr>
          <p:spPr>
            <a:xfrm>
              <a:off x="4720552" y="9375066"/>
              <a:ext cx="2760116" cy="357021"/>
            </a:xfrm>
            <a:prstGeom prst="rect">
              <a:avLst/>
            </a:prstGeom>
            <a:noFill/>
          </p:spPr>
          <p:txBody>
            <a:bodyPr wrap="none" lIns="73152" tIns="54864" rIns="73152" bIns="54864" anchor="ctr">
              <a:spAutoFit/>
            </a:bodyPr>
            <a:lstStyle/>
            <a:p>
              <a:pPr algn="ctr">
                <a:spcBef>
                  <a:spcPts val="0"/>
                </a:spcBef>
                <a:spcAft>
                  <a:spcPts val="0"/>
                </a:spcAft>
              </a:pPr>
              <a:r>
                <a:rPr sz="1600" b="0">
                  <a:solidFill>
                    <a:srgbClr val="555555"/>
                  </a:solidFill>
                </a:rPr>
                <a:t>Chrome, Firefox, Safari, or Edge</a:t>
              </a:r>
              <a:endParaRPr sz="1600" b="0">
                <a:solidFill>
                  <a:srgbClr val="555555"/>
                </a:solidFill>
              </a:endParaRPr>
            </a:p>
          </p:txBody>
        </p:sp>
        <p:sp>
          <p:nvSpPr>
            <p:cNvPr id="59" name="Rounded Rectangle 58"/>
            <p:cNvSpPr/>
            <p:nvPr/>
          </p:nvSpPr>
          <p:spPr>
            <a:xfrm>
              <a:off x="7924601" y="8448674"/>
              <a:ext cx="3362240" cy="1533525"/>
            </a:xfrm>
            <a:prstGeom prst="roundRect">
              <a:avLst>
                <a:gd name="adj" fmla="val 9937"/>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60" name="Rounded Rectangle 59"/>
            <p:cNvSpPr/>
            <p:nvPr/>
          </p:nvSpPr>
          <p:spPr>
            <a:xfrm>
              <a:off x="9362840" y="8591549"/>
              <a:ext cx="476238" cy="476249"/>
            </a:xfrm>
            <a:prstGeom prst="roundRect">
              <a:avLst>
                <a:gd name="adj" fmla="val 5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pic>
          <p:nvPicPr>
            <p:cNvPr id="61" name="Picture 60" descr="image.png"/>
            <p:cNvPicPr>
              <a:picLocks noChangeAspect="1"/>
            </p:cNvPicPr>
            <p:nvPr/>
          </p:nvPicPr>
          <p:blipFill>
            <a:blip r:embed="rId4"/>
            <a:stretch>
              <a:fillRect/>
            </a:stretch>
          </p:blipFill>
          <p:spPr>
            <a:xfrm>
              <a:off x="9477138" y="8743285"/>
              <a:ext cx="247643" cy="172779"/>
            </a:xfrm>
            <a:prstGeom prst="rect">
              <a:avLst/>
            </a:prstGeom>
          </p:spPr>
        </p:pic>
        <p:sp>
          <p:nvSpPr>
            <p:cNvPr id="62" name="TextBox 61"/>
            <p:cNvSpPr txBox="1"/>
            <p:nvPr/>
          </p:nvSpPr>
          <p:spPr>
            <a:xfrm>
              <a:off x="8861046" y="9063300"/>
              <a:ext cx="1479829" cy="418576"/>
            </a:xfrm>
            <a:prstGeom prst="rect">
              <a:avLst/>
            </a:prstGeom>
            <a:noFill/>
          </p:spPr>
          <p:txBody>
            <a:bodyPr wrap="none" lIns="73152" tIns="54864" rIns="73152" bIns="54864" anchor="ctr">
              <a:spAutoFit/>
            </a:bodyPr>
            <a:lstStyle/>
            <a:p>
              <a:pPr algn="ctr">
                <a:spcBef>
                  <a:spcPts val="0"/>
                </a:spcBef>
                <a:spcAft>
                  <a:spcPts val="520"/>
                </a:spcAft>
              </a:pPr>
              <a:r>
                <a:rPr sz="2000" b="1">
                  <a:solidFill>
                    <a:srgbClr val="00897B"/>
                  </a:solidFill>
                </a:rPr>
                <a:t>Connectivity</a:t>
              </a:r>
              <a:endParaRPr sz="2000" b="1">
                <a:solidFill>
                  <a:srgbClr val="00897B"/>
                </a:solidFill>
              </a:endParaRPr>
            </a:p>
          </p:txBody>
        </p:sp>
        <p:sp>
          <p:nvSpPr>
            <p:cNvPr id="63" name="TextBox 62"/>
            <p:cNvSpPr txBox="1"/>
            <p:nvPr/>
          </p:nvSpPr>
          <p:spPr>
            <a:xfrm>
              <a:off x="8067473" y="9347204"/>
              <a:ext cx="3076498" cy="603242"/>
            </a:xfrm>
            <a:prstGeom prst="rect">
              <a:avLst/>
            </a:prstGeom>
            <a:noFill/>
          </p:spPr>
          <p:txBody>
            <a:bodyPr wrap="square" lIns="73152" tIns="54864" rIns="73152" bIns="54864" anchor="ctr">
              <a:spAutoFit/>
            </a:bodyPr>
            <a:lstStyle/>
            <a:p>
              <a:pPr algn="ctr">
                <a:spcBef>
                  <a:spcPts val="0"/>
                </a:spcBef>
                <a:spcAft>
                  <a:spcPts val="0"/>
                </a:spcAft>
              </a:pPr>
              <a:r>
                <a:rPr sz="1600" b="0">
                  <a:solidFill>
                    <a:srgbClr val="555555"/>
                  </a:solidFill>
                </a:rPr>
                <a:t>Stable Internet Connection or Mobile Data Service</a:t>
              </a:r>
              <a:endParaRPr sz="1600" b="0">
                <a:solidFill>
                  <a:srgbClr val="555555"/>
                </a:solidFill>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 name="TextBox 2"/>
          <p:cNvSpPr txBox="1"/>
          <p:nvPr/>
        </p:nvSpPr>
        <p:spPr>
          <a:xfrm>
            <a:off x="666733" y="255948"/>
            <a:ext cx="3021596" cy="726353"/>
          </a:xfrm>
          <a:prstGeom prst="rect">
            <a:avLst/>
          </a:prstGeom>
          <a:noFill/>
        </p:spPr>
        <p:txBody>
          <a:bodyPr wrap="none" lIns="73152" tIns="54864" rIns="73152" bIns="54864" anchor="ctr">
            <a:spAutoFit/>
          </a:bodyPr>
          <a:lstStyle/>
          <a:p>
            <a:pPr algn="l">
              <a:spcBef>
                <a:spcPts val="0"/>
              </a:spcBef>
              <a:spcAft>
                <a:spcPts val="650"/>
              </a:spcAft>
            </a:pPr>
            <a:r>
              <a:rPr sz="4000" b="1">
                <a:solidFill>
                  <a:srgbClr val="FFFFFF"/>
                </a:solidFill>
              </a:rPr>
              <a:t>Methodology</a:t>
            </a:r>
            <a:endParaRPr sz="4000" b="1">
              <a:solidFill>
                <a:srgbClr val="FFFFFF"/>
              </a:solidFill>
            </a:endParaRPr>
          </a:p>
        </p:txBody>
      </p:sp>
      <p:grpSp>
        <p:nvGrpSpPr>
          <p:cNvPr id="46" name="Group 45"/>
          <p:cNvGrpSpPr/>
          <p:nvPr/>
        </p:nvGrpSpPr>
        <p:grpSpPr>
          <a:xfrm>
            <a:off x="6504412" y="2950475"/>
            <a:ext cx="5472279" cy="2323177"/>
            <a:chOff x="666733" y="7600950"/>
            <a:chExt cx="5686282" cy="1981199"/>
          </a:xfrm>
        </p:grpSpPr>
        <p:sp>
          <p:nvSpPr>
            <p:cNvPr id="27" name="Rounded Rectangle 26"/>
            <p:cNvSpPr/>
            <p:nvPr/>
          </p:nvSpPr>
          <p:spPr>
            <a:xfrm>
              <a:off x="666733" y="7600950"/>
              <a:ext cx="5686282" cy="1981199"/>
            </a:xfrm>
            <a:prstGeom prst="roundRect">
              <a:avLst>
                <a:gd name="adj" fmla="val 7692"/>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28" name="Picture 27" descr="image.png"/>
            <p:cNvPicPr>
              <a:picLocks noChangeAspect="1"/>
            </p:cNvPicPr>
            <p:nvPr/>
          </p:nvPicPr>
          <p:blipFill>
            <a:blip r:embed="rId1"/>
            <a:stretch>
              <a:fillRect/>
            </a:stretch>
          </p:blipFill>
          <p:spPr>
            <a:xfrm>
              <a:off x="857228" y="7808595"/>
              <a:ext cx="228594" cy="194309"/>
            </a:xfrm>
            <a:prstGeom prst="rect">
              <a:avLst/>
            </a:prstGeom>
          </p:spPr>
        </p:pic>
        <p:sp>
          <p:nvSpPr>
            <p:cNvPr id="29" name="TextBox 28"/>
            <p:cNvSpPr txBox="1"/>
            <p:nvPr/>
          </p:nvSpPr>
          <p:spPr>
            <a:xfrm>
              <a:off x="1181070" y="7732031"/>
              <a:ext cx="2063192" cy="356960"/>
            </a:xfrm>
            <a:prstGeom prst="rect">
              <a:avLst/>
            </a:prstGeom>
            <a:noFill/>
          </p:spPr>
          <p:txBody>
            <a:bodyPr wrap="none" lIns="73152" tIns="54864" rIns="73152" bIns="54864" anchor="ctr">
              <a:spAutoFit/>
            </a:bodyPr>
            <a:lstStyle/>
            <a:p>
              <a:pPr algn="l">
                <a:spcBef>
                  <a:spcPts val="0"/>
                </a:spcBef>
                <a:spcAft>
                  <a:spcPts val="0"/>
                </a:spcAft>
              </a:pPr>
              <a:r>
                <a:rPr sz="2000" b="1">
                  <a:solidFill>
                    <a:srgbClr val="00897B"/>
                  </a:solidFill>
                </a:rPr>
                <a:t>RAD Key Benefits</a:t>
              </a:r>
              <a:endParaRPr sz="2000" b="1">
                <a:solidFill>
                  <a:srgbClr val="00897B"/>
                </a:solidFill>
              </a:endParaRPr>
            </a:p>
          </p:txBody>
        </p:sp>
        <p:sp>
          <p:nvSpPr>
            <p:cNvPr id="30" name="Rounded Rectangle 29"/>
            <p:cNvSpPr/>
            <p:nvPr/>
          </p:nvSpPr>
          <p:spPr>
            <a:xfrm>
              <a:off x="857228" y="8172450"/>
              <a:ext cx="2016998"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31" name="Picture 30" descr="image.png"/>
            <p:cNvPicPr>
              <a:picLocks noChangeAspect="1"/>
            </p:cNvPicPr>
            <p:nvPr/>
          </p:nvPicPr>
          <p:blipFill>
            <a:blip r:embed="rId2"/>
            <a:stretch>
              <a:fillRect/>
            </a:stretch>
          </p:blipFill>
          <p:spPr>
            <a:xfrm>
              <a:off x="1000099" y="8265241"/>
              <a:ext cx="171445" cy="138266"/>
            </a:xfrm>
            <a:prstGeom prst="rect">
              <a:avLst/>
            </a:prstGeom>
          </p:spPr>
        </p:pic>
        <p:sp>
          <p:nvSpPr>
            <p:cNvPr id="32" name="TextBox 31"/>
            <p:cNvSpPr txBox="1"/>
            <p:nvPr/>
          </p:nvSpPr>
          <p:spPr>
            <a:xfrm>
              <a:off x="1247743" y="8204789"/>
              <a:ext cx="1553624" cy="278219"/>
            </a:xfrm>
            <a:prstGeom prst="rect">
              <a:avLst/>
            </a:prstGeom>
            <a:noFill/>
          </p:spPr>
          <p:txBody>
            <a:bodyPr wrap="square" lIns="73152" tIns="54864" rIns="73152" bIns="54864" anchor="ctr">
              <a:spAutoFit/>
            </a:bodyPr>
            <a:lstStyle/>
            <a:p>
              <a:pPr algn="l">
                <a:spcBef>
                  <a:spcPts val="0"/>
                </a:spcBef>
                <a:spcAft>
                  <a:spcPts val="0"/>
                </a:spcAft>
              </a:pPr>
              <a:r>
                <a:rPr sz="1400" dirty="0">
                  <a:solidFill>
                    <a:srgbClr val="333333"/>
                  </a:solidFill>
                </a:rPr>
                <a:t>Rapid Prototyping</a:t>
              </a:r>
              <a:endParaRPr sz="1400" dirty="0">
                <a:solidFill>
                  <a:srgbClr val="333333"/>
                </a:solidFill>
              </a:endParaRPr>
            </a:p>
          </p:txBody>
        </p:sp>
        <p:sp>
          <p:nvSpPr>
            <p:cNvPr id="33" name="Rounded Rectangle 32"/>
            <p:cNvSpPr/>
            <p:nvPr/>
          </p:nvSpPr>
          <p:spPr>
            <a:xfrm>
              <a:off x="3187132" y="8188918"/>
              <a:ext cx="1963517"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dirty="0"/>
            </a:p>
          </p:txBody>
        </p:sp>
        <p:pic>
          <p:nvPicPr>
            <p:cNvPr id="34" name="Picture 33" descr="image.png"/>
            <p:cNvPicPr>
              <a:picLocks noChangeAspect="1"/>
            </p:cNvPicPr>
            <p:nvPr/>
          </p:nvPicPr>
          <p:blipFill>
            <a:blip r:embed="rId3"/>
            <a:stretch>
              <a:fillRect/>
            </a:stretch>
          </p:blipFill>
          <p:spPr>
            <a:xfrm>
              <a:off x="3286113" y="8280173"/>
              <a:ext cx="171445" cy="160388"/>
            </a:xfrm>
            <a:prstGeom prst="rect">
              <a:avLst/>
            </a:prstGeom>
          </p:spPr>
        </p:pic>
        <p:sp>
          <p:nvSpPr>
            <p:cNvPr id="35" name="TextBox 34"/>
            <p:cNvSpPr txBox="1"/>
            <p:nvPr/>
          </p:nvSpPr>
          <p:spPr>
            <a:xfrm>
              <a:off x="3432022" y="8221257"/>
              <a:ext cx="1573412" cy="278219"/>
            </a:xfrm>
            <a:prstGeom prst="rect">
              <a:avLst/>
            </a:prstGeom>
            <a:noFill/>
          </p:spPr>
          <p:txBody>
            <a:bodyPr wrap="none" lIns="73152" tIns="54864" rIns="73152" bIns="54864" anchor="ctr">
              <a:spAutoFit/>
            </a:bodyPr>
            <a:lstStyle/>
            <a:p>
              <a:pPr algn="l">
                <a:spcBef>
                  <a:spcPts val="0"/>
                </a:spcBef>
                <a:spcAft>
                  <a:spcPts val="0"/>
                </a:spcAft>
              </a:pPr>
              <a:r>
                <a:rPr sz="1400" dirty="0">
                  <a:solidFill>
                    <a:srgbClr val="333333"/>
                  </a:solidFill>
                </a:rPr>
                <a:t>Iterative</a:t>
              </a:r>
              <a:r>
                <a:rPr sz="1400" b="1" dirty="0">
                  <a:solidFill>
                    <a:srgbClr val="333333"/>
                  </a:solidFill>
                </a:rPr>
                <a:t> </a:t>
              </a:r>
              <a:r>
                <a:rPr sz="1400" dirty="0">
                  <a:solidFill>
                    <a:srgbClr val="333333"/>
                  </a:solidFill>
                </a:rPr>
                <a:t>Feedback</a:t>
              </a:r>
              <a:endParaRPr sz="1400" dirty="0">
                <a:solidFill>
                  <a:srgbClr val="333333"/>
                </a:solidFill>
              </a:endParaRPr>
            </a:p>
          </p:txBody>
        </p:sp>
        <p:sp>
          <p:nvSpPr>
            <p:cNvPr id="36" name="Rounded Rectangle 35"/>
            <p:cNvSpPr/>
            <p:nvPr/>
          </p:nvSpPr>
          <p:spPr>
            <a:xfrm>
              <a:off x="857228" y="8610600"/>
              <a:ext cx="2223642"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37" name="Picture 36" descr="image.png"/>
            <p:cNvPicPr>
              <a:picLocks noChangeAspect="1"/>
            </p:cNvPicPr>
            <p:nvPr/>
          </p:nvPicPr>
          <p:blipFill>
            <a:blip r:embed="rId4"/>
            <a:stretch>
              <a:fillRect/>
            </a:stretch>
          </p:blipFill>
          <p:spPr>
            <a:xfrm>
              <a:off x="1000099" y="8717218"/>
              <a:ext cx="171445" cy="110612"/>
            </a:xfrm>
            <a:prstGeom prst="rect">
              <a:avLst/>
            </a:prstGeom>
          </p:spPr>
        </p:pic>
        <p:sp>
          <p:nvSpPr>
            <p:cNvPr id="38" name="TextBox 37"/>
            <p:cNvSpPr txBox="1"/>
            <p:nvPr/>
          </p:nvSpPr>
          <p:spPr>
            <a:xfrm>
              <a:off x="1247743" y="8642940"/>
              <a:ext cx="1833127" cy="278219"/>
            </a:xfrm>
            <a:prstGeom prst="rect">
              <a:avLst/>
            </a:prstGeom>
            <a:noFill/>
          </p:spPr>
          <p:txBody>
            <a:bodyPr wrap="none" lIns="73152" tIns="54864" rIns="73152" bIns="54864" anchor="ctr">
              <a:spAutoFit/>
            </a:bodyPr>
            <a:lstStyle/>
            <a:p>
              <a:pPr algn="l">
                <a:spcBef>
                  <a:spcPts val="0"/>
                </a:spcBef>
                <a:spcAft>
                  <a:spcPts val="0"/>
                </a:spcAft>
              </a:pPr>
              <a:r>
                <a:rPr sz="1400" dirty="0">
                  <a:solidFill>
                    <a:srgbClr val="333333"/>
                  </a:solidFill>
                </a:rPr>
                <a:t>User-Centered</a:t>
              </a:r>
              <a:r>
                <a:rPr sz="1400" b="1" dirty="0">
                  <a:solidFill>
                    <a:srgbClr val="333333"/>
                  </a:solidFill>
                </a:rPr>
                <a:t> </a:t>
              </a:r>
              <a:r>
                <a:rPr sz="1400" dirty="0">
                  <a:solidFill>
                    <a:srgbClr val="333333"/>
                  </a:solidFill>
                </a:rPr>
                <a:t>Design</a:t>
              </a:r>
              <a:endParaRPr sz="1400" dirty="0">
                <a:solidFill>
                  <a:srgbClr val="333333"/>
                </a:solidFill>
              </a:endParaRPr>
            </a:p>
          </p:txBody>
        </p:sp>
        <p:sp>
          <p:nvSpPr>
            <p:cNvPr id="39" name="Rounded Rectangle 38"/>
            <p:cNvSpPr/>
            <p:nvPr/>
          </p:nvSpPr>
          <p:spPr>
            <a:xfrm>
              <a:off x="3158358" y="8614623"/>
              <a:ext cx="2619132"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40" name="Picture 39" descr="image.png"/>
            <p:cNvPicPr>
              <a:picLocks noChangeAspect="1"/>
            </p:cNvPicPr>
            <p:nvPr/>
          </p:nvPicPr>
          <p:blipFill>
            <a:blip r:embed="rId5"/>
            <a:stretch>
              <a:fillRect/>
            </a:stretch>
          </p:blipFill>
          <p:spPr>
            <a:xfrm>
              <a:off x="3277062" y="8709777"/>
              <a:ext cx="171445" cy="149327"/>
            </a:xfrm>
            <a:prstGeom prst="rect">
              <a:avLst/>
            </a:prstGeom>
          </p:spPr>
        </p:pic>
        <p:sp>
          <p:nvSpPr>
            <p:cNvPr id="41" name="TextBox 40"/>
            <p:cNvSpPr txBox="1"/>
            <p:nvPr/>
          </p:nvSpPr>
          <p:spPr>
            <a:xfrm>
              <a:off x="3415526" y="8634490"/>
              <a:ext cx="2331768" cy="278219"/>
            </a:xfrm>
            <a:prstGeom prst="rect">
              <a:avLst/>
            </a:prstGeom>
            <a:noFill/>
          </p:spPr>
          <p:txBody>
            <a:bodyPr wrap="none" lIns="73152" tIns="54864" rIns="73152" bIns="54864" anchor="ctr">
              <a:spAutoFit/>
            </a:bodyPr>
            <a:lstStyle/>
            <a:p>
              <a:pPr algn="l">
                <a:spcBef>
                  <a:spcPts val="0"/>
                </a:spcBef>
                <a:spcAft>
                  <a:spcPts val="0"/>
                </a:spcAft>
              </a:pPr>
              <a:r>
                <a:rPr sz="1400" dirty="0">
                  <a:solidFill>
                    <a:srgbClr val="333333"/>
                  </a:solidFill>
                </a:rPr>
                <a:t>Reduced</a:t>
              </a:r>
              <a:r>
                <a:rPr sz="1400" b="1" dirty="0">
                  <a:solidFill>
                    <a:srgbClr val="333333"/>
                  </a:solidFill>
                </a:rPr>
                <a:t> </a:t>
              </a:r>
              <a:r>
                <a:rPr sz="1400" dirty="0">
                  <a:solidFill>
                    <a:srgbClr val="333333"/>
                  </a:solidFill>
                </a:rPr>
                <a:t>Development</a:t>
              </a:r>
              <a:r>
                <a:rPr sz="1400" b="1" dirty="0">
                  <a:solidFill>
                    <a:srgbClr val="333333"/>
                  </a:solidFill>
                </a:rPr>
                <a:t> </a:t>
              </a:r>
              <a:r>
                <a:rPr sz="1400" dirty="0">
                  <a:solidFill>
                    <a:srgbClr val="333333"/>
                  </a:solidFill>
                </a:rPr>
                <a:t>Time</a:t>
              </a:r>
              <a:endParaRPr sz="1400" dirty="0">
                <a:solidFill>
                  <a:srgbClr val="333333"/>
                </a:solidFill>
              </a:endParaRPr>
            </a:p>
          </p:txBody>
        </p:sp>
        <p:sp>
          <p:nvSpPr>
            <p:cNvPr id="42" name="Rounded Rectangle 41"/>
            <p:cNvSpPr/>
            <p:nvPr/>
          </p:nvSpPr>
          <p:spPr>
            <a:xfrm>
              <a:off x="857228" y="9048749"/>
              <a:ext cx="2261886" cy="342900"/>
            </a:xfrm>
            <a:prstGeom prst="roundRect">
              <a:avLst>
                <a:gd name="adj" fmla="val 3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pic>
          <p:nvPicPr>
            <p:cNvPr id="43" name="Picture 42" descr="image.png"/>
            <p:cNvPicPr>
              <a:picLocks noChangeAspect="1"/>
            </p:cNvPicPr>
            <p:nvPr/>
          </p:nvPicPr>
          <p:blipFill>
            <a:blip r:embed="rId6"/>
            <a:stretch>
              <a:fillRect/>
            </a:stretch>
          </p:blipFill>
          <p:spPr>
            <a:xfrm>
              <a:off x="1000099" y="9130480"/>
              <a:ext cx="171445" cy="160388"/>
            </a:xfrm>
            <a:prstGeom prst="rect">
              <a:avLst/>
            </a:prstGeom>
          </p:spPr>
        </p:pic>
        <p:sp>
          <p:nvSpPr>
            <p:cNvPr id="44" name="TextBox 43"/>
            <p:cNvSpPr txBox="1"/>
            <p:nvPr/>
          </p:nvSpPr>
          <p:spPr>
            <a:xfrm>
              <a:off x="1247743" y="9081091"/>
              <a:ext cx="1871371" cy="278219"/>
            </a:xfrm>
            <a:prstGeom prst="rect">
              <a:avLst/>
            </a:prstGeom>
            <a:noFill/>
          </p:spPr>
          <p:txBody>
            <a:bodyPr wrap="none" lIns="73152" tIns="54864" rIns="73152" bIns="54864" anchor="ctr">
              <a:spAutoFit/>
            </a:bodyPr>
            <a:lstStyle/>
            <a:p>
              <a:pPr algn="l">
                <a:spcBef>
                  <a:spcPts val="0"/>
                </a:spcBef>
                <a:spcAft>
                  <a:spcPts val="0"/>
                </a:spcAft>
              </a:pPr>
              <a:r>
                <a:rPr sz="1400" dirty="0">
                  <a:solidFill>
                    <a:srgbClr val="333333"/>
                  </a:solidFill>
                </a:rPr>
                <a:t>Flexible</a:t>
              </a:r>
              <a:r>
                <a:rPr sz="1400" b="1" dirty="0">
                  <a:solidFill>
                    <a:srgbClr val="333333"/>
                  </a:solidFill>
                </a:rPr>
                <a:t> </a:t>
              </a:r>
              <a:r>
                <a:rPr sz="1400" dirty="0">
                  <a:solidFill>
                    <a:srgbClr val="333333"/>
                  </a:solidFill>
                </a:rPr>
                <a:t>Requirements</a:t>
              </a:r>
              <a:endParaRPr sz="1400" dirty="0">
                <a:solidFill>
                  <a:srgbClr val="333333"/>
                </a:solidFill>
              </a:endParaRPr>
            </a:p>
          </p:txBody>
        </p:sp>
      </p:grpSp>
      <p:sp>
        <p:nvSpPr>
          <p:cNvPr id="45" name="Rectangle 44"/>
          <p:cNvSpPr/>
          <p:nvPr/>
        </p:nvSpPr>
        <p:spPr>
          <a:xfrm>
            <a:off x="231316" y="1859221"/>
            <a:ext cx="6149352" cy="4742831"/>
          </a:xfrm>
          <a:prstGeom prst="rect">
            <a:avLst/>
          </a:prstGeom>
          <a:blipFill>
            <a:blip r:embed="rId7"/>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6733" y="255948"/>
            <a:ext cx="2306401" cy="726353"/>
          </a:xfrm>
          <a:prstGeom prst="rect">
            <a:avLst/>
          </a:prstGeom>
          <a:noFill/>
        </p:spPr>
        <p:txBody>
          <a:bodyPr wrap="none" lIns="73152" tIns="54864" rIns="73152" bIns="54864" anchor="ctr">
            <a:spAutoFit/>
          </a:bodyPr>
          <a:lstStyle/>
          <a:p>
            <a:r>
              <a:rPr lang="en-US" sz="4000" dirty="0">
                <a:solidFill>
                  <a:schemeClr val="bg1"/>
                </a:solidFill>
              </a:rPr>
              <a:t>Flowchart</a:t>
            </a:r>
            <a:r>
              <a:rPr lang="en-US" sz="3200" dirty="0"/>
              <a:t> </a:t>
            </a:r>
            <a:endParaRPr lang="en-US" sz="3200" dirty="0"/>
          </a:p>
        </p:txBody>
      </p:sp>
      <p:pic>
        <p:nvPicPr>
          <p:cNvPr id="5" name="Picture 4"/>
          <p:cNvPicPr/>
          <p:nvPr/>
        </p:nvPicPr>
        <p:blipFill>
          <a:blip r:embed="rId1"/>
          <a:stretch>
            <a:fillRect/>
          </a:stretch>
        </p:blipFill>
        <p:spPr>
          <a:xfrm>
            <a:off x="7864203" y="571500"/>
            <a:ext cx="4118766" cy="6145967"/>
          </a:xfrm>
          <a:prstGeom prst="rect">
            <a:avLst/>
          </a:prstGeom>
        </p:spPr>
      </p:pic>
      <p:sp>
        <p:nvSpPr>
          <p:cNvPr id="6" name="TextBox 5"/>
          <p:cNvSpPr txBox="1"/>
          <p:nvPr/>
        </p:nvSpPr>
        <p:spPr>
          <a:xfrm>
            <a:off x="622106" y="1701518"/>
            <a:ext cx="6751583" cy="4154984"/>
          </a:xfrm>
          <a:prstGeom prst="rect">
            <a:avLst/>
          </a:prstGeom>
          <a:noFill/>
        </p:spPr>
        <p:txBody>
          <a:bodyPr wrap="square">
            <a:spAutoFit/>
          </a:bodyPr>
          <a:lstStyle/>
          <a:p>
            <a:pPr>
              <a:buNone/>
            </a:pPr>
            <a:r>
              <a:rPr lang="en-US" sz="2400" b="1" dirty="0"/>
              <a:t>Legacy Process: Key Bottlenecks</a:t>
            </a:r>
            <a:endParaRPr lang="en-US" sz="2400" b="1" dirty="0"/>
          </a:p>
          <a:p>
            <a:pPr>
              <a:buFont typeface="Arial" panose="020B0604020202020204" pitchFamily="34" charset="0"/>
              <a:buChar char="•"/>
            </a:pPr>
            <a:r>
              <a:rPr lang="en-US" sz="2400" b="1" dirty="0"/>
              <a:t>Manual Surveys</a:t>
            </a:r>
            <a:r>
              <a:rPr lang="en-US" sz="2400" dirty="0"/>
              <a:t>: Staff use paper forms for on-site data collection.</a:t>
            </a:r>
            <a:endParaRPr lang="en-US" sz="2400" dirty="0"/>
          </a:p>
          <a:p>
            <a:pPr>
              <a:buFont typeface="Arial" panose="020B0604020202020204" pitchFamily="34" charset="0"/>
              <a:buChar char="•"/>
            </a:pPr>
            <a:r>
              <a:rPr lang="en-US" sz="2400" b="1" dirty="0"/>
              <a:t>Manual Entry</a:t>
            </a:r>
            <a:r>
              <a:rPr lang="en-US" sz="2400" dirty="0"/>
              <a:t>: Typing data into Word or Excel is slow and leads to errors.</a:t>
            </a:r>
            <a:endParaRPr lang="en-US" sz="2400" dirty="0"/>
          </a:p>
          <a:p>
            <a:pPr>
              <a:buFont typeface="Arial" panose="020B0604020202020204" pitchFamily="34" charset="0"/>
              <a:buChar char="•"/>
            </a:pPr>
            <a:r>
              <a:rPr lang="en-US" sz="2400" b="1" dirty="0"/>
              <a:t>Traditional Delivery</a:t>
            </a:r>
            <a:r>
              <a:rPr lang="en-US" sz="2400" dirty="0"/>
              <a:t>: Data is submitted via physical handovers or simple dashboards.</a:t>
            </a:r>
            <a:endParaRPr lang="en-US" sz="2400" dirty="0"/>
          </a:p>
          <a:p>
            <a:pPr>
              <a:buFont typeface="Arial" panose="020B0604020202020204" pitchFamily="34" charset="0"/>
              <a:buChar char="•"/>
            </a:pPr>
            <a:r>
              <a:rPr lang="en-US" sz="2400" b="1" dirty="0"/>
              <a:t>Slow Verification</a:t>
            </a:r>
            <a:r>
              <a:rPr lang="en-US" sz="2400" dirty="0"/>
              <a:t>: Manual approvals cause long delays if corrections are needed.</a:t>
            </a:r>
            <a:endParaRPr lang="en-US" sz="2400" dirty="0"/>
          </a:p>
          <a:p>
            <a:pPr>
              <a:buFont typeface="Arial" panose="020B0604020202020204" pitchFamily="34" charset="0"/>
              <a:buChar char="•"/>
            </a:pPr>
            <a:r>
              <a:rPr lang="en-US" sz="2400" b="1" dirty="0"/>
              <a:t>Isolated Storage</a:t>
            </a:r>
            <a:r>
              <a:rPr lang="en-US" sz="2400" dirty="0"/>
              <a:t>: Data stays in local databases, making public access difficult.</a:t>
            </a:r>
            <a:endParaRPr lang="en-US" sz="2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6733" y="255948"/>
            <a:ext cx="2306401" cy="726353"/>
          </a:xfrm>
          <a:prstGeom prst="rect">
            <a:avLst/>
          </a:prstGeom>
          <a:noFill/>
        </p:spPr>
        <p:txBody>
          <a:bodyPr wrap="none" lIns="73152" tIns="54864" rIns="73152" bIns="54864" anchor="ctr">
            <a:spAutoFit/>
          </a:bodyPr>
          <a:lstStyle/>
          <a:p>
            <a:r>
              <a:rPr lang="en-US" sz="4000" dirty="0">
                <a:solidFill>
                  <a:schemeClr val="bg1"/>
                </a:solidFill>
              </a:rPr>
              <a:t>Flowchart</a:t>
            </a:r>
            <a:r>
              <a:rPr lang="en-US" sz="3200" dirty="0"/>
              <a:t> </a:t>
            </a:r>
            <a:endParaRPr lang="en-US" sz="3200" dirty="0"/>
          </a:p>
        </p:txBody>
      </p:sp>
      <p:pic>
        <p:nvPicPr>
          <p:cNvPr id="5" name="Picture 4"/>
          <p:cNvPicPr/>
          <p:nvPr/>
        </p:nvPicPr>
        <p:blipFill>
          <a:blip r:embed="rId1"/>
          <a:stretch>
            <a:fillRect/>
          </a:stretch>
        </p:blipFill>
        <p:spPr>
          <a:xfrm>
            <a:off x="8323266" y="605045"/>
            <a:ext cx="2548372" cy="5647909"/>
          </a:xfrm>
          <a:prstGeom prst="rect">
            <a:avLst/>
          </a:prstGeom>
        </p:spPr>
      </p:pic>
      <p:sp>
        <p:nvSpPr>
          <p:cNvPr id="6" name="TextBox 5"/>
          <p:cNvSpPr txBox="1"/>
          <p:nvPr/>
        </p:nvSpPr>
        <p:spPr>
          <a:xfrm>
            <a:off x="878928" y="1563381"/>
            <a:ext cx="6140668" cy="4358005"/>
          </a:xfrm>
          <a:prstGeom prst="rect">
            <a:avLst/>
          </a:prstGeom>
          <a:noFill/>
        </p:spPr>
        <p:txBody>
          <a:bodyPr wrap="square">
            <a:spAutoFit/>
          </a:bodyPr>
          <a:lstStyle/>
          <a:p>
            <a:pPr algn="l">
              <a:buNone/>
            </a:pPr>
            <a:endParaRPr lang="en-US" sz="2400" b="1" i="0" dirty="0">
              <a:effectLst/>
              <a:latin typeface="Calibri" panose="020F0502020204030204" charset="0"/>
              <a:cs typeface="Calibri" panose="020F0502020204030204" charset="0"/>
            </a:endParaRPr>
          </a:p>
          <a:p>
            <a:pPr rtl="0">
              <a:lnSpc>
                <a:spcPts val="2100"/>
              </a:lnSpc>
              <a:spcAft>
                <a:spcPts val="600"/>
              </a:spcAft>
              <a:buNone/>
            </a:pPr>
            <a:r>
              <a:rPr lang="en-US" sz="2400" b="1" dirty="0">
                <a:effectLst/>
                <a:latin typeface="Calibri" panose="020F0502020204030204" charset="0"/>
                <a:cs typeface="Calibri" panose="020F0502020204030204" charset="0"/>
              </a:rPr>
              <a:t>Legacy Tourism Issues</a:t>
            </a:r>
            <a:endParaRPr lang="en-US" sz="2400" b="1" dirty="0">
              <a:effectLst/>
              <a:latin typeface="Calibri" panose="020F0502020204030204" charset="0"/>
              <a:cs typeface="Calibri" panose="020F0502020204030204" charset="0"/>
            </a:endParaRPr>
          </a:p>
          <a:p>
            <a:pPr rtl="0">
              <a:spcBef>
                <a:spcPts val="600"/>
              </a:spcBef>
              <a:spcAft>
                <a:spcPts val="750"/>
              </a:spcAft>
              <a:buFont typeface="Arial" panose="020B0604020202020204" pitchFamily="34" charset="0"/>
              <a:buChar char="•"/>
            </a:pPr>
            <a:r>
              <a:rPr lang="en-US" sz="2400" b="1" dirty="0">
                <a:effectLst/>
                <a:latin typeface="Calibri" panose="020F0502020204030204" charset="0"/>
                <a:cs typeface="Calibri" panose="020F0502020204030204" charset="0"/>
              </a:rPr>
              <a:t>Office Visits</a:t>
            </a:r>
            <a:r>
              <a:rPr lang="en-US" sz="2400" b="0" dirty="0">
                <a:effectLst/>
                <a:latin typeface="Calibri" panose="020F0502020204030204" charset="0"/>
                <a:cs typeface="Calibri" panose="020F0502020204030204" charset="0"/>
              </a:rPr>
              <a:t> Tourists must go to the office for info</a:t>
            </a:r>
            <a:endParaRPr lang="en-US" sz="2400" b="0" dirty="0">
              <a:effectLst/>
              <a:latin typeface="Calibri" panose="020F0502020204030204" charset="0"/>
              <a:cs typeface="Calibri" panose="020F0502020204030204" charset="0"/>
            </a:endParaRPr>
          </a:p>
          <a:p>
            <a:pPr rtl="0">
              <a:spcBef>
                <a:spcPts val="600"/>
              </a:spcBef>
              <a:spcAft>
                <a:spcPts val="750"/>
              </a:spcAft>
              <a:buFont typeface="Arial" panose="020B0604020202020204" pitchFamily="34" charset="0"/>
              <a:buChar char="•"/>
            </a:pPr>
            <a:r>
              <a:rPr lang="en-US" sz="2400" b="1" dirty="0">
                <a:effectLst/>
                <a:latin typeface="Calibri" panose="020F0502020204030204" charset="0"/>
                <a:cs typeface="Calibri" panose="020F0502020204030204" charset="0"/>
              </a:rPr>
              <a:t>Broken Info</a:t>
            </a:r>
            <a:r>
              <a:rPr lang="en-US" sz="2400" b="0" dirty="0">
                <a:effectLst/>
                <a:latin typeface="Calibri" panose="020F0502020204030204" charset="0"/>
                <a:cs typeface="Calibri" panose="020F0502020204030204" charset="0"/>
              </a:rPr>
              <a:t> Brochures and talk are hard to follow</a:t>
            </a:r>
            <a:endParaRPr lang="en-US" sz="2400" b="0" dirty="0">
              <a:effectLst/>
              <a:latin typeface="Calibri" panose="020F0502020204030204" charset="0"/>
              <a:cs typeface="Calibri" panose="020F0502020204030204" charset="0"/>
            </a:endParaRPr>
          </a:p>
          <a:p>
            <a:pPr rtl="0">
              <a:spcBef>
                <a:spcPts val="600"/>
              </a:spcBef>
              <a:spcAft>
                <a:spcPts val="750"/>
              </a:spcAft>
              <a:buFont typeface="Arial" panose="020B0604020202020204" pitchFamily="34" charset="0"/>
              <a:buChar char="•"/>
            </a:pPr>
            <a:r>
              <a:rPr lang="en-US" sz="2400" b="1" dirty="0">
                <a:effectLst/>
                <a:latin typeface="Calibri" panose="020F0502020204030204" charset="0"/>
                <a:cs typeface="Calibri" panose="020F0502020204030204" charset="0"/>
              </a:rPr>
              <a:t>Manual Maps</a:t>
            </a:r>
            <a:r>
              <a:rPr lang="en-US" sz="2400" b="0" dirty="0">
                <a:effectLst/>
                <a:latin typeface="Calibri" panose="020F0502020204030204" charset="0"/>
                <a:cs typeface="Calibri" panose="020F0502020204030204" charset="0"/>
              </a:rPr>
              <a:t> Paper maps make it easy to get lost</a:t>
            </a:r>
            <a:endParaRPr lang="en-US" sz="2400" b="0" dirty="0">
              <a:effectLst/>
              <a:latin typeface="Calibri" panose="020F0502020204030204" charset="0"/>
              <a:cs typeface="Calibri" panose="020F0502020204030204" charset="0"/>
            </a:endParaRPr>
          </a:p>
          <a:p>
            <a:pPr rtl="0">
              <a:spcBef>
                <a:spcPts val="600"/>
              </a:spcBef>
              <a:spcAft>
                <a:spcPts val="750"/>
              </a:spcAft>
              <a:buFont typeface="Arial" panose="020B0604020202020204" pitchFamily="34" charset="0"/>
              <a:buChar char="•"/>
            </a:pPr>
            <a:r>
              <a:rPr lang="en-US" sz="2400" b="1" dirty="0">
                <a:effectLst/>
                <a:latin typeface="Calibri" panose="020F0502020204030204" charset="0"/>
                <a:cs typeface="Calibri" panose="020F0502020204030204" charset="0"/>
              </a:rPr>
              <a:t>No Updates</a:t>
            </a:r>
            <a:r>
              <a:rPr lang="en-US" sz="2400" b="0" dirty="0">
                <a:effectLst/>
                <a:latin typeface="Calibri" panose="020F0502020204030204" charset="0"/>
                <a:cs typeface="Calibri" panose="020F0502020204030204" charset="0"/>
              </a:rPr>
              <a:t> You only see if a place is shut when you arrive</a:t>
            </a:r>
            <a:endParaRPr lang="en-US" sz="2400" b="0" dirty="0">
              <a:effectLst/>
              <a:latin typeface="Calibri" panose="020F0502020204030204" charset="0"/>
              <a:cs typeface="Calibri" panose="020F050202020403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6733" y="255948"/>
            <a:ext cx="2306401" cy="726353"/>
          </a:xfrm>
          <a:prstGeom prst="rect">
            <a:avLst/>
          </a:prstGeom>
          <a:noFill/>
        </p:spPr>
        <p:txBody>
          <a:bodyPr wrap="none" lIns="73152" tIns="54864" rIns="73152" bIns="54864" anchor="ctr">
            <a:spAutoFit/>
          </a:bodyPr>
          <a:lstStyle/>
          <a:p>
            <a:r>
              <a:rPr lang="en-US" sz="4000" dirty="0">
                <a:solidFill>
                  <a:schemeClr val="bg1"/>
                </a:solidFill>
              </a:rPr>
              <a:t>Flowchart</a:t>
            </a:r>
            <a:r>
              <a:rPr lang="en-US" sz="3200" dirty="0"/>
              <a:t> </a:t>
            </a:r>
            <a:endParaRPr lang="en-US" sz="3200" dirty="0"/>
          </a:p>
        </p:txBody>
      </p:sp>
      <p:sp>
        <p:nvSpPr>
          <p:cNvPr id="6" name="TextBox 5"/>
          <p:cNvSpPr txBox="1"/>
          <p:nvPr/>
        </p:nvSpPr>
        <p:spPr>
          <a:xfrm>
            <a:off x="777765" y="1802458"/>
            <a:ext cx="4796658" cy="4893647"/>
          </a:xfrm>
          <a:prstGeom prst="rect">
            <a:avLst/>
          </a:prstGeom>
          <a:noFill/>
        </p:spPr>
        <p:txBody>
          <a:bodyPr wrap="square">
            <a:spAutoFit/>
          </a:bodyPr>
          <a:lstStyle/>
          <a:p>
            <a:r>
              <a:rPr lang="en-US" sz="2400" b="1" dirty="0"/>
              <a:t>Login and Security Flows</a:t>
            </a:r>
            <a:endParaRPr lang="en-US" sz="2400" b="1" dirty="0"/>
          </a:p>
          <a:p>
            <a:r>
              <a:rPr lang="en-US" sz="2400" b="1" dirty="0"/>
              <a:t>Standard Login</a:t>
            </a:r>
            <a:r>
              <a:rPr lang="en-US" sz="2400" dirty="0"/>
              <a:t> Entry for admins and users Checks roles to open the correct dashboard</a:t>
            </a:r>
            <a:endParaRPr lang="en-US" sz="2400" dirty="0"/>
          </a:p>
          <a:p>
            <a:r>
              <a:rPr lang="en-US" sz="2400" b="1" dirty="0"/>
              <a:t>Google Login</a:t>
            </a:r>
            <a:r>
              <a:rPr lang="en-US" sz="2400" dirty="0"/>
              <a:t> Fast one tap access for visitors Admins must use standard login for safety Creates new profiles automatically</a:t>
            </a:r>
            <a:endParaRPr lang="en-US" sz="2400" dirty="0"/>
          </a:p>
          <a:p>
            <a:r>
              <a:rPr lang="en-US" sz="2400" b="1" dirty="0"/>
              <a:t>Password Reset</a:t>
            </a:r>
            <a:r>
              <a:rPr lang="en-US" sz="2400" dirty="0"/>
              <a:t> Users get back in via email links No need for admin help</a:t>
            </a:r>
            <a:endParaRPr lang="en-US" sz="2400" dirty="0"/>
          </a:p>
          <a:p>
            <a:r>
              <a:rPr lang="en-US" sz="2400" b="1" dirty="0"/>
              <a:t>Logging Out</a:t>
            </a:r>
            <a:r>
              <a:rPr lang="en-US" sz="2400" dirty="0"/>
              <a:t> Ends the session and clears tokens Sends users back to the home page</a:t>
            </a:r>
            <a:endParaRPr lang="en-US" sz="2400" dirty="0"/>
          </a:p>
        </p:txBody>
      </p:sp>
      <p:pic>
        <p:nvPicPr>
          <p:cNvPr id="4" name="Picture 3"/>
          <p:cNvPicPr/>
          <p:nvPr/>
        </p:nvPicPr>
        <p:blipFill>
          <a:blip r:embed="rId1"/>
          <a:stretch>
            <a:fillRect/>
          </a:stretch>
        </p:blipFill>
        <p:spPr>
          <a:xfrm>
            <a:off x="6789158" y="1629038"/>
            <a:ext cx="4325531" cy="48032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6733" y="255948"/>
            <a:ext cx="2306401" cy="726353"/>
          </a:xfrm>
          <a:prstGeom prst="rect">
            <a:avLst/>
          </a:prstGeom>
          <a:noFill/>
        </p:spPr>
        <p:txBody>
          <a:bodyPr wrap="none" lIns="73152" tIns="54864" rIns="73152" bIns="54864" anchor="ctr">
            <a:spAutoFit/>
          </a:bodyPr>
          <a:lstStyle/>
          <a:p>
            <a:r>
              <a:rPr lang="en-US" sz="4000" dirty="0">
                <a:solidFill>
                  <a:schemeClr val="bg1"/>
                </a:solidFill>
              </a:rPr>
              <a:t>Flowchart</a:t>
            </a:r>
            <a:r>
              <a:rPr lang="en-US" sz="3200" dirty="0"/>
              <a:t> </a:t>
            </a:r>
            <a:endParaRPr lang="en-US" sz="3200" dirty="0"/>
          </a:p>
        </p:txBody>
      </p:sp>
      <p:pic>
        <p:nvPicPr>
          <p:cNvPr id="4" name="Picture 3"/>
          <p:cNvPicPr/>
          <p:nvPr/>
        </p:nvPicPr>
        <p:blipFill>
          <a:blip r:embed="rId1"/>
          <a:stretch>
            <a:fillRect/>
          </a:stretch>
        </p:blipFill>
        <p:spPr>
          <a:xfrm>
            <a:off x="7466815" y="1623847"/>
            <a:ext cx="3663639" cy="4650829"/>
          </a:xfrm>
          <a:prstGeom prst="rect">
            <a:avLst/>
          </a:prstGeom>
        </p:spPr>
      </p:pic>
      <p:sp>
        <p:nvSpPr>
          <p:cNvPr id="8" name="TextBox 7"/>
          <p:cNvSpPr txBox="1"/>
          <p:nvPr/>
        </p:nvSpPr>
        <p:spPr>
          <a:xfrm>
            <a:off x="1061546" y="2262462"/>
            <a:ext cx="6140668" cy="3170099"/>
          </a:xfrm>
          <a:prstGeom prst="rect">
            <a:avLst/>
          </a:prstGeom>
          <a:noFill/>
        </p:spPr>
        <p:txBody>
          <a:bodyPr wrap="square">
            <a:spAutoFit/>
          </a:bodyPr>
          <a:lstStyle/>
          <a:p>
            <a:pPr>
              <a:buNone/>
            </a:pPr>
            <a:r>
              <a:rPr lang="en-US" sz="2000" b="1" dirty="0"/>
              <a:t>Registration &amp; Validation Logic</a:t>
            </a:r>
            <a:endParaRPr lang="en-US" sz="2000" b="1" dirty="0"/>
          </a:p>
          <a:p>
            <a:pPr>
              <a:buFont typeface="Arial" panose="020B0604020202020204" pitchFamily="34" charset="0"/>
              <a:buChar char="•"/>
            </a:pPr>
            <a:r>
              <a:rPr lang="en-US" sz="2000" b="1" dirty="0"/>
              <a:t>Identity Check</a:t>
            </a:r>
            <a:r>
              <a:rPr lang="en-US" sz="2000" dirty="0"/>
              <a:t> Checks for unique names and emails to prevent duplicate accounts.</a:t>
            </a:r>
            <a:endParaRPr lang="en-US" sz="2000" dirty="0"/>
          </a:p>
          <a:p>
            <a:pPr>
              <a:buFont typeface="Arial" panose="020B0604020202020204" pitchFamily="34" charset="0"/>
              <a:buChar char="•"/>
            </a:pPr>
            <a:r>
              <a:rPr lang="en-US" sz="2000" b="1" dirty="0"/>
              <a:t>User Roles</a:t>
            </a:r>
            <a:r>
              <a:rPr lang="en-US" sz="2000" dirty="0"/>
              <a:t> Visitors get in fast while contributors go through extra checks.</a:t>
            </a:r>
            <a:endParaRPr lang="en-US" sz="2000" dirty="0"/>
          </a:p>
          <a:p>
            <a:pPr>
              <a:buFont typeface="Arial" panose="020B0604020202020204" pitchFamily="34" charset="0"/>
              <a:buChar char="•"/>
            </a:pPr>
            <a:r>
              <a:rPr lang="en-US" sz="2000" b="1" dirty="0"/>
              <a:t>One Rep Limit</a:t>
            </a:r>
            <a:r>
              <a:rPr lang="en-US" sz="2000" dirty="0"/>
              <a:t> Only one person can represent a barangay at a time. New signups are blocked if a spot is already full.</a:t>
            </a:r>
            <a:endParaRPr lang="en-US" sz="2000" dirty="0"/>
          </a:p>
          <a:p>
            <a:pPr>
              <a:buFont typeface="Arial" panose="020B0604020202020204" pitchFamily="34" charset="0"/>
              <a:buChar char="•"/>
            </a:pPr>
            <a:r>
              <a:rPr lang="en-US" sz="2000" b="1" dirty="0"/>
              <a:t>Admin Approval</a:t>
            </a:r>
            <a:r>
              <a:rPr lang="en-US" sz="2000" dirty="0"/>
              <a:t> Contributors stay "Pending" and cannot edit map data until an admin confirms their account.</a:t>
            </a:r>
            <a:endParaRPr lang="en-US" sz="2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6733" y="255948"/>
            <a:ext cx="2306401" cy="726353"/>
          </a:xfrm>
          <a:prstGeom prst="rect">
            <a:avLst/>
          </a:prstGeom>
          <a:noFill/>
        </p:spPr>
        <p:txBody>
          <a:bodyPr wrap="none" lIns="73152" tIns="54864" rIns="73152" bIns="54864" anchor="ctr">
            <a:spAutoFit/>
          </a:bodyPr>
          <a:lstStyle/>
          <a:p>
            <a:r>
              <a:rPr lang="en-US" sz="4000" dirty="0">
                <a:solidFill>
                  <a:schemeClr val="bg1"/>
                </a:solidFill>
              </a:rPr>
              <a:t>Flowchart</a:t>
            </a:r>
            <a:r>
              <a:rPr lang="en-US" sz="3200" dirty="0"/>
              <a:t> </a:t>
            </a:r>
            <a:endParaRPr lang="en-US" sz="3200" dirty="0"/>
          </a:p>
        </p:txBody>
      </p:sp>
      <p:pic>
        <p:nvPicPr>
          <p:cNvPr id="4" name="Picture 3"/>
          <p:cNvPicPr/>
          <p:nvPr/>
        </p:nvPicPr>
        <p:blipFill>
          <a:blip r:embed="rId1"/>
          <a:stretch>
            <a:fillRect/>
          </a:stretch>
        </p:blipFill>
        <p:spPr>
          <a:xfrm>
            <a:off x="8493517" y="1320031"/>
            <a:ext cx="2330824" cy="5234152"/>
          </a:xfrm>
          <a:prstGeom prst="rect">
            <a:avLst/>
          </a:prstGeom>
        </p:spPr>
      </p:pic>
      <p:sp>
        <p:nvSpPr>
          <p:cNvPr id="8" name="TextBox 7"/>
          <p:cNvSpPr txBox="1"/>
          <p:nvPr/>
        </p:nvSpPr>
        <p:spPr>
          <a:xfrm>
            <a:off x="1493783" y="2198170"/>
            <a:ext cx="6140668" cy="3477875"/>
          </a:xfrm>
          <a:prstGeom prst="rect">
            <a:avLst/>
          </a:prstGeom>
          <a:noFill/>
        </p:spPr>
        <p:txBody>
          <a:bodyPr wrap="square">
            <a:spAutoFit/>
          </a:bodyPr>
          <a:lstStyle/>
          <a:p>
            <a:pPr>
              <a:buNone/>
            </a:pPr>
            <a:r>
              <a:rPr lang="en-US" sz="2000" b="1" dirty="0"/>
              <a:t>Map Exploration Flow</a:t>
            </a:r>
            <a:endParaRPr lang="en-US" sz="2000" b="1" dirty="0"/>
          </a:p>
          <a:p>
            <a:pPr>
              <a:buFont typeface="Arial" panose="020B0604020202020204" pitchFamily="34" charset="0"/>
              <a:buChar char="•"/>
            </a:pPr>
            <a:r>
              <a:rPr lang="en-US" sz="2000" b="1" dirty="0"/>
              <a:t>Auto Loading</a:t>
            </a:r>
            <a:r>
              <a:rPr lang="en-US" sz="2000" dirty="0"/>
              <a:t> The system pulls all verified spots from the database instantly</a:t>
            </a:r>
            <a:endParaRPr lang="en-US" sz="2000" dirty="0"/>
          </a:p>
          <a:p>
            <a:pPr>
              <a:buFont typeface="Arial" panose="020B0604020202020204" pitchFamily="34" charset="0"/>
              <a:buChar char="•"/>
            </a:pPr>
            <a:r>
              <a:rPr lang="en-US" sz="2000" b="1" dirty="0"/>
              <a:t>Interactive Markers</a:t>
            </a:r>
            <a:r>
              <a:rPr lang="en-US" sz="2000" dirty="0"/>
              <a:t> Leaflet JS renders icons across the town map</a:t>
            </a:r>
            <a:endParaRPr lang="en-US" sz="2000" dirty="0"/>
          </a:p>
          <a:p>
            <a:pPr>
              <a:buFont typeface="Arial" panose="020B0604020202020204" pitchFamily="34" charset="0"/>
              <a:buChar char="•"/>
            </a:pPr>
            <a:r>
              <a:rPr lang="en-US" sz="2000" b="1" dirty="0"/>
              <a:t>Barangay Filters</a:t>
            </a:r>
            <a:r>
              <a:rPr lang="en-US" sz="2000" dirty="0"/>
              <a:t> The sidebar lets users sort markers by specific areas</a:t>
            </a:r>
            <a:endParaRPr lang="en-US" sz="2000" dirty="0"/>
          </a:p>
          <a:p>
            <a:pPr>
              <a:buFont typeface="Arial" panose="020B0604020202020204" pitchFamily="34" charset="0"/>
              <a:buChar char="•"/>
            </a:pPr>
            <a:r>
              <a:rPr lang="en-US" sz="2000" b="1" dirty="0"/>
              <a:t>Fast Previews</a:t>
            </a:r>
            <a:r>
              <a:rPr lang="en-US" sz="2000" dirty="0"/>
              <a:t> Clicking an icon opens a popup with a photo and info</a:t>
            </a:r>
            <a:endParaRPr lang="en-US" sz="2000" dirty="0"/>
          </a:p>
          <a:p>
            <a:pPr>
              <a:buFont typeface="Arial" panose="020B0604020202020204" pitchFamily="34" charset="0"/>
              <a:buChar char="•"/>
            </a:pPr>
            <a:r>
              <a:rPr lang="en-US" sz="2000" b="1" dirty="0"/>
              <a:t>Full Pages</a:t>
            </a:r>
            <a:r>
              <a:rPr lang="en-US" sz="2000" dirty="0"/>
              <a:t> The View Details link leads to the complete attraction page</a:t>
            </a:r>
            <a:endParaRPr lang="en-US" sz="2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6733" y="255950"/>
            <a:ext cx="5897512" cy="726353"/>
          </a:xfrm>
          <a:prstGeom prst="rect">
            <a:avLst/>
          </a:prstGeom>
          <a:noFill/>
        </p:spPr>
        <p:txBody>
          <a:bodyPr wrap="none" lIns="73152" tIns="54864" rIns="73152" bIns="54864" anchor="ctr">
            <a:spAutoFit/>
          </a:bodyPr>
          <a:lstStyle/>
          <a:p>
            <a:r>
              <a:rPr lang="en-US" sz="4000" dirty="0">
                <a:solidFill>
                  <a:schemeClr val="bg1"/>
                </a:solidFill>
              </a:rPr>
              <a:t>Entity Relationship Diagram</a:t>
            </a:r>
            <a:endParaRPr lang="en-US" sz="6000" dirty="0">
              <a:solidFill>
                <a:schemeClr val="bg1"/>
              </a:solidFill>
            </a:endParaRPr>
          </a:p>
        </p:txBody>
      </p:sp>
      <p:pic>
        <p:nvPicPr>
          <p:cNvPr id="4" name="Picture 3"/>
          <p:cNvPicPr/>
          <p:nvPr/>
        </p:nvPicPr>
        <p:blipFill>
          <a:blip r:embed="rId1"/>
          <a:stretch>
            <a:fillRect/>
          </a:stretch>
        </p:blipFill>
        <p:spPr>
          <a:xfrm>
            <a:off x="2642946" y="982303"/>
            <a:ext cx="5897512" cy="559434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6733" y="102062"/>
            <a:ext cx="4368953" cy="1034129"/>
          </a:xfrm>
          <a:prstGeom prst="rect">
            <a:avLst/>
          </a:prstGeom>
          <a:noFill/>
        </p:spPr>
        <p:txBody>
          <a:bodyPr wrap="none" lIns="73152" tIns="54864" rIns="73152" bIns="54864" anchor="ctr">
            <a:spAutoFit/>
          </a:bodyPr>
          <a:lstStyle/>
          <a:p>
            <a:r>
              <a:rPr lang="en-US" sz="4000" dirty="0">
                <a:solidFill>
                  <a:schemeClr val="bg1"/>
                </a:solidFill>
              </a:rPr>
              <a:t>Data Flow Diagram </a:t>
            </a:r>
            <a:r>
              <a:rPr lang="en-US" sz="6000" dirty="0">
                <a:solidFill>
                  <a:schemeClr val="bg1"/>
                </a:solidFill>
              </a:rPr>
              <a:t> </a:t>
            </a:r>
            <a:endParaRPr lang="en-US" sz="6000" dirty="0">
              <a:solidFill>
                <a:schemeClr val="bg1"/>
              </a:solidFill>
            </a:endParaRPr>
          </a:p>
        </p:txBody>
      </p:sp>
      <p:pic>
        <p:nvPicPr>
          <p:cNvPr id="5" name="Picture 4"/>
          <p:cNvPicPr/>
          <p:nvPr/>
        </p:nvPicPr>
        <p:blipFill>
          <a:blip r:embed="rId1"/>
          <a:stretch>
            <a:fillRect/>
          </a:stretch>
        </p:blipFill>
        <p:spPr>
          <a:xfrm>
            <a:off x="1932761" y="1245062"/>
            <a:ext cx="8326171" cy="514350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66733" y="0"/>
            <a:ext cx="6128152" cy="1034129"/>
          </a:xfrm>
          <a:prstGeom prst="rect">
            <a:avLst/>
          </a:prstGeom>
          <a:noFill/>
        </p:spPr>
        <p:txBody>
          <a:bodyPr wrap="none" lIns="73152" tIns="54864" rIns="73152" bIns="54864" anchor="ctr">
            <a:spAutoFit/>
          </a:bodyPr>
          <a:lstStyle/>
          <a:p>
            <a:r>
              <a:rPr lang="en-US" sz="4000" dirty="0">
                <a:solidFill>
                  <a:schemeClr val="bg1"/>
                </a:solidFill>
              </a:rPr>
              <a:t>System Architecture Design </a:t>
            </a:r>
            <a:r>
              <a:rPr lang="en-US" sz="6000" dirty="0">
                <a:solidFill>
                  <a:schemeClr val="bg1"/>
                </a:solidFill>
              </a:rPr>
              <a:t> </a:t>
            </a:r>
            <a:endParaRPr lang="en-US" sz="6000" dirty="0">
              <a:solidFill>
                <a:schemeClr val="bg1"/>
              </a:solidFill>
            </a:endParaRPr>
          </a:p>
        </p:txBody>
      </p:sp>
      <p:pic>
        <p:nvPicPr>
          <p:cNvPr id="4" name="Picture 3"/>
          <p:cNvPicPr/>
          <p:nvPr/>
        </p:nvPicPr>
        <p:blipFill>
          <a:blip r:embed="rId1"/>
          <a:stretch>
            <a:fillRect/>
          </a:stretch>
        </p:blipFill>
        <p:spPr>
          <a:xfrm>
            <a:off x="895045" y="1143000"/>
            <a:ext cx="10496855" cy="54292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p:cNvSpPr>
            <a:spLocks noGrp="1" noRot="1" noChangeAspect="1" noMove="1" noResize="1" noEditPoints="1" noAdjustHandles="1" noChangeArrowheads="1" noChangeShapeType="1" noTextEdit="1"/>
          </p:cNvSpPr>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70908" y="1220919"/>
            <a:ext cx="5425781" cy="2387600"/>
          </a:xfrm>
        </p:spPr>
        <p:txBody>
          <a:bodyPr vert="horz" lIns="91440" tIns="45720" rIns="91440" bIns="45720" rtlCol="0" anchor="b">
            <a:normAutofit/>
          </a:bodyPr>
          <a:lstStyle/>
          <a:p>
            <a:pPr algn="l" defTabSz="914400">
              <a:lnSpc>
                <a:spcPct val="90000"/>
              </a:lnSpc>
            </a:pPr>
            <a:r>
              <a:rPr lang="en-US" sz="6000" b="1" kern="1200" dirty="0">
                <a:solidFill>
                  <a:schemeClr val="tx1"/>
                </a:solidFill>
                <a:latin typeface="+mj-lt"/>
                <a:ea typeface="+mj-ea"/>
                <a:cs typeface="+mj-cs"/>
              </a:rPr>
              <a:t>Proto type</a:t>
            </a:r>
            <a:endParaRPr lang="en-US" sz="6000" b="1" kern="1200" dirty="0">
              <a:solidFill>
                <a:schemeClr val="tx1"/>
              </a:solidFill>
              <a:latin typeface="+mj-lt"/>
              <a:ea typeface="+mj-ea"/>
              <a:cs typeface="+mj-cs"/>
            </a:endParaRPr>
          </a:p>
        </p:txBody>
      </p:sp>
      <p:sp>
        <p:nvSpPr>
          <p:cNvPr id="9" name="Freeform: Shape 8"/>
          <p:cNvSpPr>
            <a:spLocks noGrp="1" noRot="1" noChangeAspect="1" noMove="1" noResize="1" noEditPoints="1" noAdjustHandles="1" noChangeArrowheads="1" noChangeShapeType="1" noTextEdit="1"/>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Oval 10"/>
          <p:cNvSpPr>
            <a:spLocks noGrp="1" noRot="1" noChangeAspect="1" noMove="1" noResize="1" noEditPoints="1" noAdjustHandles="1" noChangeArrowheads="1" noChangeShapeType="1" noTextEdit="1"/>
          </p:cNvSpPr>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Block Arc 12"/>
          <p:cNvSpPr>
            <a:spLocks noGrp="1" noRot="1" noChangeAspect="1" noMove="1" noResize="1" noEditPoints="1" noAdjustHandles="1" noChangeArrowheads="1" noChangeShapeType="1" noTextEdit="1"/>
          </p:cNvSpPr>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eeform: Shape 14"/>
          <p:cNvSpPr>
            <a:spLocks noGrp="1" noRot="1" noChangeAspect="1" noMove="1" noResize="1" noEditPoints="1" noAdjustHandles="1" noChangeArrowheads="1" noChangeShapeType="1" noTextEdit="1"/>
          </p:cNvSpPr>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7" name="Straight Connector 16"/>
          <p:cNvCxnSpPr>
            <a:cxnSpLocks noGrp="1" noRot="1" noChangeAspect="1" noMove="1" noResize="1" noEditPoints="1" noAdjustHandles="1" noChangeArrowheads="1" noChangeShapeType="1"/>
          </p:cNvCxnSpPr>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9" name="Freeform: Shape 18"/>
          <p:cNvSpPr>
            <a:spLocks noGrp="1" noRot="1" noChangeAspect="1" noMove="1" noResize="1" noEditPoints="1" noAdjustHandles="1" noChangeArrowheads="1" noChangeShapeType="1" noTextEdit="1"/>
          </p:cNvSpPr>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1" name="Arc 20"/>
          <p:cNvSpPr>
            <a:spLocks noGrp="1" noRot="1" noChangeAspect="1" noMove="1" noResize="1" noEditPoints="1" noAdjustHandles="1" noChangeArrowheads="1" noChangeShapeType="1" noTextEdit="1"/>
          </p:cNvSpPr>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3" name="Freeform: Shape 22"/>
          <p:cNvSpPr>
            <a:spLocks noGrp="1" noRot="1" noChangeAspect="1" noMove="1" noResize="1" noEditPoints="1" noAdjustHandles="1" noChangeArrowheads="1" noChangeShapeType="1" noTextEdit="1"/>
          </p:cNvSpPr>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643467" y="675470"/>
            <a:ext cx="10905066" cy="550705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2712265" y="0"/>
            <a:ext cx="6393635" cy="1021856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6847959" cy="6858000"/>
          </a:xfrm>
          <a:prstGeom prst="rect">
            <a:avLst/>
          </a:prstGeom>
        </p:spPr>
      </p:pic>
      <p:pic>
        <p:nvPicPr>
          <p:cNvPr id="5" name="Picture 4"/>
          <p:cNvPicPr>
            <a:picLocks noChangeAspect="1"/>
          </p:cNvPicPr>
          <p:nvPr/>
        </p:nvPicPr>
        <p:blipFill>
          <a:blip r:embed="rId2"/>
          <a:stretch>
            <a:fillRect/>
          </a:stretch>
        </p:blipFill>
        <p:spPr>
          <a:xfrm>
            <a:off x="6847959" y="895350"/>
            <a:ext cx="5453651" cy="50673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247651" y="0"/>
            <a:ext cx="5996972" cy="16227878"/>
          </a:xfrm>
          <a:prstGeom prst="rect">
            <a:avLst/>
          </a:prstGeom>
        </p:spPr>
      </p:pic>
      <p:pic>
        <p:nvPicPr>
          <p:cNvPr id="4" name="Picture 3"/>
          <p:cNvPicPr>
            <a:picLocks noChangeAspect="1"/>
          </p:cNvPicPr>
          <p:nvPr/>
        </p:nvPicPr>
        <p:blipFill>
          <a:blip r:embed="rId1"/>
          <a:stretch>
            <a:fillRect/>
          </a:stretch>
        </p:blipFill>
        <p:spPr>
          <a:xfrm>
            <a:off x="6682773" y="-6496050"/>
            <a:ext cx="5047594" cy="136588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a:grpSpLocks noGrp="1" noRot="1" noChangeAspect="1" noMove="1" noResize="1" noUngrp="1"/>
          </p:cNvGrpSpPr>
          <p:nvPr/>
        </p:nvGrpSpPr>
        <p:grpSpPr>
          <a:xfrm>
            <a:off x="0" y="1479558"/>
            <a:ext cx="1861854" cy="717514"/>
            <a:chOff x="0" y="1479558"/>
            <a:chExt cx="1861854" cy="717514"/>
          </a:xfrm>
          <a:solidFill>
            <a:schemeClr val="bg1"/>
          </a:solidFill>
        </p:grpSpPr>
        <p:sp>
          <p:nvSpPr>
            <p:cNvPr id="10" name="Freeform: Shape 9"/>
            <p:cNvSpPr/>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1" name="Freeform: Shape 10"/>
            <p:cNvSpPr/>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13" name="Freeform: Shape 12"/>
          <p:cNvSpPr>
            <a:spLocks noGrp="1" noRot="1" noChangeAspect="1" noMove="1" noResize="1" noEditPoints="1" noAdjustHandles="1" noChangeArrowheads="1" noChangeShapeType="1" noTextEdit="1"/>
          </p:cNvSpPr>
          <p:nvPr/>
        </p:nvSpPr>
        <p:spPr>
          <a:xfrm>
            <a:off x="2018992" y="-34538"/>
            <a:ext cx="6655405" cy="6335470"/>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p:cNvSpPr>
            <a:spLocks noGrp="1" noRot="1" noChangeAspect="1" noMove="1" noResize="1" noEditPoints="1" noAdjustHandles="1" noChangeArrowheads="1" noChangeShapeType="1" noTextEdit="1"/>
          </p:cNvSpPr>
          <p:nvPr/>
        </p:nvSpPr>
        <p:spPr>
          <a:xfrm>
            <a:off x="1955194" y="-23905"/>
            <a:ext cx="6705251" cy="6318526"/>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p:cNvSpPr>
            <a:spLocks noGrp="1" noRot="1" noChangeAspect="1" noMove="1" noResize="1" noEditPoints="1" noAdjustHandles="1" noChangeArrowheads="1" noChangeShapeType="1" noTextEdit="1"/>
          </p:cNvSpPr>
          <p:nvPr/>
        </p:nvSpPr>
        <p:spPr>
          <a:xfrm>
            <a:off x="1786886" y="-23905"/>
            <a:ext cx="6705251" cy="6215019"/>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242409" y="895483"/>
            <a:ext cx="5786232" cy="3011190"/>
          </a:xfrm>
        </p:spPr>
        <p:txBody>
          <a:bodyPr vert="horz" lIns="91440" tIns="45720" rIns="91440" bIns="45720" rtlCol="0" anchor="b">
            <a:normAutofit/>
          </a:bodyPr>
          <a:lstStyle/>
          <a:p>
            <a:pPr defTabSz="914400">
              <a:lnSpc>
                <a:spcPct val="90000"/>
              </a:lnSpc>
            </a:pPr>
            <a:r>
              <a:rPr lang="en-US" sz="5400" b="1" kern="1200">
                <a:solidFill>
                  <a:schemeClr val="bg1"/>
                </a:solidFill>
                <a:latin typeface="+mj-lt"/>
                <a:ea typeface="+mj-ea"/>
                <a:cs typeface="+mj-cs"/>
              </a:rPr>
              <a:t>Thank You!</a:t>
            </a:r>
            <a:endParaRPr lang="en-US" sz="5400" b="1" kern="1200">
              <a:solidFill>
                <a:schemeClr val="bg1"/>
              </a:solidFill>
              <a:latin typeface="+mj-lt"/>
              <a:ea typeface="+mj-ea"/>
              <a:cs typeface="+mj-cs"/>
            </a:endParaRPr>
          </a:p>
        </p:txBody>
      </p:sp>
      <p:sp>
        <p:nvSpPr>
          <p:cNvPr id="19" name="Graphic 212"/>
          <p:cNvSpPr>
            <a:spLocks noGrp="1" noRot="1" noChangeAspect="1" noMove="1" noResize="1" noEditPoints="1" noAdjustHandles="1" noChangeArrowheads="1" noChangeShapeType="1" noTextEdit="1"/>
          </p:cNvSpPr>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21" name="Graphic 212"/>
          <p:cNvSpPr>
            <a:spLocks noGrp="1" noRot="1" noChangeAspect="1" noMove="1" noResize="1" noEditPoints="1" noAdjustHandles="1" noChangeArrowheads="1" noChangeShapeType="1" noTextEdit="1"/>
          </p:cNvSpPr>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grpSp>
        <p:nvGrpSpPr>
          <p:cNvPr id="23" name="Graphic 185"/>
          <p:cNvGrpSpPr>
            <a:grpSpLocks noGrp="1" noRot="1" noChangeAspect="1" noMove="1" noResize="1" noUngrp="1"/>
          </p:cNvGrpSpPr>
          <p:nvPr/>
        </p:nvGrpSpPr>
        <p:grpSpPr>
          <a:xfrm>
            <a:off x="9583101" y="3578317"/>
            <a:ext cx="1054466" cy="469689"/>
            <a:chOff x="9841624" y="4115729"/>
            <a:chExt cx="602169" cy="268223"/>
          </a:xfrm>
          <a:solidFill>
            <a:schemeClr val="bg1"/>
          </a:solidFill>
        </p:grpSpPr>
        <p:sp>
          <p:nvSpPr>
            <p:cNvPr id="24" name="Freeform: Shape 23"/>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0" name="Oval 29"/>
          <p:cNvSpPr>
            <a:spLocks noGrp="1" noRot="1" noChangeAspect="1" noMove="1" noResize="1" noEditPoints="1" noAdjustHandles="1" noChangeArrowheads="1" noChangeShapeType="1" noTextEdit="1"/>
          </p:cNvSpPr>
          <p:nvPr/>
        </p:nvSpPr>
        <p:spPr>
          <a:xfrm>
            <a:off x="1444525" y="4910353"/>
            <a:ext cx="468090" cy="468090"/>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32" name="Oval 31"/>
          <p:cNvSpPr>
            <a:spLocks noGrp="1" noRot="1" noChangeAspect="1" noMove="1" noResize="1" noEditPoints="1" noAdjustHandles="1" noChangeArrowheads="1" noChangeShapeType="1" noTextEdit="1"/>
          </p:cNvSpPr>
          <p:nvPr/>
        </p:nvSpPr>
        <p:spPr>
          <a:xfrm>
            <a:off x="1444525" y="4910353"/>
            <a:ext cx="468090" cy="468090"/>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34" name="Freeform: Shape 33"/>
          <p:cNvSpPr>
            <a:spLocks noGrp="1" noRot="1" noChangeAspect="1" noMove="1" noResize="1" noEditPoints="1" noAdjustHandles="1" noChangeArrowheads="1" noChangeShapeType="1" noTextEdit="1"/>
          </p:cNvSpPr>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36" name="Freeform: Shape 35"/>
          <p:cNvSpPr>
            <a:spLocks noGrp="1" noRot="1" noChangeAspect="1" noMove="1" noResize="1" noEditPoints="1" noAdjustHandles="1" noChangeArrowheads="1" noChangeShapeType="1" noTextEdit="1"/>
          </p:cNvSpPr>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11436</Words>
  <Application>WPS Presentation</Application>
  <PresentationFormat>Widescreen</PresentationFormat>
  <Paragraphs>424</Paragraphs>
  <Slides>31</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31</vt:i4>
      </vt:variant>
    </vt:vector>
  </HeadingPairs>
  <TitlesOfParts>
    <vt:vector size="47" baseType="lpstr">
      <vt:lpstr>Arial</vt:lpstr>
      <vt:lpstr>SimSun</vt:lpstr>
      <vt:lpstr>Wingdings</vt:lpstr>
      <vt:lpstr>Arial</vt:lpstr>
      <vt:lpstr>Calibri</vt:lpstr>
      <vt:lpstr>Microsoft YaHei</vt:lpstr>
      <vt:lpstr>Arial Unicode MS</vt:lpstr>
      <vt:lpstr>Times New Roman</vt:lpstr>
      <vt:lpstr>Google Sans Flex</vt:lpstr>
      <vt:lpstr>CaskaydiaCove NF</vt:lpstr>
      <vt:lpstr>Times New Roman MT</vt:lpstr>
      <vt:lpstr>Times New Roman</vt:lpstr>
      <vt:lpstr>Times New Roman Bold</vt:lpstr>
      <vt:lpstr>Cascadia Code</vt:lpstr>
      <vt:lpstr>Candara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Proto type</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Zani</cp:lastModifiedBy>
  <cp:revision>21</cp:revision>
  <dcterms:created xsi:type="dcterms:W3CDTF">2013-01-27T09:14:00Z</dcterms:created>
  <dcterms:modified xsi:type="dcterms:W3CDTF">2026-03-24T22:51:49Z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34A596C9D5B64BDDA9A3F39C21CA6D15_12</vt:lpwstr>
  </property>
</Properties>
</file>